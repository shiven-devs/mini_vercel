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one platform. A website is built and hosted, and monitoring protects it once it is live. Replace the bracketed placeholders with the presenter, department, institution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problems come up in sequence. Deploying a site needs build and hosting. Once it is live it faces attacks. Operators then need one view of what is happening. The platform addresses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modules as components of one platform. The deployment engine hosts the site. The runtime security engine works per request. The hybrid log analysis looks at patterns across traffic over a time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in three passes. The top half is the deployment path: API server, ECS build task, S3 and the reverse proxy. The middle band is runtime security, with Redis carrying security events to the Socket.IO dashboard. The bottom row is the log-analysis pipeline. Solid arrows exist in the code. Dashed arrows are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eight steps in order. The API server launches an ECS Fargate task that clones the repository, builds it inside a Docker container, finds the output directory and uploads it to an S3 prefix named after the project. The reverse proxy then routes browser requests to that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path is deployment: the API server starts the ECS task, the task builds and uploads to S3, and the proxy serves it. The log path runs separately: build output is published to Redis and streamed to the browser over Socket.IO.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bridge from deployment to protection. Once the site is live, the proxy sits between visitors and the site, observing every request. It is a request-level layer, not an 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 limit is a fixed window. Path scanning uses a sliding window with a 404 ratio check. Brute force counts failed attempts on the demo login route. Replay protection is limited to signed webhooks, using timestamps and nonce reuse. Incidents are deduplicated for 60 seconds per source and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reads access logs, groups them into 60-second windows per IP, extracts features, and runs explicit rules plus an Isolation Forest trained on normal windows. The model threshold is set near the 97th percentile of normal windows. Results come from simulated traffic and should be presented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lenses on the same traffic. The runtime engine acts on each request as it happens. The log analysis looks for patterns across many requests. Combining them is a proposal and is not implemented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 for how one interface could show deployment and security together. None of this is built as a single interface today. Be clear about that when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role, not a list of packages. The deployment and security modules are Node.js. The log analysis and its backend are Python with a React dashboard. Verify exact versions against each repository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incident from request to dashboard. The first four steps are implemented. The last two are proposed. Point out that the log analysis reads its own access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metrics come from the NIDAMS evaluation file on simulated data. The security test cases exist in the repository; they are listed here, not claimed as passing. Do not present these numbers as production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limits. The modules are not yet joined. The roadmap lists the steps to combine them, all of which are proposals. Production readiness is not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unified vision. Summarise the engineering areas covered.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914400"/>
            <a:ext cx="7498080" cy="1463040"/>
          </a:xfrm>
          <a:prstGeom prst="rect">
            <a:avLst/>
          </a:prstGeom>
          <a:noFill/>
          <a:ln/>
        </p:spPr>
        <p:txBody>
          <a:bodyPr wrap="square" lIns="0" tIns="0" rIns="0" bIns="0" rtlCol="0" anchor="ctr"/>
          <a:lstStyle/>
          <a:p>
            <a:pPr indent="0" marL="0">
              <a:buNone/>
            </a:pPr>
            <a:r>
              <a:rPr lang="en-US" sz="4000" b="1" dirty="0">
                <a:solidFill>
                  <a:srgbClr val="E6F1FF"/>
                </a:solidFill>
                <a:latin typeface="Arial" pitchFamily="34" charset="0"/>
                <a:ea typeface="Arial" pitchFamily="34" charset="-122"/>
                <a:cs typeface="Arial" pitchFamily="34" charset="-120"/>
              </a:rPr>
              <a:t>Network Intrusion Detection System (NIDS)</a:t>
            </a:r>
            <a:endParaRPr lang="en-US" sz="4000" dirty="0"/>
          </a:p>
        </p:txBody>
      </p:sp>
      <p:sp>
        <p:nvSpPr>
          <p:cNvPr id="3" name="Text 1"/>
          <p:cNvSpPr/>
          <p:nvPr/>
        </p:nvSpPr>
        <p:spPr>
          <a:xfrm>
            <a:off x="548640" y="2468880"/>
            <a:ext cx="7498080" cy="822960"/>
          </a:xfrm>
          <a:prstGeom prst="rect">
            <a:avLst/>
          </a:prstGeom>
          <a:noFill/>
          <a:ln/>
        </p:spPr>
        <p:txBody>
          <a:bodyPr wrap="square" lIns="0" tIns="0" rIns="0" bIns="0" rtlCol="0" anchor="ctr"/>
          <a:lstStyle/>
          <a:p>
            <a:pPr indent="0" marL="0">
              <a:buNone/>
            </a:pPr>
            <a:r>
              <a:rPr lang="en-US" sz="1800" dirty="0">
                <a:solidFill>
                  <a:srgbClr val="22D3EE"/>
                </a:solidFill>
                <a:latin typeface="Arial" pitchFamily="34" charset="0"/>
                <a:ea typeface="Arial" pitchFamily="34" charset="-122"/>
                <a:cs typeface="Arial" pitchFamily="34" charset="-120"/>
              </a:rPr>
              <a:t>Real-Time Attack Detection, Hybrid Intrusion Analysis, and Intelligent Security Monitoring</a:t>
            </a:r>
            <a:endParaRPr lang="en-US" sz="1800" dirty="0"/>
          </a:p>
        </p:txBody>
      </p:sp>
      <p:sp>
        <p:nvSpPr>
          <p:cNvPr id="4" name="Text 2"/>
          <p:cNvSpPr/>
          <p:nvPr/>
        </p:nvSpPr>
        <p:spPr>
          <a:xfrm>
            <a:off x="548640" y="3749040"/>
            <a:ext cx="7315200" cy="1188720"/>
          </a:xfrm>
          <a:prstGeom prst="rect">
            <a:avLst/>
          </a:prstGeom>
          <a:noFill/>
          <a:ln/>
        </p:spPr>
        <p:txBody>
          <a:bodyPr wrap="square" lIns="0" tIns="0" rIns="0" bIns="0" rtlCol="0" anchor="ctr"/>
          <a:lstStyle/>
          <a:p>
            <a:pPr indent="0" marL="0">
              <a:spcAft>
                <a:spcPts val="400"/>
              </a:spcAft>
              <a:buNone/>
            </a:pPr>
            <a:r>
              <a:rPr lang="en-US" sz="1600" dirty="0">
                <a:solidFill>
                  <a:srgbClr val="94A3B8"/>
                </a:solidFill>
                <a:latin typeface="Arial" pitchFamily="34" charset="0"/>
                <a:ea typeface="Arial" pitchFamily="34" charset="-122"/>
                <a:cs typeface="Arial" pitchFamily="34" charset="-120"/>
              </a:rPr>
              <a:t>[Presenter name]</a:t>
            </a:r>
            <a:endParaRPr lang="en-US" sz="1600" dirty="0"/>
          </a:p>
          <a:p>
            <a:pPr indent="0" marL="0">
              <a:spcAft>
                <a:spcPts val="400"/>
              </a:spcAft>
              <a:buNone/>
            </a:pPr>
            <a:r>
              <a:rPr lang="en-US" sz="1600" dirty="0">
                <a:solidFill>
                  <a:srgbClr val="94A3B8"/>
                </a:solidFill>
                <a:latin typeface="Arial" pitchFamily="34" charset="0"/>
                <a:ea typeface="Arial" pitchFamily="34" charset="-122"/>
                <a:cs typeface="Arial" pitchFamily="34" charset="-120"/>
              </a:rPr>
              <a:t>[Department], [Institution]</a:t>
            </a:r>
            <a:endParaRPr lang="en-US" sz="1600" dirty="0"/>
          </a:p>
          <a:p>
            <a:pPr indent="0" marL="0">
              <a:spcAft>
                <a:spcPts val="400"/>
              </a:spcAft>
              <a:buNone/>
            </a:pPr>
            <a:r>
              <a:rPr lang="en-US" sz="1600" dirty="0">
                <a:solidFill>
                  <a:srgbClr val="94A3B8"/>
                </a:solidFill>
                <a:latin typeface="Arial" pitchFamily="34" charset="0"/>
                <a:ea typeface="Arial" pitchFamily="34" charset="-122"/>
                <a:cs typeface="Arial" pitchFamily="34" charset="-120"/>
              </a:rPr>
              <a:t>[Date]</a:t>
            </a:r>
            <a:endParaRPr lang="en-US" sz="1600" dirty="0"/>
          </a:p>
        </p:txBody>
      </p:sp>
      <p:sp>
        <p:nvSpPr>
          <p:cNvPr id="5" name="Shape 3"/>
          <p:cNvSpPr/>
          <p:nvPr/>
        </p:nvSpPr>
        <p:spPr>
          <a:xfrm>
            <a:off x="8412480" y="914400"/>
            <a:ext cx="3200400" cy="685800"/>
          </a:xfrm>
          <a:prstGeom prst="roundRect">
            <a:avLst>
              <a:gd name="adj" fmla="val 16000"/>
            </a:avLst>
          </a:prstGeom>
          <a:solidFill>
            <a:srgbClr val="13294B"/>
          </a:solidFill>
          <a:ln w="15875">
            <a:solidFill>
              <a:srgbClr val="22D3EE"/>
            </a:solidFill>
            <a:prstDash val="solid"/>
          </a:ln>
        </p:spPr>
      </p:sp>
      <p:sp>
        <p:nvSpPr>
          <p:cNvPr id="6" name="Text 4"/>
          <p:cNvSpPr/>
          <p:nvPr/>
        </p:nvSpPr>
        <p:spPr>
          <a:xfrm>
            <a:off x="8412480" y="914400"/>
            <a:ext cx="3200400" cy="68580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Website</a:t>
            </a:r>
            <a:endParaRPr lang="en-US" sz="1800" dirty="0"/>
          </a:p>
        </p:txBody>
      </p:sp>
      <p:sp>
        <p:nvSpPr>
          <p:cNvPr id="7" name="Shape 5"/>
          <p:cNvSpPr/>
          <p:nvPr/>
        </p:nvSpPr>
        <p:spPr>
          <a:xfrm>
            <a:off x="10012680" y="1600200"/>
            <a:ext cx="0" cy="320040"/>
          </a:xfrm>
          <a:prstGeom prst="line">
            <a:avLst/>
          </a:prstGeom>
          <a:noFill/>
          <a:ln w="25400">
            <a:solidFill>
              <a:srgbClr val="22D3EE"/>
            </a:solidFill>
            <a:prstDash val="solid"/>
            <a:tailEnd type="triangle"/>
          </a:ln>
        </p:spPr>
      </p:sp>
      <p:sp>
        <p:nvSpPr>
          <p:cNvPr id="8" name="Shape 6"/>
          <p:cNvSpPr/>
          <p:nvPr/>
        </p:nvSpPr>
        <p:spPr>
          <a:xfrm>
            <a:off x="8412480" y="1920240"/>
            <a:ext cx="3200400" cy="685800"/>
          </a:xfrm>
          <a:prstGeom prst="roundRect">
            <a:avLst>
              <a:gd name="adj" fmla="val 16000"/>
            </a:avLst>
          </a:prstGeom>
          <a:solidFill>
            <a:srgbClr val="13294B"/>
          </a:solidFill>
          <a:ln w="15875">
            <a:solidFill>
              <a:srgbClr val="22D3EE"/>
            </a:solidFill>
            <a:prstDash val="solid"/>
          </a:ln>
        </p:spPr>
      </p:sp>
      <p:sp>
        <p:nvSpPr>
          <p:cNvPr id="9" name="Text 7"/>
          <p:cNvSpPr/>
          <p:nvPr/>
        </p:nvSpPr>
        <p:spPr>
          <a:xfrm>
            <a:off x="8412480" y="1920240"/>
            <a:ext cx="3200400" cy="68580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Build</a:t>
            </a:r>
            <a:endParaRPr lang="en-US" sz="1800" dirty="0"/>
          </a:p>
        </p:txBody>
      </p:sp>
      <p:sp>
        <p:nvSpPr>
          <p:cNvPr id="10" name="Shape 8"/>
          <p:cNvSpPr/>
          <p:nvPr/>
        </p:nvSpPr>
        <p:spPr>
          <a:xfrm>
            <a:off x="10012680" y="2606040"/>
            <a:ext cx="0" cy="320040"/>
          </a:xfrm>
          <a:prstGeom prst="line">
            <a:avLst/>
          </a:prstGeom>
          <a:noFill/>
          <a:ln w="25400">
            <a:solidFill>
              <a:srgbClr val="22D3EE"/>
            </a:solidFill>
            <a:prstDash val="solid"/>
            <a:tailEnd type="triangle"/>
          </a:ln>
        </p:spPr>
      </p:sp>
      <p:sp>
        <p:nvSpPr>
          <p:cNvPr id="11" name="Shape 9"/>
          <p:cNvSpPr/>
          <p:nvPr/>
        </p:nvSpPr>
        <p:spPr>
          <a:xfrm>
            <a:off x="8412480" y="2926080"/>
            <a:ext cx="3200400" cy="685800"/>
          </a:xfrm>
          <a:prstGeom prst="roundRect">
            <a:avLst>
              <a:gd name="adj" fmla="val 16000"/>
            </a:avLst>
          </a:prstGeom>
          <a:solidFill>
            <a:srgbClr val="13294B"/>
          </a:solidFill>
          <a:ln w="15875">
            <a:solidFill>
              <a:srgbClr val="22D3EE"/>
            </a:solidFill>
            <a:prstDash val="solid"/>
          </a:ln>
        </p:spPr>
      </p:sp>
      <p:sp>
        <p:nvSpPr>
          <p:cNvPr id="12" name="Text 10"/>
          <p:cNvSpPr/>
          <p:nvPr/>
        </p:nvSpPr>
        <p:spPr>
          <a:xfrm>
            <a:off x="8412480" y="2926080"/>
            <a:ext cx="3200400" cy="68580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S3</a:t>
            </a:r>
            <a:endParaRPr lang="en-US" sz="1800" dirty="0"/>
          </a:p>
        </p:txBody>
      </p:sp>
      <p:sp>
        <p:nvSpPr>
          <p:cNvPr id="13" name="Shape 11"/>
          <p:cNvSpPr/>
          <p:nvPr/>
        </p:nvSpPr>
        <p:spPr>
          <a:xfrm>
            <a:off x="10012680" y="3611880"/>
            <a:ext cx="0" cy="320040"/>
          </a:xfrm>
          <a:prstGeom prst="line">
            <a:avLst/>
          </a:prstGeom>
          <a:noFill/>
          <a:ln w="25400">
            <a:solidFill>
              <a:srgbClr val="22D3EE"/>
            </a:solidFill>
            <a:prstDash val="solid"/>
            <a:tailEnd type="triangle"/>
          </a:ln>
        </p:spPr>
      </p:sp>
      <p:sp>
        <p:nvSpPr>
          <p:cNvPr id="14" name="Shape 12"/>
          <p:cNvSpPr/>
          <p:nvPr/>
        </p:nvSpPr>
        <p:spPr>
          <a:xfrm>
            <a:off x="8412480" y="3931920"/>
            <a:ext cx="3200400" cy="685800"/>
          </a:xfrm>
          <a:prstGeom prst="roundRect">
            <a:avLst>
              <a:gd name="adj" fmla="val 16000"/>
            </a:avLst>
          </a:prstGeom>
          <a:solidFill>
            <a:srgbClr val="13294B"/>
          </a:solidFill>
          <a:ln w="15875">
            <a:solidFill>
              <a:srgbClr val="22D3EE"/>
            </a:solidFill>
            <a:prstDash val="solid"/>
          </a:ln>
        </p:spPr>
      </p:sp>
      <p:sp>
        <p:nvSpPr>
          <p:cNvPr id="15" name="Text 13"/>
          <p:cNvSpPr/>
          <p:nvPr/>
        </p:nvSpPr>
        <p:spPr>
          <a:xfrm>
            <a:off x="8412480" y="3931920"/>
            <a:ext cx="3200400" cy="68580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Proxy</a:t>
            </a:r>
            <a:endParaRPr lang="en-US" sz="1800" dirty="0"/>
          </a:p>
        </p:txBody>
      </p:sp>
      <p:sp>
        <p:nvSpPr>
          <p:cNvPr id="16" name="Shape 14"/>
          <p:cNvSpPr/>
          <p:nvPr/>
        </p:nvSpPr>
        <p:spPr>
          <a:xfrm>
            <a:off x="10012680" y="4617720"/>
            <a:ext cx="0" cy="320040"/>
          </a:xfrm>
          <a:prstGeom prst="line">
            <a:avLst/>
          </a:prstGeom>
          <a:noFill/>
          <a:ln w="25400">
            <a:solidFill>
              <a:srgbClr val="22D3EE"/>
            </a:solidFill>
            <a:prstDash val="solid"/>
            <a:tailEnd type="triangle"/>
          </a:ln>
        </p:spPr>
      </p:sp>
      <p:sp>
        <p:nvSpPr>
          <p:cNvPr id="17" name="Shape 15"/>
          <p:cNvSpPr/>
          <p:nvPr/>
        </p:nvSpPr>
        <p:spPr>
          <a:xfrm>
            <a:off x="8412480" y="4937760"/>
            <a:ext cx="3200400" cy="685800"/>
          </a:xfrm>
          <a:prstGeom prst="roundRect">
            <a:avLst>
              <a:gd name="adj" fmla="val 16000"/>
            </a:avLst>
          </a:prstGeom>
          <a:solidFill>
            <a:srgbClr val="13294B"/>
          </a:solidFill>
          <a:ln w="15875">
            <a:solidFill>
              <a:srgbClr val="8B5CF6"/>
            </a:solidFill>
            <a:prstDash val="solid"/>
          </a:ln>
        </p:spPr>
      </p:sp>
      <p:sp>
        <p:nvSpPr>
          <p:cNvPr id="18" name="Text 16"/>
          <p:cNvSpPr/>
          <p:nvPr/>
        </p:nvSpPr>
        <p:spPr>
          <a:xfrm>
            <a:off x="8412480" y="4937760"/>
            <a:ext cx="3200400" cy="685800"/>
          </a:xfrm>
          <a:prstGeom prst="rect">
            <a:avLst/>
          </a:prstGeom>
          <a:noFill/>
          <a:ln/>
        </p:spPr>
        <p:txBody>
          <a:bodyPr wrap="square" lIns="0" tIns="0" rIns="0" bIns="0" rtlCol="0" anchor="ctr"/>
          <a:lstStyle/>
          <a:p>
            <a:pPr algn="ctr" indent="0" marL="0">
              <a:buNone/>
            </a:pPr>
            <a:r>
              <a:rPr lang="en-US" sz="1800" b="1" dirty="0">
                <a:solidFill>
                  <a:srgbClr val="E6F1FF"/>
                </a:solidFill>
                <a:latin typeface="Arial" pitchFamily="34" charset="0"/>
                <a:ea typeface="Arial" pitchFamily="34" charset="-122"/>
                <a:cs typeface="Arial" pitchFamily="34" charset="-120"/>
              </a:rPr>
              <a:t>Monitoring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The problem and motivation</a:t>
            </a:r>
            <a:endParaRPr lang="en-US" sz="3400" dirty="0"/>
          </a:p>
        </p:txBody>
      </p:sp>
      <p:sp>
        <p:nvSpPr>
          <p:cNvPr id="3" name="Shape 1"/>
          <p:cNvSpPr/>
          <p:nvPr/>
        </p:nvSpPr>
        <p:spPr>
          <a:xfrm>
            <a:off x="548640" y="1463040"/>
            <a:ext cx="3520440" cy="3291840"/>
          </a:xfrm>
          <a:prstGeom prst="roundRect">
            <a:avLst>
              <a:gd name="adj" fmla="val 3333"/>
            </a:avLst>
          </a:prstGeom>
          <a:solidFill>
            <a:srgbClr val="13294B"/>
          </a:solidFill>
          <a:ln w="15875">
            <a:solidFill>
              <a:srgbClr val="22D3EE"/>
            </a:solidFill>
            <a:prstDash val="solid"/>
          </a:ln>
        </p:spPr>
      </p:sp>
      <p:sp>
        <p:nvSpPr>
          <p:cNvPr id="4" name="Shape 2"/>
          <p:cNvSpPr/>
          <p:nvPr/>
        </p:nvSpPr>
        <p:spPr>
          <a:xfrm>
            <a:off x="822960" y="1737360"/>
            <a:ext cx="640080" cy="640080"/>
          </a:xfrm>
          <a:prstGeom prst="ellipse">
            <a:avLst/>
          </a:prstGeom>
          <a:solidFill>
            <a:srgbClr val="8B5CF6"/>
          </a:solidFill>
          <a:ln w="12700">
            <a:solidFill>
              <a:srgbClr val="8B5CF6"/>
            </a:solidFill>
            <a:prstDash val="solid"/>
          </a:ln>
        </p:spPr>
      </p:sp>
      <p:sp>
        <p:nvSpPr>
          <p:cNvPr id="5" name="Text 3"/>
          <p:cNvSpPr/>
          <p:nvPr/>
        </p:nvSpPr>
        <p:spPr>
          <a:xfrm>
            <a:off x="82296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822960" y="2606040"/>
            <a:ext cx="3017520" cy="822960"/>
          </a:xfrm>
          <a:prstGeom prst="rect">
            <a:avLst/>
          </a:prstGeom>
          <a:noFill/>
          <a:ln/>
        </p:spPr>
        <p:txBody>
          <a:bodyPr wrap="square" lIns="0" tIns="0" rIns="0" bIns="0" rtlCol="0" anchor="ctr"/>
          <a:lstStyle/>
          <a:p>
            <a:pPr indent="0" marL="0">
              <a:buNone/>
            </a:pPr>
            <a:r>
              <a:rPr lang="en-US" sz="2000" b="1" dirty="0">
                <a:solidFill>
                  <a:srgbClr val="E6F1FF"/>
                </a:solidFill>
                <a:latin typeface="Arial" pitchFamily="34" charset="0"/>
                <a:ea typeface="Arial" pitchFamily="34" charset="-122"/>
                <a:cs typeface="Arial" pitchFamily="34" charset="-120"/>
              </a:rPr>
              <a:t>Deployment needs infrastructure</a:t>
            </a:r>
            <a:endParaRPr lang="en-US" sz="2000" dirty="0"/>
          </a:p>
        </p:txBody>
      </p:sp>
      <p:sp>
        <p:nvSpPr>
          <p:cNvPr id="7" name="Text 5"/>
          <p:cNvSpPr/>
          <p:nvPr/>
        </p:nvSpPr>
        <p:spPr>
          <a:xfrm>
            <a:off x="822960" y="3474720"/>
            <a:ext cx="3017520" cy="109728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Build environments, artifact storage and request routing must all work together.</a:t>
            </a:r>
            <a:endParaRPr lang="en-US" sz="1500" dirty="0"/>
          </a:p>
        </p:txBody>
      </p:sp>
      <p:sp>
        <p:nvSpPr>
          <p:cNvPr id="8" name="Shape 6"/>
          <p:cNvSpPr/>
          <p:nvPr/>
        </p:nvSpPr>
        <p:spPr>
          <a:xfrm>
            <a:off x="4297680" y="1463040"/>
            <a:ext cx="3520440" cy="3291840"/>
          </a:xfrm>
          <a:prstGeom prst="roundRect">
            <a:avLst>
              <a:gd name="adj" fmla="val 3333"/>
            </a:avLst>
          </a:prstGeom>
          <a:solidFill>
            <a:srgbClr val="13294B"/>
          </a:solidFill>
          <a:ln w="15875">
            <a:solidFill>
              <a:srgbClr val="22D3EE"/>
            </a:solidFill>
            <a:prstDash val="solid"/>
          </a:ln>
        </p:spPr>
      </p:sp>
      <p:sp>
        <p:nvSpPr>
          <p:cNvPr id="9" name="Shape 7"/>
          <p:cNvSpPr/>
          <p:nvPr/>
        </p:nvSpPr>
        <p:spPr>
          <a:xfrm>
            <a:off x="4572000" y="1737360"/>
            <a:ext cx="640080" cy="640080"/>
          </a:xfrm>
          <a:prstGeom prst="ellipse">
            <a:avLst/>
          </a:prstGeom>
          <a:solidFill>
            <a:srgbClr val="8B5CF6"/>
          </a:solidFill>
          <a:ln w="12700">
            <a:solidFill>
              <a:srgbClr val="8B5CF6"/>
            </a:solidFill>
            <a:prstDash val="solid"/>
          </a:ln>
        </p:spPr>
      </p:sp>
      <p:sp>
        <p:nvSpPr>
          <p:cNvPr id="10" name="Text 8"/>
          <p:cNvSpPr/>
          <p:nvPr/>
        </p:nvSpPr>
        <p:spPr>
          <a:xfrm>
            <a:off x="457200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4572000" y="2606040"/>
            <a:ext cx="3017520" cy="822960"/>
          </a:xfrm>
          <a:prstGeom prst="rect">
            <a:avLst/>
          </a:prstGeom>
          <a:noFill/>
          <a:ln/>
        </p:spPr>
        <p:txBody>
          <a:bodyPr wrap="square" lIns="0" tIns="0" rIns="0" bIns="0" rtlCol="0" anchor="ctr"/>
          <a:lstStyle/>
          <a:p>
            <a:pPr indent="0" marL="0">
              <a:buNone/>
            </a:pPr>
            <a:r>
              <a:rPr lang="en-US" sz="2000" b="1" dirty="0">
                <a:solidFill>
                  <a:srgbClr val="E6F1FF"/>
                </a:solidFill>
                <a:latin typeface="Arial" pitchFamily="34" charset="0"/>
                <a:ea typeface="Arial" pitchFamily="34" charset="-122"/>
                <a:cs typeface="Arial" pitchFamily="34" charset="-120"/>
              </a:rPr>
              <a:t>Live sites face hostile traffic</a:t>
            </a:r>
            <a:endParaRPr lang="en-US" sz="2000" dirty="0"/>
          </a:p>
        </p:txBody>
      </p:sp>
      <p:sp>
        <p:nvSpPr>
          <p:cNvPr id="12" name="Text 10"/>
          <p:cNvSpPr/>
          <p:nvPr/>
        </p:nvSpPr>
        <p:spPr>
          <a:xfrm>
            <a:off x="4572000" y="3474720"/>
            <a:ext cx="3017520" cy="109728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Flooding, scanning and brute-force login attempts reach the application once it is public.</a:t>
            </a:r>
            <a:endParaRPr lang="en-US" sz="1500" dirty="0"/>
          </a:p>
        </p:txBody>
      </p:sp>
      <p:sp>
        <p:nvSpPr>
          <p:cNvPr id="13" name="Shape 11"/>
          <p:cNvSpPr/>
          <p:nvPr/>
        </p:nvSpPr>
        <p:spPr>
          <a:xfrm>
            <a:off x="8046720" y="1463040"/>
            <a:ext cx="3520440" cy="3291840"/>
          </a:xfrm>
          <a:prstGeom prst="roundRect">
            <a:avLst>
              <a:gd name="adj" fmla="val 3333"/>
            </a:avLst>
          </a:prstGeom>
          <a:solidFill>
            <a:srgbClr val="13294B"/>
          </a:solidFill>
          <a:ln w="15875">
            <a:solidFill>
              <a:srgbClr val="22D3EE"/>
            </a:solidFill>
            <a:prstDash val="solid"/>
          </a:ln>
        </p:spPr>
      </p:sp>
      <p:sp>
        <p:nvSpPr>
          <p:cNvPr id="14" name="Shape 12"/>
          <p:cNvSpPr/>
          <p:nvPr/>
        </p:nvSpPr>
        <p:spPr>
          <a:xfrm>
            <a:off x="8321040" y="1737360"/>
            <a:ext cx="640080" cy="640080"/>
          </a:xfrm>
          <a:prstGeom prst="ellipse">
            <a:avLst/>
          </a:prstGeom>
          <a:solidFill>
            <a:srgbClr val="8B5CF6"/>
          </a:solidFill>
          <a:ln w="12700">
            <a:solidFill>
              <a:srgbClr val="8B5CF6"/>
            </a:solidFill>
            <a:prstDash val="solid"/>
          </a:ln>
        </p:spPr>
      </p:sp>
      <p:sp>
        <p:nvSpPr>
          <p:cNvPr id="15" name="Text 13"/>
          <p:cNvSpPr/>
          <p:nvPr/>
        </p:nvSpPr>
        <p:spPr>
          <a:xfrm>
            <a:off x="832104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p:nvPr/>
        </p:nvSpPr>
        <p:spPr>
          <a:xfrm>
            <a:off x="8321040" y="2606040"/>
            <a:ext cx="3017520" cy="822960"/>
          </a:xfrm>
          <a:prstGeom prst="rect">
            <a:avLst/>
          </a:prstGeom>
          <a:noFill/>
          <a:ln/>
        </p:spPr>
        <p:txBody>
          <a:bodyPr wrap="square" lIns="0" tIns="0" rIns="0" bIns="0" rtlCol="0" anchor="ctr"/>
          <a:lstStyle/>
          <a:p>
            <a:pPr indent="0" marL="0">
              <a:buNone/>
            </a:pPr>
            <a:r>
              <a:rPr lang="en-US" sz="2000" b="1" dirty="0">
                <a:solidFill>
                  <a:srgbClr val="E6F1FF"/>
                </a:solidFill>
                <a:latin typeface="Arial" pitchFamily="34" charset="0"/>
                <a:ea typeface="Arial" pitchFamily="34" charset="-122"/>
                <a:cs typeface="Arial" pitchFamily="34" charset="-120"/>
              </a:rPr>
              <a:t>Operators need visibility</a:t>
            </a:r>
            <a:endParaRPr lang="en-US" sz="2000" dirty="0"/>
          </a:p>
        </p:txBody>
      </p:sp>
      <p:sp>
        <p:nvSpPr>
          <p:cNvPr id="17" name="Text 15"/>
          <p:cNvSpPr/>
          <p:nvPr/>
        </p:nvSpPr>
        <p:spPr>
          <a:xfrm>
            <a:off x="8321040" y="3474720"/>
            <a:ext cx="3017520" cy="1097280"/>
          </a:xfrm>
          <a:prstGeom prst="rect">
            <a:avLst/>
          </a:prstGeom>
          <a:noFill/>
          <a:ln/>
        </p:spPr>
        <p:txBody>
          <a:bodyPr wrap="square" lIns="0" tIns="0" rIns="0" bIns="0" rtlCol="0" anchor="t"/>
          <a:lstStyle/>
          <a:p>
            <a:pPr indent="0" marL="0">
              <a:buNone/>
            </a:pPr>
            <a:r>
              <a:rPr lang="en-US" sz="1500" dirty="0">
                <a:solidFill>
                  <a:srgbClr val="94A3B8"/>
                </a:solidFill>
                <a:latin typeface="Arial" pitchFamily="34" charset="0"/>
                <a:ea typeface="Arial" pitchFamily="34" charset="-122"/>
                <a:cs typeface="Arial" pitchFamily="34" charset="-120"/>
              </a:rPr>
              <a:t>Security alerts, request history and a single place to understand suspicious behaviour.</a:t>
            </a:r>
            <a:endParaRPr lang="en-US" sz="1500" dirty="0"/>
          </a:p>
        </p:txBody>
      </p:sp>
      <p:sp>
        <p:nvSpPr>
          <p:cNvPr id="18" name="Text 16"/>
          <p:cNvSpPr/>
          <p:nvPr/>
        </p:nvSpPr>
        <p:spPr>
          <a:xfrm>
            <a:off x="548640" y="5120640"/>
            <a:ext cx="11064240" cy="457200"/>
          </a:xfrm>
          <a:prstGeom prst="rect">
            <a:avLst/>
          </a:prstGeom>
          <a:noFill/>
          <a:ln/>
        </p:spPr>
        <p:txBody>
          <a:bodyPr wrap="square" lIns="0" tIns="0" rIns="0" bIns="0" rtlCol="0" anchor="ctr"/>
          <a:lstStyle/>
          <a:p>
            <a:pPr indent="0" marL="0">
              <a:buNone/>
            </a:pPr>
            <a:r>
              <a:rPr lang="en-US" sz="1800" i="1" dirty="0">
                <a:solidFill>
                  <a:srgbClr val="22D3EE"/>
                </a:solidFill>
                <a:latin typeface="Arial" pitchFamily="34" charset="0"/>
                <a:ea typeface="Arial" pitchFamily="34" charset="-122"/>
                <a:cs typeface="Arial" pitchFamily="34" charset="-120"/>
              </a:rPr>
              <a:t>The unified platform treats these as connected problems, not separate ones.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Network Intrusion Detection System overview</a:t>
            </a:r>
            <a:endParaRPr lang="en-US" sz="3400" dirty="0"/>
          </a:p>
        </p:txBody>
      </p:sp>
      <p:sp>
        <p:nvSpPr>
          <p:cNvPr id="3" name="Shape 1"/>
          <p:cNvSpPr/>
          <p:nvPr/>
        </p:nvSpPr>
        <p:spPr>
          <a:xfrm>
            <a:off x="548640" y="1554480"/>
            <a:ext cx="3520440" cy="3108960"/>
          </a:xfrm>
          <a:prstGeom prst="roundRect">
            <a:avLst>
              <a:gd name="adj" fmla="val 3529"/>
            </a:avLst>
          </a:prstGeom>
          <a:solidFill>
            <a:srgbClr val="13294B"/>
          </a:solidFill>
          <a:ln w="15875">
            <a:solidFill>
              <a:srgbClr val="22D3EE"/>
            </a:solidFill>
            <a:prstDash val="solid"/>
          </a:ln>
        </p:spPr>
      </p:sp>
      <p:sp>
        <p:nvSpPr>
          <p:cNvPr id="4" name="Text 2"/>
          <p:cNvSpPr/>
          <p:nvPr/>
        </p:nvSpPr>
        <p:spPr>
          <a:xfrm>
            <a:off x="822960" y="1783080"/>
            <a:ext cx="3017520" cy="64008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Deployment engine</a:t>
            </a:r>
            <a:endParaRPr lang="en-US" sz="2000" dirty="0"/>
          </a:p>
        </p:txBody>
      </p:sp>
      <p:sp>
        <p:nvSpPr>
          <p:cNvPr id="5" name="Text 3"/>
          <p:cNvSpPr/>
          <p:nvPr/>
        </p:nvSpPr>
        <p:spPr>
          <a:xfrm>
            <a:off x="822960" y="2560320"/>
            <a:ext cx="3017520" cy="1920240"/>
          </a:xfrm>
          <a:prstGeom prst="rect">
            <a:avLst/>
          </a:prstGeom>
          <a:noFill/>
          <a:ln/>
        </p:spPr>
        <p:txBody>
          <a:bodyPr wrap="square" lIns="0" tIns="0" rIns="0" bIns="0" rtlCol="0" anchor="t"/>
          <a:lstStyle/>
          <a:p>
            <a:pPr indent="0" marL="0">
              <a:buNone/>
            </a:pPr>
            <a:r>
              <a:rPr lang="en-US" sz="1500" dirty="0">
                <a:solidFill>
                  <a:srgbClr val="E6F1FF"/>
                </a:solidFill>
                <a:latin typeface="Arial" pitchFamily="34" charset="0"/>
                <a:ea typeface="Arial" pitchFamily="34" charset="-122"/>
                <a:cs typeface="Arial" pitchFamily="34" charset="-120"/>
              </a:rPr>
              <a:t>Accepts a Git URL, builds the site in an isolated container, and stores output in S3 behind a reverse proxy.</a:t>
            </a:r>
            <a:endParaRPr lang="en-US" sz="1500" dirty="0"/>
          </a:p>
        </p:txBody>
      </p:sp>
      <p:sp>
        <p:nvSpPr>
          <p:cNvPr id="6" name="Shape 4"/>
          <p:cNvSpPr/>
          <p:nvPr/>
        </p:nvSpPr>
        <p:spPr>
          <a:xfrm>
            <a:off x="4297680" y="1554480"/>
            <a:ext cx="3520440" cy="3108960"/>
          </a:xfrm>
          <a:prstGeom prst="roundRect">
            <a:avLst>
              <a:gd name="adj" fmla="val 3529"/>
            </a:avLst>
          </a:prstGeom>
          <a:solidFill>
            <a:srgbClr val="13294B"/>
          </a:solidFill>
          <a:ln w="15875">
            <a:solidFill>
              <a:srgbClr val="22D3EE"/>
            </a:solidFill>
            <a:prstDash val="solid"/>
          </a:ln>
        </p:spPr>
      </p:sp>
      <p:sp>
        <p:nvSpPr>
          <p:cNvPr id="7" name="Text 5"/>
          <p:cNvSpPr/>
          <p:nvPr/>
        </p:nvSpPr>
        <p:spPr>
          <a:xfrm>
            <a:off x="4572000" y="1783080"/>
            <a:ext cx="3017520" cy="64008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Runtime security engine</a:t>
            </a:r>
            <a:endParaRPr lang="en-US" sz="2000" dirty="0"/>
          </a:p>
        </p:txBody>
      </p:sp>
      <p:sp>
        <p:nvSpPr>
          <p:cNvPr id="8" name="Text 6"/>
          <p:cNvSpPr/>
          <p:nvPr/>
        </p:nvSpPr>
        <p:spPr>
          <a:xfrm>
            <a:off x="4572000" y="2560320"/>
            <a:ext cx="3017520" cy="1920240"/>
          </a:xfrm>
          <a:prstGeom prst="rect">
            <a:avLst/>
          </a:prstGeom>
          <a:noFill/>
          <a:ln/>
        </p:spPr>
        <p:txBody>
          <a:bodyPr wrap="square" lIns="0" tIns="0" rIns="0" bIns="0" rtlCol="0" anchor="t"/>
          <a:lstStyle/>
          <a:p>
            <a:pPr indent="0" marL="0">
              <a:buNone/>
            </a:pPr>
            <a:r>
              <a:rPr lang="en-US" sz="1500" dirty="0">
                <a:solidFill>
                  <a:srgbClr val="E6F1FF"/>
                </a:solidFill>
                <a:latin typeface="Arial" pitchFamily="34" charset="0"/>
                <a:ea typeface="Arial" pitchFamily="34" charset="-122"/>
                <a:cs typeface="Arial" pitchFamily="34" charset="-120"/>
              </a:rPr>
              <a:t>Inspects each HTTP request, applies rate limits and detection rules, and raises incidents in real time.</a:t>
            </a:r>
            <a:endParaRPr lang="en-US" sz="1500" dirty="0"/>
          </a:p>
        </p:txBody>
      </p:sp>
      <p:sp>
        <p:nvSpPr>
          <p:cNvPr id="9" name="Shape 7"/>
          <p:cNvSpPr/>
          <p:nvPr/>
        </p:nvSpPr>
        <p:spPr>
          <a:xfrm>
            <a:off x="8046720" y="1554480"/>
            <a:ext cx="3520440" cy="3108960"/>
          </a:xfrm>
          <a:prstGeom prst="roundRect">
            <a:avLst>
              <a:gd name="adj" fmla="val 3529"/>
            </a:avLst>
          </a:prstGeom>
          <a:solidFill>
            <a:srgbClr val="13294B"/>
          </a:solidFill>
          <a:ln w="15875">
            <a:solidFill>
              <a:srgbClr val="8B5CF6"/>
            </a:solidFill>
            <a:prstDash val="solid"/>
          </a:ln>
        </p:spPr>
      </p:sp>
      <p:sp>
        <p:nvSpPr>
          <p:cNvPr id="10" name="Text 8"/>
          <p:cNvSpPr/>
          <p:nvPr/>
        </p:nvSpPr>
        <p:spPr>
          <a:xfrm>
            <a:off x="8321040" y="1783080"/>
            <a:ext cx="3017520" cy="64008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Hybrid log analysis</a:t>
            </a:r>
            <a:endParaRPr lang="en-US" sz="2000" dirty="0"/>
          </a:p>
        </p:txBody>
      </p:sp>
      <p:sp>
        <p:nvSpPr>
          <p:cNvPr id="11" name="Text 9"/>
          <p:cNvSpPr/>
          <p:nvPr/>
        </p:nvSpPr>
        <p:spPr>
          <a:xfrm>
            <a:off x="8321040" y="2560320"/>
            <a:ext cx="3017520" cy="1920240"/>
          </a:xfrm>
          <a:prstGeom prst="rect">
            <a:avLst/>
          </a:prstGeom>
          <a:noFill/>
          <a:ln/>
        </p:spPr>
        <p:txBody>
          <a:bodyPr wrap="square" lIns="0" tIns="0" rIns="0" bIns="0" rtlCol="0" anchor="t"/>
          <a:lstStyle/>
          <a:p>
            <a:pPr indent="0" marL="0">
              <a:buNone/>
            </a:pPr>
            <a:r>
              <a:rPr lang="en-US" sz="1500" dirty="0">
                <a:solidFill>
                  <a:srgbClr val="E6F1FF"/>
                </a:solidFill>
                <a:latin typeface="Arial" pitchFamily="34" charset="0"/>
                <a:ea typeface="Arial" pitchFamily="34" charset="-122"/>
                <a:cs typeface="Arial" pitchFamily="34" charset="-120"/>
              </a:rPr>
              <a:t>Reads access logs, combines explicit rules with an Isolation Forest, and produces severity-ranked alerts.</a:t>
            </a:r>
            <a:endParaRPr lang="en-US" sz="1500" dirty="0"/>
          </a:p>
        </p:txBody>
      </p:sp>
      <p:sp>
        <p:nvSpPr>
          <p:cNvPr id="12" name="Text 10"/>
          <p:cNvSpPr/>
          <p:nvPr/>
        </p:nvSpPr>
        <p:spPr>
          <a:xfrm>
            <a:off x="548640" y="5029200"/>
            <a:ext cx="11064240" cy="82296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Deployment provides the hosted target. Runtime security protects it at request level. Log analysis looks for patterns across traffic over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End-to-end architecture</a:t>
            </a:r>
            <a:endParaRPr lang="en-US" sz="3400" dirty="0"/>
          </a:p>
        </p:txBody>
      </p:sp>
      <p:pic>
        <p:nvPicPr>
          <p:cNvPr id="3" name="Image 0" descr="/tmp/claude-0/-home-claude/083e003d-52c2-51ba-b3cc-2bc1943c3d88/scratchpad/nids_arch.png">    </p:cNvPr>
          <p:cNvPicPr>
            <a:picLocks noChangeAspect="1"/>
          </p:cNvPicPr>
          <p:nvPr/>
        </p:nvPicPr>
        <p:blipFill>
          <a:blip r:embed="rId1"/>
          <a:stretch>
            <a:fillRect/>
          </a:stretch>
        </p:blipFill>
        <p:spPr>
          <a:xfrm>
            <a:off x="1097280" y="1097280"/>
            <a:ext cx="9966960" cy="5605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Cloud deployment lifecycle</a:t>
            </a:r>
            <a:endParaRPr lang="en-US" sz="3400" dirty="0"/>
          </a:p>
        </p:txBody>
      </p:sp>
      <p:sp>
        <p:nvSpPr>
          <p:cNvPr id="3" name="Shape 1"/>
          <p:cNvSpPr/>
          <p:nvPr/>
        </p:nvSpPr>
        <p:spPr>
          <a:xfrm>
            <a:off x="548640" y="1463040"/>
            <a:ext cx="2606040" cy="1645920"/>
          </a:xfrm>
          <a:prstGeom prst="roundRect">
            <a:avLst>
              <a:gd name="adj" fmla="val 6667"/>
            </a:avLst>
          </a:prstGeom>
          <a:solidFill>
            <a:srgbClr val="13294B"/>
          </a:solidFill>
          <a:ln w="15875">
            <a:solidFill>
              <a:srgbClr val="22D3EE"/>
            </a:solidFill>
            <a:prstDash val="solid"/>
          </a:ln>
        </p:spPr>
      </p:sp>
      <p:sp>
        <p:nvSpPr>
          <p:cNvPr id="4" name="Text 2"/>
          <p:cNvSpPr/>
          <p:nvPr/>
        </p:nvSpPr>
        <p:spPr>
          <a:xfrm>
            <a:off x="731520" y="160020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1</a:t>
            </a:r>
            <a:endParaRPr lang="en-US" sz="2200" dirty="0"/>
          </a:p>
        </p:txBody>
      </p:sp>
      <p:sp>
        <p:nvSpPr>
          <p:cNvPr id="5" name="Text 3"/>
          <p:cNvSpPr/>
          <p:nvPr/>
        </p:nvSpPr>
        <p:spPr>
          <a:xfrm>
            <a:off x="731520" y="210312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Submit a Git repository URL</a:t>
            </a:r>
            <a:endParaRPr lang="en-US" sz="1400" dirty="0"/>
          </a:p>
        </p:txBody>
      </p:sp>
      <p:sp>
        <p:nvSpPr>
          <p:cNvPr id="6" name="Shape 4"/>
          <p:cNvSpPr/>
          <p:nvPr/>
        </p:nvSpPr>
        <p:spPr>
          <a:xfrm>
            <a:off x="3383280" y="1463040"/>
            <a:ext cx="2606040" cy="1645920"/>
          </a:xfrm>
          <a:prstGeom prst="roundRect">
            <a:avLst>
              <a:gd name="adj" fmla="val 6667"/>
            </a:avLst>
          </a:prstGeom>
          <a:solidFill>
            <a:srgbClr val="13294B"/>
          </a:solidFill>
          <a:ln w="15875">
            <a:solidFill>
              <a:srgbClr val="22D3EE"/>
            </a:solidFill>
            <a:prstDash val="solid"/>
          </a:ln>
        </p:spPr>
      </p:sp>
      <p:sp>
        <p:nvSpPr>
          <p:cNvPr id="7" name="Text 5"/>
          <p:cNvSpPr/>
          <p:nvPr/>
        </p:nvSpPr>
        <p:spPr>
          <a:xfrm>
            <a:off x="3566160" y="160020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2</a:t>
            </a:r>
            <a:endParaRPr lang="en-US" sz="2200" dirty="0"/>
          </a:p>
        </p:txBody>
      </p:sp>
      <p:sp>
        <p:nvSpPr>
          <p:cNvPr id="8" name="Text 6"/>
          <p:cNvSpPr/>
          <p:nvPr/>
        </p:nvSpPr>
        <p:spPr>
          <a:xfrm>
            <a:off x="3566160" y="210312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Generate or accept a project slug</a:t>
            </a:r>
            <a:endParaRPr lang="en-US" sz="1400" dirty="0"/>
          </a:p>
        </p:txBody>
      </p:sp>
      <p:sp>
        <p:nvSpPr>
          <p:cNvPr id="9" name="Shape 7"/>
          <p:cNvSpPr/>
          <p:nvPr/>
        </p:nvSpPr>
        <p:spPr>
          <a:xfrm>
            <a:off x="6217920" y="1463040"/>
            <a:ext cx="2606040" cy="1645920"/>
          </a:xfrm>
          <a:prstGeom prst="roundRect">
            <a:avLst>
              <a:gd name="adj" fmla="val 6667"/>
            </a:avLst>
          </a:prstGeom>
          <a:solidFill>
            <a:srgbClr val="13294B"/>
          </a:solidFill>
          <a:ln w="15875">
            <a:solidFill>
              <a:srgbClr val="22D3EE"/>
            </a:solidFill>
            <a:prstDash val="solid"/>
          </a:ln>
        </p:spPr>
      </p:sp>
      <p:sp>
        <p:nvSpPr>
          <p:cNvPr id="10" name="Text 8"/>
          <p:cNvSpPr/>
          <p:nvPr/>
        </p:nvSpPr>
        <p:spPr>
          <a:xfrm>
            <a:off x="6400800" y="160020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3</a:t>
            </a:r>
            <a:endParaRPr lang="en-US" sz="2200" dirty="0"/>
          </a:p>
        </p:txBody>
      </p:sp>
      <p:sp>
        <p:nvSpPr>
          <p:cNvPr id="11" name="Text 9"/>
          <p:cNvSpPr/>
          <p:nvPr/>
        </p:nvSpPr>
        <p:spPr>
          <a:xfrm>
            <a:off x="6400800" y="210312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Launch an ECS Fargate task</a:t>
            </a:r>
            <a:endParaRPr lang="en-US" sz="1400" dirty="0"/>
          </a:p>
        </p:txBody>
      </p:sp>
      <p:sp>
        <p:nvSpPr>
          <p:cNvPr id="12" name="Shape 10"/>
          <p:cNvSpPr/>
          <p:nvPr/>
        </p:nvSpPr>
        <p:spPr>
          <a:xfrm>
            <a:off x="9052560" y="1463040"/>
            <a:ext cx="2606040" cy="1645920"/>
          </a:xfrm>
          <a:prstGeom prst="roundRect">
            <a:avLst>
              <a:gd name="adj" fmla="val 6667"/>
            </a:avLst>
          </a:prstGeom>
          <a:solidFill>
            <a:srgbClr val="13294B"/>
          </a:solidFill>
          <a:ln w="15875">
            <a:solidFill>
              <a:srgbClr val="22D3EE"/>
            </a:solidFill>
            <a:prstDash val="solid"/>
          </a:ln>
        </p:spPr>
      </p:sp>
      <p:sp>
        <p:nvSpPr>
          <p:cNvPr id="13" name="Text 11"/>
          <p:cNvSpPr/>
          <p:nvPr/>
        </p:nvSpPr>
        <p:spPr>
          <a:xfrm>
            <a:off x="9235440" y="160020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4</a:t>
            </a:r>
            <a:endParaRPr lang="en-US" sz="2200" dirty="0"/>
          </a:p>
        </p:txBody>
      </p:sp>
      <p:sp>
        <p:nvSpPr>
          <p:cNvPr id="14" name="Text 12"/>
          <p:cNvSpPr/>
          <p:nvPr/>
        </p:nvSpPr>
        <p:spPr>
          <a:xfrm>
            <a:off x="9235440" y="210312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Clone the source and inspect the build config</a:t>
            </a:r>
            <a:endParaRPr lang="en-US" sz="1400" dirty="0"/>
          </a:p>
        </p:txBody>
      </p:sp>
      <p:sp>
        <p:nvSpPr>
          <p:cNvPr id="15" name="Shape 13"/>
          <p:cNvSpPr/>
          <p:nvPr/>
        </p:nvSpPr>
        <p:spPr>
          <a:xfrm>
            <a:off x="548640" y="3383280"/>
            <a:ext cx="2606040" cy="1645920"/>
          </a:xfrm>
          <a:prstGeom prst="roundRect">
            <a:avLst>
              <a:gd name="adj" fmla="val 6667"/>
            </a:avLst>
          </a:prstGeom>
          <a:solidFill>
            <a:srgbClr val="13294B"/>
          </a:solidFill>
          <a:ln w="15875">
            <a:solidFill>
              <a:srgbClr val="22D3EE"/>
            </a:solidFill>
            <a:prstDash val="solid"/>
          </a:ln>
        </p:spPr>
      </p:sp>
      <p:sp>
        <p:nvSpPr>
          <p:cNvPr id="16" name="Text 14"/>
          <p:cNvSpPr/>
          <p:nvPr/>
        </p:nvSpPr>
        <p:spPr>
          <a:xfrm>
            <a:off x="731520" y="352044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5</a:t>
            </a:r>
            <a:endParaRPr lang="en-US" sz="2200" dirty="0"/>
          </a:p>
        </p:txBody>
      </p:sp>
      <p:sp>
        <p:nvSpPr>
          <p:cNvPr id="17" name="Text 15"/>
          <p:cNvSpPr/>
          <p:nvPr/>
        </p:nvSpPr>
        <p:spPr>
          <a:xfrm>
            <a:off x="731520" y="402336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Install dependencies and run the build, or handle a static site</a:t>
            </a:r>
            <a:endParaRPr lang="en-US" sz="1400" dirty="0"/>
          </a:p>
        </p:txBody>
      </p:sp>
      <p:sp>
        <p:nvSpPr>
          <p:cNvPr id="18" name="Shape 16"/>
          <p:cNvSpPr/>
          <p:nvPr/>
        </p:nvSpPr>
        <p:spPr>
          <a:xfrm>
            <a:off x="3383280" y="3383280"/>
            <a:ext cx="2606040" cy="1645920"/>
          </a:xfrm>
          <a:prstGeom prst="roundRect">
            <a:avLst>
              <a:gd name="adj" fmla="val 6667"/>
            </a:avLst>
          </a:prstGeom>
          <a:solidFill>
            <a:srgbClr val="13294B"/>
          </a:solidFill>
          <a:ln w="15875">
            <a:solidFill>
              <a:srgbClr val="22D3EE"/>
            </a:solidFill>
            <a:prstDash val="solid"/>
          </a:ln>
        </p:spPr>
      </p:sp>
      <p:sp>
        <p:nvSpPr>
          <p:cNvPr id="19" name="Text 17"/>
          <p:cNvSpPr/>
          <p:nvPr/>
        </p:nvSpPr>
        <p:spPr>
          <a:xfrm>
            <a:off x="3566160" y="352044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6</a:t>
            </a:r>
            <a:endParaRPr lang="en-US" sz="2200" dirty="0"/>
          </a:p>
        </p:txBody>
      </p:sp>
      <p:sp>
        <p:nvSpPr>
          <p:cNvPr id="20" name="Text 18"/>
          <p:cNvSpPr/>
          <p:nvPr/>
        </p:nvSpPr>
        <p:spPr>
          <a:xfrm>
            <a:off x="3566160" y="402336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Locate the generated build output</a:t>
            </a:r>
            <a:endParaRPr lang="en-US" sz="1400" dirty="0"/>
          </a:p>
        </p:txBody>
      </p:sp>
      <p:sp>
        <p:nvSpPr>
          <p:cNvPr id="21" name="Shape 19"/>
          <p:cNvSpPr/>
          <p:nvPr/>
        </p:nvSpPr>
        <p:spPr>
          <a:xfrm>
            <a:off x="6217920" y="3383280"/>
            <a:ext cx="2606040" cy="1645920"/>
          </a:xfrm>
          <a:prstGeom prst="roundRect">
            <a:avLst>
              <a:gd name="adj" fmla="val 6667"/>
            </a:avLst>
          </a:prstGeom>
          <a:solidFill>
            <a:srgbClr val="13294B"/>
          </a:solidFill>
          <a:ln w="15875">
            <a:solidFill>
              <a:srgbClr val="22D3EE"/>
            </a:solidFill>
            <a:prstDash val="solid"/>
          </a:ln>
        </p:spPr>
      </p:sp>
      <p:sp>
        <p:nvSpPr>
          <p:cNvPr id="22" name="Text 20"/>
          <p:cNvSpPr/>
          <p:nvPr/>
        </p:nvSpPr>
        <p:spPr>
          <a:xfrm>
            <a:off x="6400800" y="352044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7</a:t>
            </a:r>
            <a:endParaRPr lang="en-US" sz="2200" dirty="0"/>
          </a:p>
        </p:txBody>
      </p:sp>
      <p:sp>
        <p:nvSpPr>
          <p:cNvPr id="23" name="Text 21"/>
          <p:cNvSpPr/>
          <p:nvPr/>
        </p:nvSpPr>
        <p:spPr>
          <a:xfrm>
            <a:off x="6400800" y="402336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Upload files to an S3 project prefix</a:t>
            </a:r>
            <a:endParaRPr lang="en-US" sz="1400" dirty="0"/>
          </a:p>
        </p:txBody>
      </p:sp>
      <p:sp>
        <p:nvSpPr>
          <p:cNvPr id="24" name="Shape 22"/>
          <p:cNvSpPr/>
          <p:nvPr/>
        </p:nvSpPr>
        <p:spPr>
          <a:xfrm>
            <a:off x="9052560" y="3383280"/>
            <a:ext cx="2606040" cy="1645920"/>
          </a:xfrm>
          <a:prstGeom prst="roundRect">
            <a:avLst>
              <a:gd name="adj" fmla="val 6667"/>
            </a:avLst>
          </a:prstGeom>
          <a:solidFill>
            <a:srgbClr val="13294B"/>
          </a:solidFill>
          <a:ln w="15875">
            <a:solidFill>
              <a:srgbClr val="22D3EE"/>
            </a:solidFill>
            <a:prstDash val="solid"/>
          </a:ln>
        </p:spPr>
      </p:sp>
      <p:sp>
        <p:nvSpPr>
          <p:cNvPr id="25" name="Text 23"/>
          <p:cNvSpPr/>
          <p:nvPr/>
        </p:nvSpPr>
        <p:spPr>
          <a:xfrm>
            <a:off x="9235440" y="3520440"/>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Arial" pitchFamily="34" charset="0"/>
                <a:ea typeface="Arial" pitchFamily="34" charset="-122"/>
                <a:cs typeface="Arial" pitchFamily="34" charset="-120"/>
              </a:rPr>
              <a:t>8</a:t>
            </a:r>
            <a:endParaRPr lang="en-US" sz="2200" dirty="0"/>
          </a:p>
        </p:txBody>
      </p:sp>
      <p:sp>
        <p:nvSpPr>
          <p:cNvPr id="26" name="Text 24"/>
          <p:cNvSpPr/>
          <p:nvPr/>
        </p:nvSpPr>
        <p:spPr>
          <a:xfrm>
            <a:off x="9235440" y="4023360"/>
            <a:ext cx="2286000" cy="91440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Route browser requests to the stored site</a:t>
            </a:r>
            <a:endParaRPr lang="en-US" sz="1400" dirty="0"/>
          </a:p>
        </p:txBody>
      </p:sp>
      <p:sp>
        <p:nvSpPr>
          <p:cNvPr id="27" name="Text 25"/>
          <p:cNvSpPr/>
          <p:nvPr/>
        </p:nvSpPr>
        <p:spPr>
          <a:xfrm>
            <a:off x="548640" y="5715000"/>
            <a:ext cx="11064240" cy="45720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Key technologies:  Docker · Node.js · Express · AWS SDK · ECS · S3</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Deployment infrastructure and live logs</a:t>
            </a:r>
            <a:endParaRPr lang="en-US" sz="3400" dirty="0"/>
          </a:p>
        </p:txBody>
      </p:sp>
      <p:pic>
        <p:nvPicPr>
          <p:cNvPr id="3" name="Image 0" descr="/tmp/claude-0/-home-claude/083e003d-52c2-51ba-b3cc-2bc1943c3d88/scratchpad/nids_deploy_crop.png">    </p:cNvPr>
          <p:cNvPicPr>
            <a:picLocks noChangeAspect="1"/>
          </p:cNvPicPr>
          <p:nvPr/>
        </p:nvPicPr>
        <p:blipFill>
          <a:blip r:embed="rId1"/>
          <a:stretch>
            <a:fillRect/>
          </a:stretch>
        </p:blipFill>
        <p:spPr>
          <a:xfrm>
            <a:off x="548640" y="1188720"/>
            <a:ext cx="11064240" cy="3557016"/>
          </a:xfrm>
          <a:prstGeom prst="rect">
            <a:avLst/>
          </a:prstGeom>
        </p:spPr>
      </p:pic>
      <p:sp>
        <p:nvSpPr>
          <p:cNvPr id="4" name="Shape 1"/>
          <p:cNvSpPr/>
          <p:nvPr/>
        </p:nvSpPr>
        <p:spPr>
          <a:xfrm>
            <a:off x="548640" y="5120640"/>
            <a:ext cx="1737360" cy="1143000"/>
          </a:xfrm>
          <a:prstGeom prst="roundRect">
            <a:avLst>
              <a:gd name="adj" fmla="val 9600"/>
            </a:avLst>
          </a:prstGeom>
          <a:solidFill>
            <a:srgbClr val="13294B"/>
          </a:solidFill>
          <a:ln w="15875">
            <a:solidFill>
              <a:srgbClr val="22D3EE"/>
            </a:solidFill>
            <a:prstDash val="solid"/>
          </a:ln>
        </p:spPr>
      </p:sp>
      <p:sp>
        <p:nvSpPr>
          <p:cNvPr id="5" name="Text 2"/>
          <p:cNvSpPr/>
          <p:nvPr/>
        </p:nvSpPr>
        <p:spPr>
          <a:xfrm>
            <a:off x="64008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ECS Fargate</a:t>
            </a:r>
            <a:endParaRPr lang="en-US" sz="1400" dirty="0"/>
          </a:p>
        </p:txBody>
      </p:sp>
      <p:sp>
        <p:nvSpPr>
          <p:cNvPr id="6" name="Text 3"/>
          <p:cNvSpPr/>
          <p:nvPr/>
        </p:nvSpPr>
        <p:spPr>
          <a:xfrm>
            <a:off x="64008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isolated build tasks</a:t>
            </a:r>
            <a:endParaRPr lang="en-US" sz="1200" dirty="0"/>
          </a:p>
        </p:txBody>
      </p:sp>
      <p:sp>
        <p:nvSpPr>
          <p:cNvPr id="7" name="Shape 4"/>
          <p:cNvSpPr/>
          <p:nvPr/>
        </p:nvSpPr>
        <p:spPr>
          <a:xfrm>
            <a:off x="2423160" y="5120640"/>
            <a:ext cx="1737360" cy="1143000"/>
          </a:xfrm>
          <a:prstGeom prst="roundRect">
            <a:avLst>
              <a:gd name="adj" fmla="val 9600"/>
            </a:avLst>
          </a:prstGeom>
          <a:solidFill>
            <a:srgbClr val="13294B"/>
          </a:solidFill>
          <a:ln w="15875">
            <a:solidFill>
              <a:srgbClr val="22D3EE"/>
            </a:solidFill>
            <a:prstDash val="solid"/>
          </a:ln>
        </p:spPr>
      </p:sp>
      <p:sp>
        <p:nvSpPr>
          <p:cNvPr id="8" name="Text 5"/>
          <p:cNvSpPr/>
          <p:nvPr/>
        </p:nvSpPr>
        <p:spPr>
          <a:xfrm>
            <a:off x="251460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Docker</a:t>
            </a:r>
            <a:endParaRPr lang="en-US" sz="1400" dirty="0"/>
          </a:p>
        </p:txBody>
      </p:sp>
      <p:sp>
        <p:nvSpPr>
          <p:cNvPr id="9" name="Text 6"/>
          <p:cNvSpPr/>
          <p:nvPr/>
        </p:nvSpPr>
        <p:spPr>
          <a:xfrm>
            <a:off x="251460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build environment</a:t>
            </a:r>
            <a:endParaRPr lang="en-US" sz="1200" dirty="0"/>
          </a:p>
        </p:txBody>
      </p:sp>
      <p:sp>
        <p:nvSpPr>
          <p:cNvPr id="10" name="Shape 7"/>
          <p:cNvSpPr/>
          <p:nvPr/>
        </p:nvSpPr>
        <p:spPr>
          <a:xfrm>
            <a:off x="4297680" y="5120640"/>
            <a:ext cx="1737360" cy="1143000"/>
          </a:xfrm>
          <a:prstGeom prst="roundRect">
            <a:avLst>
              <a:gd name="adj" fmla="val 9600"/>
            </a:avLst>
          </a:prstGeom>
          <a:solidFill>
            <a:srgbClr val="13294B"/>
          </a:solidFill>
          <a:ln w="15875">
            <a:solidFill>
              <a:srgbClr val="22D3EE"/>
            </a:solidFill>
            <a:prstDash val="solid"/>
          </a:ln>
        </p:spPr>
      </p:sp>
      <p:sp>
        <p:nvSpPr>
          <p:cNvPr id="11" name="Text 8"/>
          <p:cNvSpPr/>
          <p:nvPr/>
        </p:nvSpPr>
        <p:spPr>
          <a:xfrm>
            <a:off x="438912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Amazon S3</a:t>
            </a:r>
            <a:endParaRPr lang="en-US" sz="1400" dirty="0"/>
          </a:p>
        </p:txBody>
      </p:sp>
      <p:sp>
        <p:nvSpPr>
          <p:cNvPr id="12" name="Text 9"/>
          <p:cNvSpPr/>
          <p:nvPr/>
        </p:nvSpPr>
        <p:spPr>
          <a:xfrm>
            <a:off x="438912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generated site files</a:t>
            </a:r>
            <a:endParaRPr lang="en-US" sz="1200" dirty="0"/>
          </a:p>
        </p:txBody>
      </p:sp>
      <p:sp>
        <p:nvSpPr>
          <p:cNvPr id="13" name="Shape 10"/>
          <p:cNvSpPr/>
          <p:nvPr/>
        </p:nvSpPr>
        <p:spPr>
          <a:xfrm>
            <a:off x="6172200" y="5120640"/>
            <a:ext cx="1737360" cy="1143000"/>
          </a:xfrm>
          <a:prstGeom prst="roundRect">
            <a:avLst>
              <a:gd name="adj" fmla="val 9600"/>
            </a:avLst>
          </a:prstGeom>
          <a:solidFill>
            <a:srgbClr val="13294B"/>
          </a:solidFill>
          <a:ln w="15875">
            <a:solidFill>
              <a:srgbClr val="22D3EE"/>
            </a:solidFill>
            <a:prstDash val="solid"/>
          </a:ln>
        </p:spPr>
      </p:sp>
      <p:sp>
        <p:nvSpPr>
          <p:cNvPr id="14" name="Text 11"/>
          <p:cNvSpPr/>
          <p:nvPr/>
        </p:nvSpPr>
        <p:spPr>
          <a:xfrm>
            <a:off x="626364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Redis Pub/Sub</a:t>
            </a:r>
            <a:endParaRPr lang="en-US" sz="1400" dirty="0"/>
          </a:p>
        </p:txBody>
      </p:sp>
      <p:sp>
        <p:nvSpPr>
          <p:cNvPr id="15" name="Text 12"/>
          <p:cNvSpPr/>
          <p:nvPr/>
        </p:nvSpPr>
        <p:spPr>
          <a:xfrm>
            <a:off x="626364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log transport</a:t>
            </a:r>
            <a:endParaRPr lang="en-US" sz="1200" dirty="0"/>
          </a:p>
        </p:txBody>
      </p:sp>
      <p:sp>
        <p:nvSpPr>
          <p:cNvPr id="16" name="Shape 13"/>
          <p:cNvSpPr/>
          <p:nvPr/>
        </p:nvSpPr>
        <p:spPr>
          <a:xfrm>
            <a:off x="8046720" y="5120640"/>
            <a:ext cx="1737360" cy="1143000"/>
          </a:xfrm>
          <a:prstGeom prst="roundRect">
            <a:avLst>
              <a:gd name="adj" fmla="val 9600"/>
            </a:avLst>
          </a:prstGeom>
          <a:solidFill>
            <a:srgbClr val="13294B"/>
          </a:solidFill>
          <a:ln w="15875">
            <a:solidFill>
              <a:srgbClr val="22D3EE"/>
            </a:solidFill>
            <a:prstDash val="solid"/>
          </a:ln>
        </p:spPr>
      </p:sp>
      <p:sp>
        <p:nvSpPr>
          <p:cNvPr id="17" name="Text 14"/>
          <p:cNvSpPr/>
          <p:nvPr/>
        </p:nvSpPr>
        <p:spPr>
          <a:xfrm>
            <a:off x="813816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Socket.IO</a:t>
            </a:r>
            <a:endParaRPr lang="en-US" sz="1400" dirty="0"/>
          </a:p>
        </p:txBody>
      </p:sp>
      <p:sp>
        <p:nvSpPr>
          <p:cNvPr id="18" name="Text 15"/>
          <p:cNvSpPr/>
          <p:nvPr/>
        </p:nvSpPr>
        <p:spPr>
          <a:xfrm>
            <a:off x="813816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live log delivery</a:t>
            </a:r>
            <a:endParaRPr lang="en-US" sz="1200" dirty="0"/>
          </a:p>
        </p:txBody>
      </p:sp>
      <p:sp>
        <p:nvSpPr>
          <p:cNvPr id="19" name="Shape 16"/>
          <p:cNvSpPr/>
          <p:nvPr/>
        </p:nvSpPr>
        <p:spPr>
          <a:xfrm>
            <a:off x="9921240" y="5120640"/>
            <a:ext cx="1737360" cy="1143000"/>
          </a:xfrm>
          <a:prstGeom prst="roundRect">
            <a:avLst>
              <a:gd name="adj" fmla="val 9600"/>
            </a:avLst>
          </a:prstGeom>
          <a:solidFill>
            <a:srgbClr val="13294B"/>
          </a:solidFill>
          <a:ln w="15875">
            <a:solidFill>
              <a:srgbClr val="22D3EE"/>
            </a:solidFill>
            <a:prstDash val="solid"/>
          </a:ln>
        </p:spPr>
      </p:sp>
      <p:sp>
        <p:nvSpPr>
          <p:cNvPr id="20" name="Text 17"/>
          <p:cNvSpPr/>
          <p:nvPr/>
        </p:nvSpPr>
        <p:spPr>
          <a:xfrm>
            <a:off x="10012680" y="5193792"/>
            <a:ext cx="1554480" cy="457200"/>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Reverse proxy</a:t>
            </a:r>
            <a:endParaRPr lang="en-US" sz="1400" dirty="0"/>
          </a:p>
        </p:txBody>
      </p:sp>
      <p:sp>
        <p:nvSpPr>
          <p:cNvPr id="21" name="Text 18"/>
          <p:cNvSpPr/>
          <p:nvPr/>
        </p:nvSpPr>
        <p:spPr>
          <a:xfrm>
            <a:off x="10012680" y="5623560"/>
            <a:ext cx="1554480" cy="548640"/>
          </a:xfrm>
          <a:prstGeom prst="rect">
            <a:avLst/>
          </a:prstGeom>
          <a:noFill/>
          <a:ln/>
        </p:spPr>
        <p:txBody>
          <a:bodyPr wrap="square" lIns="0" tIns="0" rIns="0" bIns="0" rtlCol="0" anchor="t"/>
          <a:lstStyle/>
          <a:p>
            <a:pPr algn="ctr" indent="0" marL="0">
              <a:buNone/>
            </a:pPr>
            <a:r>
              <a:rPr lang="en-US" sz="1200" dirty="0">
                <a:solidFill>
                  <a:srgbClr val="E6F1FF"/>
                </a:solidFill>
                <a:latin typeface="Arial" pitchFamily="34" charset="0"/>
                <a:ea typeface="Arial" pitchFamily="34" charset="-122"/>
                <a:cs typeface="Arial" pitchFamily="34" charset="-120"/>
              </a:rPr>
              <a:t>routes to projects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Why runtime security is needed</a:t>
            </a:r>
            <a:endParaRPr lang="en-US" sz="3400" dirty="0"/>
          </a:p>
        </p:txBody>
      </p:sp>
      <p:sp>
        <p:nvSpPr>
          <p:cNvPr id="3" name="Text 1"/>
          <p:cNvSpPr/>
          <p:nvPr/>
        </p:nvSpPr>
        <p:spPr>
          <a:xfrm>
            <a:off x="548640" y="1371600"/>
            <a:ext cx="5669280" cy="1188720"/>
          </a:xfrm>
          <a:prstGeom prst="rect">
            <a:avLst/>
          </a:prstGeom>
          <a:noFill/>
          <a:ln/>
        </p:spPr>
        <p:txBody>
          <a:bodyPr wrap="square" lIns="0" tIns="0" rIns="0" bIns="0" rtlCol="0" anchor="ctr"/>
          <a:lstStyle/>
          <a:p>
            <a:pPr indent="0" marL="0">
              <a:buNone/>
            </a:pPr>
            <a:r>
              <a:rPr lang="en-US" sz="2200" dirty="0">
                <a:solidFill>
                  <a:srgbClr val="E6F1FF"/>
                </a:solidFill>
                <a:latin typeface="Arial" pitchFamily="34" charset="0"/>
                <a:ea typeface="Arial" pitchFamily="34" charset="-122"/>
                <a:cs typeface="Arial" pitchFamily="34" charset="-120"/>
              </a:rPr>
              <a:t>Deploying is only the first step. The site must be watched after it goes live.</a:t>
            </a:r>
            <a:endParaRPr lang="en-US" sz="2200" dirty="0"/>
          </a:p>
        </p:txBody>
      </p:sp>
      <p:sp>
        <p:nvSpPr>
          <p:cNvPr id="4" name="Text 2"/>
          <p:cNvSpPr/>
          <p:nvPr/>
        </p:nvSpPr>
        <p:spPr>
          <a:xfrm>
            <a:off x="548640" y="2834640"/>
            <a:ext cx="5669280" cy="1463040"/>
          </a:xfrm>
          <a:prstGeom prst="rect">
            <a:avLst/>
          </a:prstGeom>
          <a:noFill/>
          <a:ln/>
        </p:spPr>
        <p:txBody>
          <a:bodyPr wrap="square" lIns="0" tIns="0" rIns="0" bIns="0" rtlCol="0" anchor="ctr"/>
          <a:lstStyle/>
          <a:p>
            <a:pPr indent="0" marL="0">
              <a:buNone/>
            </a:pPr>
            <a:r>
              <a:rPr lang="en-US" sz="1700" dirty="0">
                <a:solidFill>
                  <a:srgbClr val="94A3B8"/>
                </a:solidFill>
                <a:latin typeface="Arial" pitchFamily="34" charset="0"/>
                <a:ea typeface="Arial" pitchFamily="34" charset="-122"/>
                <a:cs typeface="Arial" pitchFamily="34" charset="-120"/>
              </a:rPr>
              <a:t>A request-level monitoring layer sits in front of every deployed site. It observes traffic, applies configurable rules, and records what it sees.</a:t>
            </a:r>
            <a:endParaRPr lang="en-US" sz="1700" dirty="0"/>
          </a:p>
        </p:txBody>
      </p:sp>
      <p:sp>
        <p:nvSpPr>
          <p:cNvPr id="5" name="Shape 3"/>
          <p:cNvSpPr/>
          <p:nvPr/>
        </p:nvSpPr>
        <p:spPr>
          <a:xfrm>
            <a:off x="7315200" y="1463040"/>
            <a:ext cx="4114800" cy="914400"/>
          </a:xfrm>
          <a:prstGeom prst="roundRect">
            <a:avLst>
              <a:gd name="adj" fmla="val 12000"/>
            </a:avLst>
          </a:prstGeom>
          <a:solidFill>
            <a:srgbClr val="13294B"/>
          </a:solidFill>
          <a:ln w="15875">
            <a:solidFill>
              <a:srgbClr val="22D3EE"/>
            </a:solidFill>
            <a:prstDash val="solid"/>
          </a:ln>
        </p:spPr>
      </p:sp>
      <p:sp>
        <p:nvSpPr>
          <p:cNvPr id="6" name="Text 4"/>
          <p:cNvSpPr/>
          <p:nvPr/>
        </p:nvSpPr>
        <p:spPr>
          <a:xfrm>
            <a:off x="7315200" y="1463040"/>
            <a:ext cx="4114800" cy="914400"/>
          </a:xfrm>
          <a:prstGeom prst="rect">
            <a:avLst/>
          </a:prstGeom>
          <a:noFill/>
          <a:ln/>
        </p:spPr>
        <p:txBody>
          <a:bodyPr wrap="square" lIns="0" tIns="0" rIns="0" bIns="0" rtlCol="0" anchor="ctr"/>
          <a:lstStyle/>
          <a:p>
            <a:pPr algn="ctr" indent="0" marL="0">
              <a:buNone/>
            </a:pPr>
            <a:r>
              <a:rPr lang="en-US" sz="2000" b="1" dirty="0">
                <a:solidFill>
                  <a:srgbClr val="E6F1FF"/>
                </a:solidFill>
                <a:latin typeface="Arial" pitchFamily="34" charset="0"/>
                <a:ea typeface="Arial" pitchFamily="34" charset="-122"/>
                <a:cs typeface="Arial" pitchFamily="34" charset="-120"/>
              </a:rPr>
              <a:t>Visitor</a:t>
            </a:r>
            <a:endParaRPr lang="en-US" sz="2000" dirty="0"/>
          </a:p>
        </p:txBody>
      </p:sp>
      <p:sp>
        <p:nvSpPr>
          <p:cNvPr id="7" name="Shape 5"/>
          <p:cNvSpPr/>
          <p:nvPr/>
        </p:nvSpPr>
        <p:spPr>
          <a:xfrm>
            <a:off x="9372600" y="2377440"/>
            <a:ext cx="0" cy="640080"/>
          </a:xfrm>
          <a:prstGeom prst="line">
            <a:avLst/>
          </a:prstGeom>
          <a:noFill/>
          <a:ln w="25400">
            <a:solidFill>
              <a:srgbClr val="22D3EE"/>
            </a:solidFill>
            <a:prstDash val="solid"/>
            <a:tailEnd type="triangle"/>
          </a:ln>
        </p:spPr>
      </p:sp>
      <p:sp>
        <p:nvSpPr>
          <p:cNvPr id="8" name="Shape 6"/>
          <p:cNvSpPr/>
          <p:nvPr/>
        </p:nvSpPr>
        <p:spPr>
          <a:xfrm>
            <a:off x="7315200" y="3017520"/>
            <a:ext cx="4114800" cy="914400"/>
          </a:xfrm>
          <a:prstGeom prst="roundRect">
            <a:avLst>
              <a:gd name="adj" fmla="val 12000"/>
            </a:avLst>
          </a:prstGeom>
          <a:solidFill>
            <a:srgbClr val="13294B"/>
          </a:solidFill>
          <a:ln w="15875">
            <a:solidFill>
              <a:srgbClr val="8B5CF6"/>
            </a:solidFill>
            <a:prstDash val="solid"/>
          </a:ln>
        </p:spPr>
      </p:sp>
      <p:sp>
        <p:nvSpPr>
          <p:cNvPr id="9" name="Text 7"/>
          <p:cNvSpPr/>
          <p:nvPr/>
        </p:nvSpPr>
        <p:spPr>
          <a:xfrm>
            <a:off x="7315200" y="3017520"/>
            <a:ext cx="4114800" cy="914400"/>
          </a:xfrm>
          <a:prstGeom prst="rect">
            <a:avLst/>
          </a:prstGeom>
          <a:noFill/>
          <a:ln/>
        </p:spPr>
        <p:txBody>
          <a:bodyPr wrap="square" lIns="0" tIns="0" rIns="0" bIns="0" rtlCol="0" anchor="ctr"/>
          <a:lstStyle/>
          <a:p>
            <a:pPr algn="ctr" indent="0" marL="0">
              <a:buNone/>
            </a:pPr>
            <a:r>
              <a:rPr lang="en-US" sz="2000" b="1" dirty="0">
                <a:solidFill>
                  <a:srgbClr val="E6F1FF"/>
                </a:solidFill>
                <a:latin typeface="Arial" pitchFamily="34" charset="0"/>
                <a:ea typeface="Arial" pitchFamily="34" charset="-122"/>
                <a:cs typeface="Arial" pitchFamily="34" charset="-120"/>
              </a:rPr>
              <a:t>Security proxy</a:t>
            </a:r>
            <a:endParaRPr lang="en-US" sz="2000" dirty="0"/>
          </a:p>
        </p:txBody>
      </p:sp>
      <p:sp>
        <p:nvSpPr>
          <p:cNvPr id="10" name="Shape 8"/>
          <p:cNvSpPr/>
          <p:nvPr/>
        </p:nvSpPr>
        <p:spPr>
          <a:xfrm>
            <a:off x="9372600" y="3931920"/>
            <a:ext cx="0" cy="640080"/>
          </a:xfrm>
          <a:prstGeom prst="line">
            <a:avLst/>
          </a:prstGeom>
          <a:noFill/>
          <a:ln w="25400">
            <a:solidFill>
              <a:srgbClr val="22D3EE"/>
            </a:solidFill>
            <a:prstDash val="solid"/>
            <a:tailEnd type="triangle"/>
          </a:ln>
        </p:spPr>
      </p:sp>
      <p:sp>
        <p:nvSpPr>
          <p:cNvPr id="11" name="Shape 9"/>
          <p:cNvSpPr/>
          <p:nvPr/>
        </p:nvSpPr>
        <p:spPr>
          <a:xfrm>
            <a:off x="7315200" y="4572000"/>
            <a:ext cx="4114800" cy="914400"/>
          </a:xfrm>
          <a:prstGeom prst="roundRect">
            <a:avLst>
              <a:gd name="adj" fmla="val 12000"/>
            </a:avLst>
          </a:prstGeom>
          <a:solidFill>
            <a:srgbClr val="13294B"/>
          </a:solidFill>
          <a:ln w="15875">
            <a:solidFill>
              <a:srgbClr val="22D3EE"/>
            </a:solidFill>
            <a:prstDash val="solid"/>
          </a:ln>
        </p:spPr>
      </p:sp>
      <p:sp>
        <p:nvSpPr>
          <p:cNvPr id="12" name="Text 10"/>
          <p:cNvSpPr/>
          <p:nvPr/>
        </p:nvSpPr>
        <p:spPr>
          <a:xfrm>
            <a:off x="7315200" y="4572000"/>
            <a:ext cx="4114800" cy="914400"/>
          </a:xfrm>
          <a:prstGeom prst="rect">
            <a:avLst/>
          </a:prstGeom>
          <a:noFill/>
          <a:ln/>
        </p:spPr>
        <p:txBody>
          <a:bodyPr wrap="square" lIns="0" tIns="0" rIns="0" bIns="0" rtlCol="0" anchor="ctr"/>
          <a:lstStyle/>
          <a:p>
            <a:pPr algn="ctr" indent="0" marL="0">
              <a:buNone/>
            </a:pPr>
            <a:r>
              <a:rPr lang="en-US" sz="2000" b="1" dirty="0">
                <a:solidFill>
                  <a:srgbClr val="E6F1FF"/>
                </a:solidFill>
                <a:latin typeface="Arial" pitchFamily="34" charset="0"/>
                <a:ea typeface="Arial" pitchFamily="34" charset="-122"/>
                <a:cs typeface="Arial" pitchFamily="34" charset="-120"/>
              </a:rPr>
              <a:t>Deployed site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Rule-based attack detection</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023360"/>
                <a:gridCol w="4663440"/>
              </a:tblGrid>
              <a:tr h="457200">
                <a:tc>
                  <a:txBody>
                    <a:bodyPr/>
                    <a:lstStyle/>
                    <a:p>
                      <a:pPr indent="0" marL="0">
                        <a:buNone/>
                      </a:pPr>
                      <a:r>
                        <a:rPr lang="en-US" sz="1400" b="1" dirty="0">
                          <a:solidFill>
                            <a:srgbClr val="22D3EE"/>
                          </a:solidFill>
                          <a:latin typeface="Arial" pitchFamily="34" charset="0"/>
                          <a:ea typeface="Arial" pitchFamily="34" charset="-122"/>
                          <a:cs typeface="Arial" pitchFamily="34" charset="-120"/>
                        </a:rPr>
                        <a:t>Detector</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Signal</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Default setting</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HTTP flood</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Requests per source IP</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100 requests per 10 s window</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Path scanning</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Unique paths and 404 ratio</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30 unique paths, 60% 404s, 10 s window</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Brute force</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Failed demo-login attempts</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10 failures within 60 s</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indent="0" marL="0">
                        <a:buNone/>
                      </a:pPr>
                      <a:r>
                        <a:rPr lang="en-US" sz="1400" dirty="0">
                          <a:solidFill>
                            <a:srgbClr val="E6F1FF"/>
                          </a:solidFill>
                          <a:latin typeface="Arial" pitchFamily="34" charset="0"/>
                          <a:ea typeface="Arial" pitchFamily="34" charset="-122"/>
                          <a:cs typeface="Arial" pitchFamily="34" charset="-120"/>
                        </a:rPr>
                        <a:t>Replay protection</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Signed webhook: timestamp and nonce</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dirty="0">
                          <a:solidFill>
                            <a:srgbClr val="E6F1FF"/>
                          </a:solidFill>
                          <a:latin typeface="Arial" pitchFamily="34" charset="0"/>
                          <a:ea typeface="Arial" pitchFamily="34" charset="-122"/>
                          <a:cs typeface="Arial" pitchFamily="34" charset="-120"/>
                        </a:rPr>
                        <a:t>300 s tolerance, nonce reuse rejected</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4" name="Shape 1"/>
          <p:cNvSpPr/>
          <p:nvPr/>
        </p:nvSpPr>
        <p:spPr>
          <a:xfrm>
            <a:off x="548640" y="4480560"/>
            <a:ext cx="1371600" cy="822960"/>
          </a:xfrm>
          <a:prstGeom prst="roundRect">
            <a:avLst>
              <a:gd name="adj" fmla="val 13333"/>
            </a:avLst>
          </a:prstGeom>
          <a:solidFill>
            <a:srgbClr val="13294B"/>
          </a:solidFill>
          <a:ln w="15875">
            <a:solidFill>
              <a:srgbClr val="22D3EE"/>
            </a:solidFill>
            <a:prstDash val="solid"/>
          </a:ln>
        </p:spPr>
      </p:sp>
      <p:sp>
        <p:nvSpPr>
          <p:cNvPr id="5" name="Text 2"/>
          <p:cNvSpPr/>
          <p:nvPr/>
        </p:nvSpPr>
        <p:spPr>
          <a:xfrm>
            <a:off x="548640"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Request</a:t>
            </a:r>
            <a:endParaRPr lang="en-US" sz="1200" dirty="0"/>
          </a:p>
        </p:txBody>
      </p:sp>
      <p:sp>
        <p:nvSpPr>
          <p:cNvPr id="6" name="Shape 3"/>
          <p:cNvSpPr/>
          <p:nvPr/>
        </p:nvSpPr>
        <p:spPr>
          <a:xfrm>
            <a:off x="1920240" y="4892040"/>
            <a:ext cx="256032" cy="0"/>
          </a:xfrm>
          <a:prstGeom prst="line">
            <a:avLst/>
          </a:prstGeom>
          <a:noFill/>
          <a:ln w="25400">
            <a:solidFill>
              <a:srgbClr val="22D3EE"/>
            </a:solidFill>
            <a:prstDash val="solid"/>
            <a:tailEnd type="triangle"/>
          </a:ln>
        </p:spPr>
      </p:sp>
      <p:sp>
        <p:nvSpPr>
          <p:cNvPr id="7" name="Shape 4"/>
          <p:cNvSpPr/>
          <p:nvPr/>
        </p:nvSpPr>
        <p:spPr>
          <a:xfrm>
            <a:off x="2176272" y="4480560"/>
            <a:ext cx="1371600" cy="822960"/>
          </a:xfrm>
          <a:prstGeom prst="roundRect">
            <a:avLst>
              <a:gd name="adj" fmla="val 13333"/>
            </a:avLst>
          </a:prstGeom>
          <a:solidFill>
            <a:srgbClr val="13294B"/>
          </a:solidFill>
          <a:ln w="15875">
            <a:solidFill>
              <a:srgbClr val="22D3EE"/>
            </a:solidFill>
            <a:prstDash val="solid"/>
          </a:ln>
        </p:spPr>
      </p:sp>
      <p:sp>
        <p:nvSpPr>
          <p:cNvPr id="8" name="Text 5"/>
          <p:cNvSpPr/>
          <p:nvPr/>
        </p:nvSpPr>
        <p:spPr>
          <a:xfrm>
            <a:off x="2176272"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Rate-limit check</a:t>
            </a:r>
            <a:endParaRPr lang="en-US" sz="1200" dirty="0"/>
          </a:p>
        </p:txBody>
      </p:sp>
      <p:sp>
        <p:nvSpPr>
          <p:cNvPr id="9" name="Shape 6"/>
          <p:cNvSpPr/>
          <p:nvPr/>
        </p:nvSpPr>
        <p:spPr>
          <a:xfrm>
            <a:off x="3547872" y="4892040"/>
            <a:ext cx="256032" cy="0"/>
          </a:xfrm>
          <a:prstGeom prst="line">
            <a:avLst/>
          </a:prstGeom>
          <a:noFill/>
          <a:ln w="25400">
            <a:solidFill>
              <a:srgbClr val="22D3EE"/>
            </a:solidFill>
            <a:prstDash val="solid"/>
            <a:tailEnd type="triangle"/>
          </a:ln>
        </p:spPr>
      </p:sp>
      <p:sp>
        <p:nvSpPr>
          <p:cNvPr id="10" name="Shape 7"/>
          <p:cNvSpPr/>
          <p:nvPr/>
        </p:nvSpPr>
        <p:spPr>
          <a:xfrm>
            <a:off x="3803904" y="4480560"/>
            <a:ext cx="1371600" cy="822960"/>
          </a:xfrm>
          <a:prstGeom prst="roundRect">
            <a:avLst>
              <a:gd name="adj" fmla="val 13333"/>
            </a:avLst>
          </a:prstGeom>
          <a:solidFill>
            <a:srgbClr val="13294B"/>
          </a:solidFill>
          <a:ln w="15875">
            <a:solidFill>
              <a:srgbClr val="22D3EE"/>
            </a:solidFill>
            <a:prstDash val="solid"/>
          </a:ln>
        </p:spPr>
      </p:sp>
      <p:sp>
        <p:nvSpPr>
          <p:cNvPr id="11" name="Text 8"/>
          <p:cNvSpPr/>
          <p:nvPr/>
        </p:nvSpPr>
        <p:spPr>
          <a:xfrm>
            <a:off x="3803904"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Observe</a:t>
            </a:r>
            <a:endParaRPr lang="en-US" sz="1200" dirty="0"/>
          </a:p>
        </p:txBody>
      </p:sp>
      <p:sp>
        <p:nvSpPr>
          <p:cNvPr id="12" name="Shape 9"/>
          <p:cNvSpPr/>
          <p:nvPr/>
        </p:nvSpPr>
        <p:spPr>
          <a:xfrm>
            <a:off x="5175504" y="4892040"/>
            <a:ext cx="256032" cy="0"/>
          </a:xfrm>
          <a:prstGeom prst="line">
            <a:avLst/>
          </a:prstGeom>
          <a:noFill/>
          <a:ln w="25400">
            <a:solidFill>
              <a:srgbClr val="22D3EE"/>
            </a:solidFill>
            <a:prstDash val="solid"/>
            <a:tailEnd type="triangle"/>
          </a:ln>
        </p:spPr>
      </p:sp>
      <p:sp>
        <p:nvSpPr>
          <p:cNvPr id="13" name="Shape 10"/>
          <p:cNvSpPr/>
          <p:nvPr/>
        </p:nvSpPr>
        <p:spPr>
          <a:xfrm>
            <a:off x="5431536" y="4480560"/>
            <a:ext cx="1371600" cy="822960"/>
          </a:xfrm>
          <a:prstGeom prst="roundRect">
            <a:avLst>
              <a:gd name="adj" fmla="val 13333"/>
            </a:avLst>
          </a:prstGeom>
          <a:solidFill>
            <a:srgbClr val="13294B"/>
          </a:solidFill>
          <a:ln w="15875">
            <a:solidFill>
              <a:srgbClr val="22D3EE"/>
            </a:solidFill>
            <a:prstDash val="solid"/>
          </a:ln>
        </p:spPr>
      </p:sp>
      <p:sp>
        <p:nvSpPr>
          <p:cNvPr id="14" name="Text 11"/>
          <p:cNvSpPr/>
          <p:nvPr/>
        </p:nvSpPr>
        <p:spPr>
          <a:xfrm>
            <a:off x="5431536"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Rule evaluation</a:t>
            </a:r>
            <a:endParaRPr lang="en-US" sz="1200" dirty="0"/>
          </a:p>
        </p:txBody>
      </p:sp>
      <p:sp>
        <p:nvSpPr>
          <p:cNvPr id="15" name="Shape 12"/>
          <p:cNvSpPr/>
          <p:nvPr/>
        </p:nvSpPr>
        <p:spPr>
          <a:xfrm>
            <a:off x="6803136" y="4892040"/>
            <a:ext cx="256032" cy="0"/>
          </a:xfrm>
          <a:prstGeom prst="line">
            <a:avLst/>
          </a:prstGeom>
          <a:noFill/>
          <a:ln w="25400">
            <a:solidFill>
              <a:srgbClr val="22D3EE"/>
            </a:solidFill>
            <a:prstDash val="solid"/>
            <a:tailEnd type="triangle"/>
          </a:ln>
        </p:spPr>
      </p:sp>
      <p:sp>
        <p:nvSpPr>
          <p:cNvPr id="16" name="Shape 13"/>
          <p:cNvSpPr/>
          <p:nvPr/>
        </p:nvSpPr>
        <p:spPr>
          <a:xfrm>
            <a:off x="7059168" y="4480560"/>
            <a:ext cx="1371600" cy="822960"/>
          </a:xfrm>
          <a:prstGeom prst="roundRect">
            <a:avLst>
              <a:gd name="adj" fmla="val 13333"/>
            </a:avLst>
          </a:prstGeom>
          <a:solidFill>
            <a:srgbClr val="13294B"/>
          </a:solidFill>
          <a:ln w="15875">
            <a:solidFill>
              <a:srgbClr val="22D3EE"/>
            </a:solidFill>
            <a:prstDash val="solid"/>
          </a:ln>
        </p:spPr>
      </p:sp>
      <p:sp>
        <p:nvSpPr>
          <p:cNvPr id="17" name="Text 14"/>
          <p:cNvSpPr/>
          <p:nvPr/>
        </p:nvSpPr>
        <p:spPr>
          <a:xfrm>
            <a:off x="7059168"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Incident</a:t>
            </a:r>
            <a:endParaRPr lang="en-US" sz="1200" dirty="0"/>
          </a:p>
        </p:txBody>
      </p:sp>
      <p:sp>
        <p:nvSpPr>
          <p:cNvPr id="18" name="Shape 15"/>
          <p:cNvSpPr/>
          <p:nvPr/>
        </p:nvSpPr>
        <p:spPr>
          <a:xfrm>
            <a:off x="8430768" y="4892040"/>
            <a:ext cx="256032" cy="0"/>
          </a:xfrm>
          <a:prstGeom prst="line">
            <a:avLst/>
          </a:prstGeom>
          <a:noFill/>
          <a:ln w="25400">
            <a:solidFill>
              <a:srgbClr val="22D3EE"/>
            </a:solidFill>
            <a:prstDash val="solid"/>
            <a:tailEnd type="triangle"/>
          </a:ln>
        </p:spPr>
      </p:sp>
      <p:sp>
        <p:nvSpPr>
          <p:cNvPr id="19" name="Shape 16"/>
          <p:cNvSpPr/>
          <p:nvPr/>
        </p:nvSpPr>
        <p:spPr>
          <a:xfrm>
            <a:off x="8686800" y="4480560"/>
            <a:ext cx="1371600" cy="822960"/>
          </a:xfrm>
          <a:prstGeom prst="roundRect">
            <a:avLst>
              <a:gd name="adj" fmla="val 13333"/>
            </a:avLst>
          </a:prstGeom>
          <a:solidFill>
            <a:srgbClr val="13294B"/>
          </a:solidFill>
          <a:ln w="15875">
            <a:solidFill>
              <a:srgbClr val="22D3EE"/>
            </a:solidFill>
            <a:prstDash val="solid"/>
          </a:ln>
        </p:spPr>
      </p:sp>
      <p:sp>
        <p:nvSpPr>
          <p:cNvPr id="20" name="Text 17"/>
          <p:cNvSpPr/>
          <p:nvPr/>
        </p:nvSpPr>
        <p:spPr>
          <a:xfrm>
            <a:off x="8686800"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Redis</a:t>
            </a:r>
            <a:endParaRPr lang="en-US" sz="1200" dirty="0"/>
          </a:p>
        </p:txBody>
      </p:sp>
      <p:sp>
        <p:nvSpPr>
          <p:cNvPr id="21" name="Shape 18"/>
          <p:cNvSpPr/>
          <p:nvPr/>
        </p:nvSpPr>
        <p:spPr>
          <a:xfrm>
            <a:off x="10058400" y="4892040"/>
            <a:ext cx="256032" cy="0"/>
          </a:xfrm>
          <a:prstGeom prst="line">
            <a:avLst/>
          </a:prstGeom>
          <a:noFill/>
          <a:ln w="25400">
            <a:solidFill>
              <a:srgbClr val="22D3EE"/>
            </a:solidFill>
            <a:prstDash val="solid"/>
            <a:tailEnd type="triangle"/>
          </a:ln>
        </p:spPr>
      </p:sp>
      <p:sp>
        <p:nvSpPr>
          <p:cNvPr id="22" name="Shape 19"/>
          <p:cNvSpPr/>
          <p:nvPr/>
        </p:nvSpPr>
        <p:spPr>
          <a:xfrm>
            <a:off x="10314432" y="4480560"/>
            <a:ext cx="1371600" cy="822960"/>
          </a:xfrm>
          <a:prstGeom prst="roundRect">
            <a:avLst>
              <a:gd name="adj" fmla="val 13333"/>
            </a:avLst>
          </a:prstGeom>
          <a:solidFill>
            <a:srgbClr val="13294B"/>
          </a:solidFill>
          <a:ln w="15875">
            <a:solidFill>
              <a:srgbClr val="22D3EE"/>
            </a:solidFill>
            <a:prstDash val="solid"/>
          </a:ln>
        </p:spPr>
      </p:sp>
      <p:sp>
        <p:nvSpPr>
          <p:cNvPr id="23" name="Text 20"/>
          <p:cNvSpPr/>
          <p:nvPr/>
        </p:nvSpPr>
        <p:spPr>
          <a:xfrm>
            <a:off x="10314432" y="448056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E6F1FF"/>
                </a:solidFill>
                <a:latin typeface="Arial" pitchFamily="34" charset="0"/>
                <a:ea typeface="Arial" pitchFamily="34" charset="-122"/>
                <a:cs typeface="Arial" pitchFamily="34" charset="-120"/>
              </a:rPr>
              <a:t>Dashboard</a:t>
            </a:r>
            <a:endParaRPr lang="en-US" sz="1200" dirty="0"/>
          </a:p>
        </p:txBody>
      </p:sp>
      <p:sp>
        <p:nvSpPr>
          <p:cNvPr id="24" name="Text 21"/>
          <p:cNvSpPr/>
          <p:nvPr/>
        </p:nvSpPr>
        <p:spPr>
          <a:xfrm>
            <a:off x="548640" y="5669280"/>
            <a:ext cx="11064240" cy="45720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Replay protection checks signed webhooks only. It is not a general detector for every kind of replay.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Hybrid log analysis: rules and machine learning</a:t>
            </a:r>
            <a:endParaRPr lang="en-US" sz="3400" dirty="0"/>
          </a:p>
        </p:txBody>
      </p:sp>
      <p:sp>
        <p:nvSpPr>
          <p:cNvPr id="3" name="Text 1"/>
          <p:cNvSpPr/>
          <p:nvPr/>
        </p:nvSpPr>
        <p:spPr>
          <a:xfrm>
            <a:off x="548640" y="45720"/>
            <a:ext cx="5486400"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HYBRID LOG ANALYSIS</a:t>
            </a:r>
            <a:endParaRPr lang="en-US" sz="1200" dirty="0"/>
          </a:p>
        </p:txBody>
      </p:sp>
      <p:sp>
        <p:nvSpPr>
          <p:cNvPr id="4" name="Text 2"/>
          <p:cNvSpPr/>
          <p:nvPr/>
        </p:nvSpPr>
        <p:spPr>
          <a:xfrm>
            <a:off x="548640" y="1143000"/>
            <a:ext cx="11064240" cy="640080"/>
          </a:xfrm>
          <a:prstGeom prst="rect">
            <a:avLst/>
          </a:prstGeom>
          <a:noFill/>
          <a:ln/>
        </p:spPr>
        <p:txBody>
          <a:bodyPr wrap="square" lIns="0" tIns="0" rIns="0" bIns="0" rtlCol="0" anchor="ctr"/>
          <a:lstStyle/>
          <a:p>
            <a:pPr indent="0" marL="0">
              <a:buNone/>
            </a:pPr>
            <a:r>
              <a:rPr lang="en-US" sz="1700" dirty="0">
                <a:solidFill>
                  <a:srgbClr val="94A3B8"/>
                </a:solidFill>
                <a:latin typeface="Arial" pitchFamily="34" charset="0"/>
                <a:ea typeface="Arial" pitchFamily="34" charset="-122"/>
                <a:cs typeface="Arial" pitchFamily="34" charset="-120"/>
              </a:rPr>
              <a:t>Rule-based detection can miss low-rate, slow attacks. Looking at traffic over a time window helps catch them.</a:t>
            </a:r>
            <a:endParaRPr lang="en-US" sz="1700" dirty="0"/>
          </a:p>
        </p:txBody>
      </p:sp>
      <p:sp>
        <p:nvSpPr>
          <p:cNvPr id="5" name="Shape 3"/>
          <p:cNvSpPr/>
          <p:nvPr/>
        </p:nvSpPr>
        <p:spPr>
          <a:xfrm>
            <a:off x="548640" y="2103120"/>
            <a:ext cx="2057400" cy="2468880"/>
          </a:xfrm>
          <a:prstGeom prst="roundRect">
            <a:avLst>
              <a:gd name="adj" fmla="val 5333"/>
            </a:avLst>
          </a:prstGeom>
          <a:solidFill>
            <a:srgbClr val="13294B"/>
          </a:solidFill>
          <a:ln w="15875">
            <a:solidFill>
              <a:srgbClr val="8B5CF6"/>
            </a:solidFill>
            <a:prstDash val="solid"/>
          </a:ln>
        </p:spPr>
      </p:sp>
      <p:sp>
        <p:nvSpPr>
          <p:cNvPr id="6" name="Text 4"/>
          <p:cNvSpPr/>
          <p:nvPr/>
        </p:nvSpPr>
        <p:spPr>
          <a:xfrm>
            <a:off x="685800" y="2240280"/>
            <a:ext cx="1783080" cy="54864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Read logs</a:t>
            </a:r>
            <a:endParaRPr lang="en-US" sz="1600" dirty="0"/>
          </a:p>
        </p:txBody>
      </p:sp>
      <p:sp>
        <p:nvSpPr>
          <p:cNvPr id="7" name="Text 5"/>
          <p:cNvSpPr/>
          <p:nvPr/>
        </p:nvSpPr>
        <p:spPr>
          <a:xfrm>
            <a:off x="685800" y="2834640"/>
            <a:ext cx="1783080" cy="164592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Access log records as JSONL</a:t>
            </a:r>
            <a:endParaRPr lang="en-US" sz="1300" dirty="0"/>
          </a:p>
        </p:txBody>
      </p:sp>
      <p:sp>
        <p:nvSpPr>
          <p:cNvPr id="8" name="Shape 6"/>
          <p:cNvSpPr/>
          <p:nvPr/>
        </p:nvSpPr>
        <p:spPr>
          <a:xfrm>
            <a:off x="2788920" y="2103120"/>
            <a:ext cx="2057400" cy="2468880"/>
          </a:xfrm>
          <a:prstGeom prst="roundRect">
            <a:avLst>
              <a:gd name="adj" fmla="val 5333"/>
            </a:avLst>
          </a:prstGeom>
          <a:solidFill>
            <a:srgbClr val="13294B"/>
          </a:solidFill>
          <a:ln w="15875">
            <a:solidFill>
              <a:srgbClr val="8B5CF6"/>
            </a:solidFill>
            <a:prstDash val="solid"/>
          </a:ln>
        </p:spPr>
      </p:sp>
      <p:sp>
        <p:nvSpPr>
          <p:cNvPr id="9" name="Text 7"/>
          <p:cNvSpPr/>
          <p:nvPr/>
        </p:nvSpPr>
        <p:spPr>
          <a:xfrm>
            <a:off x="2926080" y="2240280"/>
            <a:ext cx="1783080" cy="54864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Window per IP</a:t>
            </a:r>
            <a:endParaRPr lang="en-US" sz="1600" dirty="0"/>
          </a:p>
        </p:txBody>
      </p:sp>
      <p:sp>
        <p:nvSpPr>
          <p:cNvPr id="10" name="Text 8"/>
          <p:cNvSpPr/>
          <p:nvPr/>
        </p:nvSpPr>
        <p:spPr>
          <a:xfrm>
            <a:off x="2926080" y="2834640"/>
            <a:ext cx="1783080" cy="164592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Group requests into 60 s windows</a:t>
            </a:r>
            <a:endParaRPr lang="en-US" sz="1300" dirty="0"/>
          </a:p>
        </p:txBody>
      </p:sp>
      <p:sp>
        <p:nvSpPr>
          <p:cNvPr id="11" name="Shape 9"/>
          <p:cNvSpPr/>
          <p:nvPr/>
        </p:nvSpPr>
        <p:spPr>
          <a:xfrm>
            <a:off x="5029200" y="2103120"/>
            <a:ext cx="2057400" cy="2468880"/>
          </a:xfrm>
          <a:prstGeom prst="roundRect">
            <a:avLst>
              <a:gd name="adj" fmla="val 5333"/>
            </a:avLst>
          </a:prstGeom>
          <a:solidFill>
            <a:srgbClr val="13294B"/>
          </a:solidFill>
          <a:ln w="15875">
            <a:solidFill>
              <a:srgbClr val="8B5CF6"/>
            </a:solidFill>
            <a:prstDash val="solid"/>
          </a:ln>
        </p:spPr>
      </p:sp>
      <p:sp>
        <p:nvSpPr>
          <p:cNvPr id="12" name="Text 10"/>
          <p:cNvSpPr/>
          <p:nvPr/>
        </p:nvSpPr>
        <p:spPr>
          <a:xfrm>
            <a:off x="5166360" y="2240280"/>
            <a:ext cx="1783080" cy="54864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Extract features</a:t>
            </a:r>
            <a:endParaRPr lang="en-US" sz="1600" dirty="0"/>
          </a:p>
        </p:txBody>
      </p:sp>
      <p:sp>
        <p:nvSpPr>
          <p:cNvPr id="13" name="Text 11"/>
          <p:cNvSpPr/>
          <p:nvPr/>
        </p:nvSpPr>
        <p:spPr>
          <a:xfrm>
            <a:off x="5166360" y="2834640"/>
            <a:ext cx="1783080" cy="164592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Rate, unique paths, failed logins, 4xx ratio, gaps, bytes, response time</a:t>
            </a:r>
            <a:endParaRPr lang="en-US" sz="1300" dirty="0"/>
          </a:p>
        </p:txBody>
      </p:sp>
      <p:sp>
        <p:nvSpPr>
          <p:cNvPr id="14" name="Shape 12"/>
          <p:cNvSpPr/>
          <p:nvPr/>
        </p:nvSpPr>
        <p:spPr>
          <a:xfrm>
            <a:off x="7269480" y="2103120"/>
            <a:ext cx="2057400" cy="2468880"/>
          </a:xfrm>
          <a:prstGeom prst="roundRect">
            <a:avLst>
              <a:gd name="adj" fmla="val 5333"/>
            </a:avLst>
          </a:prstGeom>
          <a:solidFill>
            <a:srgbClr val="13294B"/>
          </a:solidFill>
          <a:ln w="15875">
            <a:solidFill>
              <a:srgbClr val="8B5CF6"/>
            </a:solidFill>
            <a:prstDash val="solid"/>
          </a:ln>
        </p:spPr>
      </p:sp>
      <p:sp>
        <p:nvSpPr>
          <p:cNvPr id="15" name="Text 13"/>
          <p:cNvSpPr/>
          <p:nvPr/>
        </p:nvSpPr>
        <p:spPr>
          <a:xfrm>
            <a:off x="7406640" y="2240280"/>
            <a:ext cx="1783080" cy="54864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Detect</a:t>
            </a:r>
            <a:endParaRPr lang="en-US" sz="1600" dirty="0"/>
          </a:p>
        </p:txBody>
      </p:sp>
      <p:sp>
        <p:nvSpPr>
          <p:cNvPr id="16" name="Text 14"/>
          <p:cNvSpPr/>
          <p:nvPr/>
        </p:nvSpPr>
        <p:spPr>
          <a:xfrm>
            <a:off x="7406640" y="2834640"/>
            <a:ext cx="1783080" cy="164592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Explicit rules plus Isolation Forest (300 trees, trained on normal traffic)</a:t>
            </a:r>
            <a:endParaRPr lang="en-US" sz="1300" dirty="0"/>
          </a:p>
        </p:txBody>
      </p:sp>
      <p:sp>
        <p:nvSpPr>
          <p:cNvPr id="17" name="Shape 15"/>
          <p:cNvSpPr/>
          <p:nvPr/>
        </p:nvSpPr>
        <p:spPr>
          <a:xfrm>
            <a:off x="9509760" y="2103120"/>
            <a:ext cx="2057400" cy="2468880"/>
          </a:xfrm>
          <a:prstGeom prst="roundRect">
            <a:avLst>
              <a:gd name="adj" fmla="val 5333"/>
            </a:avLst>
          </a:prstGeom>
          <a:solidFill>
            <a:srgbClr val="13294B"/>
          </a:solidFill>
          <a:ln w="15875">
            <a:solidFill>
              <a:srgbClr val="8B5CF6"/>
            </a:solidFill>
            <a:prstDash val="solid"/>
          </a:ln>
        </p:spPr>
      </p:sp>
      <p:sp>
        <p:nvSpPr>
          <p:cNvPr id="18" name="Text 16"/>
          <p:cNvSpPr/>
          <p:nvPr/>
        </p:nvSpPr>
        <p:spPr>
          <a:xfrm>
            <a:off x="9646920" y="2240280"/>
            <a:ext cx="1783080" cy="548640"/>
          </a:xfrm>
          <a:prstGeom prst="rect">
            <a:avLst/>
          </a:prstGeom>
          <a:noFill/>
          <a:ln/>
        </p:spPr>
        <p:txBody>
          <a:bodyPr wrap="square" lIns="0" tIns="0" rIns="0" bIns="0" rtlCol="0" anchor="ctr"/>
          <a:lstStyle/>
          <a:p>
            <a:pPr indent="0" marL="0">
              <a:buNone/>
            </a:pPr>
            <a:r>
              <a:rPr lang="en-US" sz="1600" b="1" dirty="0">
                <a:solidFill>
                  <a:srgbClr val="C4B5FD"/>
                </a:solidFill>
                <a:latin typeface="Arial" pitchFamily="34" charset="0"/>
                <a:ea typeface="Arial" pitchFamily="34" charset="-122"/>
                <a:cs typeface="Arial" pitchFamily="34" charset="-120"/>
              </a:rPr>
              <a:t>Alert</a:t>
            </a:r>
            <a:endParaRPr lang="en-US" sz="1600" dirty="0"/>
          </a:p>
        </p:txBody>
      </p:sp>
      <p:sp>
        <p:nvSpPr>
          <p:cNvPr id="19" name="Text 17"/>
          <p:cNvSpPr/>
          <p:nvPr/>
        </p:nvSpPr>
        <p:spPr>
          <a:xfrm>
            <a:off x="9646920" y="2834640"/>
            <a:ext cx="1783080" cy="1645920"/>
          </a:xfrm>
          <a:prstGeom prst="rect">
            <a:avLst/>
          </a:prstGeom>
          <a:noFill/>
          <a:ln/>
        </p:spPr>
        <p:txBody>
          <a:bodyPr wrap="square" lIns="0" tIns="0" rIns="0" bIns="0" rtlCol="0" anchor="t"/>
          <a:lstStyle/>
          <a:p>
            <a:pPr indent="0" marL="0">
              <a:buNone/>
            </a:pPr>
            <a:r>
              <a:rPr lang="en-US" sz="1300" dirty="0">
                <a:solidFill>
                  <a:srgbClr val="E6F1FF"/>
                </a:solidFill>
                <a:latin typeface="Arial" pitchFamily="34" charset="0"/>
                <a:ea typeface="Arial" pitchFamily="34" charset="-122"/>
                <a:cs typeface="Arial" pitchFamily="34" charset="-120"/>
              </a:rPr>
              <a:t>Severity-classified alerts stored via FastAPI and PostgreSQL</a:t>
            </a:r>
            <a:endParaRPr lang="en-US" sz="1300" dirty="0"/>
          </a:p>
        </p:txBody>
      </p:sp>
      <p:sp>
        <p:nvSpPr>
          <p:cNvPr id="20" name="Text 18"/>
          <p:cNvSpPr/>
          <p:nvPr/>
        </p:nvSpPr>
        <p:spPr>
          <a:xfrm>
            <a:off x="548640" y="5029200"/>
            <a:ext cx="11064240" cy="731520"/>
          </a:xfrm>
          <a:prstGeom prst="rect">
            <a:avLst/>
          </a:prstGeom>
          <a:noFill/>
          <a:ln/>
        </p:spPr>
        <p:txBody>
          <a:bodyPr wrap="square" lIns="0" tIns="0" rIns="0" bIns="0" rtlCol="0" anchor="ctr"/>
          <a:lstStyle/>
          <a:p>
            <a:pPr indent="0" marL="0">
              <a:buNone/>
            </a:pPr>
            <a:r>
              <a:rPr lang="en-US" sz="1600" dirty="0">
                <a:solidFill>
                  <a:srgbClr val="C4B5FD"/>
                </a:solidFill>
                <a:latin typeface="Arial" pitchFamily="34" charset="0"/>
                <a:ea typeface="Arial" pitchFamily="34" charset="-122"/>
                <a:cs typeface="Arial" pitchFamily="34" charset="-120"/>
              </a:rPr>
              <a:t>Hybrid recall on simulated data rose from 0.68 (rules only) to 0.91, with no false positives in the test set.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Two security approaches, one platform</a:t>
            </a:r>
            <a:endParaRPr lang="en-US" sz="3400" dirty="0"/>
          </a:p>
        </p:txBody>
      </p:sp>
      <p:sp>
        <p:nvSpPr>
          <p:cNvPr id="3" name="Shape 1"/>
          <p:cNvSpPr/>
          <p:nvPr/>
        </p:nvSpPr>
        <p:spPr>
          <a:xfrm>
            <a:off x="548640" y="1371600"/>
            <a:ext cx="5303520" cy="3566160"/>
          </a:xfrm>
          <a:prstGeom prst="roundRect">
            <a:avLst>
              <a:gd name="adj" fmla="val 3077"/>
            </a:avLst>
          </a:prstGeom>
          <a:solidFill>
            <a:srgbClr val="13294B"/>
          </a:solidFill>
          <a:ln w="15875">
            <a:solidFill>
              <a:srgbClr val="22D3EE"/>
            </a:solidFill>
            <a:prstDash val="solid"/>
          </a:ln>
        </p:spPr>
      </p:sp>
      <p:sp>
        <p:nvSpPr>
          <p:cNvPr id="4" name="Text 2"/>
          <p:cNvSpPr/>
          <p:nvPr/>
        </p:nvSpPr>
        <p:spPr>
          <a:xfrm>
            <a:off x="822960" y="1554480"/>
            <a:ext cx="4754880" cy="457200"/>
          </a:xfrm>
          <a:prstGeom prst="rect">
            <a:avLst/>
          </a:prstGeom>
          <a:noFill/>
          <a:ln/>
        </p:spPr>
        <p:txBody>
          <a:bodyPr wrap="square" lIns="0" tIns="0" rIns="0" bIns="0" rtlCol="0" anchor="ctr"/>
          <a:lstStyle/>
          <a:p>
            <a:pPr indent="0" marL="0">
              <a:buNone/>
            </a:pPr>
            <a:r>
              <a:rPr lang="en-US" sz="2000" b="1" dirty="0">
                <a:solidFill>
                  <a:srgbClr val="22D3EE"/>
                </a:solidFill>
                <a:latin typeface="Arial" pitchFamily="34" charset="0"/>
                <a:ea typeface="Arial" pitchFamily="34" charset="-122"/>
                <a:cs typeface="Arial" pitchFamily="34" charset="-120"/>
              </a:rPr>
              <a:t>Runtime security engine</a:t>
            </a:r>
            <a:endParaRPr lang="en-US" sz="2000" dirty="0"/>
          </a:p>
        </p:txBody>
      </p:sp>
      <p:sp>
        <p:nvSpPr>
          <p:cNvPr id="5" name="Text 3"/>
          <p:cNvSpPr/>
          <p:nvPr/>
        </p:nvSpPr>
        <p:spPr>
          <a:xfrm>
            <a:off x="822960" y="210312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Evaluates live reverse-proxy request events</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Applies configurable rules and rate limits</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Memory-backed or Redis-backed state</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Generates incidents and streams logs</a:t>
            </a:r>
            <a:endParaRPr lang="en-US" sz="1600" dirty="0"/>
          </a:p>
        </p:txBody>
      </p:sp>
      <p:sp>
        <p:nvSpPr>
          <p:cNvPr id="6" name="Shape 4"/>
          <p:cNvSpPr/>
          <p:nvPr/>
        </p:nvSpPr>
        <p:spPr>
          <a:xfrm>
            <a:off x="6309360" y="1371600"/>
            <a:ext cx="5303520" cy="3566160"/>
          </a:xfrm>
          <a:prstGeom prst="roundRect">
            <a:avLst>
              <a:gd name="adj" fmla="val 3077"/>
            </a:avLst>
          </a:prstGeom>
          <a:solidFill>
            <a:srgbClr val="13294B"/>
          </a:solidFill>
          <a:ln w="15875">
            <a:solidFill>
              <a:srgbClr val="8B5CF6"/>
            </a:solidFill>
            <a:prstDash val="solid"/>
          </a:ln>
        </p:spPr>
      </p:sp>
      <p:sp>
        <p:nvSpPr>
          <p:cNvPr id="7" name="Text 5"/>
          <p:cNvSpPr/>
          <p:nvPr/>
        </p:nvSpPr>
        <p:spPr>
          <a:xfrm>
            <a:off x="6583680" y="1554480"/>
            <a:ext cx="4754880" cy="45720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Hybrid log analysis</a:t>
            </a:r>
            <a:endParaRPr lang="en-US" sz="2000" dirty="0"/>
          </a:p>
        </p:txBody>
      </p:sp>
      <p:sp>
        <p:nvSpPr>
          <p:cNvPr id="8" name="Text 6"/>
          <p:cNvSpPr/>
          <p:nvPr/>
        </p:nvSpPr>
        <p:spPr>
          <a:xfrm>
            <a:off x="6583680" y="210312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Analyses grouped access-log records</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Uses explicit rules and Isolation Forest</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Produces structured intrusion alerts</a:t>
            </a:r>
            <a:endParaRPr lang="en-US" sz="1600" dirty="0"/>
          </a:p>
          <a:p>
            <a:pPr marL="342900" indent="-342900">
              <a:spcAft>
                <a:spcPts val="600"/>
              </a:spcAft>
              <a:buSzPct val="100000"/>
              <a:buChar char="•"/>
            </a:pPr>
            <a:r>
              <a:rPr lang="en-US" sz="1600" dirty="0">
                <a:solidFill>
                  <a:srgbClr val="E6F1FF"/>
                </a:solidFill>
                <a:latin typeface="Arial" pitchFamily="34" charset="0"/>
                <a:ea typeface="Arial" pitchFamily="34" charset="-122"/>
                <a:cs typeface="Arial" pitchFamily="34" charset="-120"/>
              </a:rPr>
              <a:t>Persists alerts through FastAPI and PostgreSQL</a:t>
            </a:r>
            <a:endParaRPr lang="en-US" sz="1600" dirty="0"/>
          </a:p>
        </p:txBody>
      </p:sp>
      <p:sp>
        <p:nvSpPr>
          <p:cNvPr id="9" name="Shape 7"/>
          <p:cNvSpPr/>
          <p:nvPr/>
        </p:nvSpPr>
        <p:spPr>
          <a:xfrm>
            <a:off x="2560320" y="5212080"/>
            <a:ext cx="7040880" cy="914400"/>
          </a:xfrm>
          <a:prstGeom prst="roundRect">
            <a:avLst>
              <a:gd name="adj" fmla="val 12000"/>
            </a:avLst>
          </a:prstGeom>
          <a:solidFill>
            <a:srgbClr val="0B1A33"/>
          </a:solidFill>
          <a:ln w="19050">
            <a:solidFill>
              <a:srgbClr val="C4B5FD"/>
            </a:solidFill>
            <a:prstDash val="dash"/>
          </a:ln>
        </p:spPr>
      </p:sp>
      <p:sp>
        <p:nvSpPr>
          <p:cNvPr id="10" name="Text 8"/>
          <p:cNvSpPr/>
          <p:nvPr/>
        </p:nvSpPr>
        <p:spPr>
          <a:xfrm>
            <a:off x="2743200" y="5257800"/>
            <a:ext cx="6675120" cy="822960"/>
          </a:xfrm>
          <a:prstGeom prst="rect">
            <a:avLst/>
          </a:prstGeom>
          <a:noFill/>
          <a:ln/>
        </p:spPr>
        <p:txBody>
          <a:bodyPr wrap="square" lIns="0" tIns="0" rIns="0" bIns="0" rtlCol="0" anchor="ctr"/>
          <a:lstStyle/>
          <a:p>
            <a:pPr algn="ctr" indent="0" marL="0">
              <a:buNone/>
            </a:pPr>
            <a:r>
              <a:rPr lang="en-US" sz="1500" i="1" dirty="0">
                <a:solidFill>
                  <a:srgbClr val="C4B5FD"/>
                </a:solidFill>
                <a:latin typeface="Arial" pitchFamily="34" charset="0"/>
                <a:ea typeface="Arial" pitchFamily="34" charset="-122"/>
                <a:cs typeface="Arial" pitchFamily="34" charset="-120"/>
              </a:rPr>
              <a:t>Proposed: immediate request-level protection feeding broader log-based analysis. No such link exists in the current code.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Unified monitoring dashboard (concept)</a:t>
            </a:r>
            <a:endParaRPr lang="en-US" sz="3400" dirty="0"/>
          </a:p>
        </p:txBody>
      </p:sp>
      <p:sp>
        <p:nvSpPr>
          <p:cNvPr id="3" name="Text 1"/>
          <p:cNvSpPr/>
          <p:nvPr/>
        </p:nvSpPr>
        <p:spPr>
          <a:xfrm>
            <a:off x="548640" y="1051560"/>
            <a:ext cx="10972800" cy="365760"/>
          </a:xfrm>
          <a:prstGeom prst="rect">
            <a:avLst/>
          </a:prstGeom>
          <a:noFill/>
          <a:ln/>
        </p:spPr>
        <p:txBody>
          <a:bodyPr wrap="square" lIns="0" tIns="0" rIns="0" bIns="0" rtlCol="0" anchor="ctr"/>
          <a:lstStyle/>
          <a:p>
            <a:pPr indent="0" marL="0">
              <a:buNone/>
            </a:pPr>
            <a:r>
              <a:rPr lang="en-US" sz="1400" i="1" dirty="0">
                <a:solidFill>
                  <a:srgbClr val="C4B5FD"/>
                </a:solidFill>
                <a:latin typeface="Arial" pitchFamily="34" charset="0"/>
                <a:ea typeface="Arial" pitchFamily="34" charset="-122"/>
                <a:cs typeface="Arial" pitchFamily="34" charset="-120"/>
              </a:rPr>
              <a:t>Proposed layout. Not a screenshot of the existing system.</a:t>
            </a:r>
            <a:endParaRPr lang="en-US" sz="1400" dirty="0"/>
          </a:p>
        </p:txBody>
      </p:sp>
      <p:sp>
        <p:nvSpPr>
          <p:cNvPr id="4" name="Shape 2"/>
          <p:cNvSpPr/>
          <p:nvPr/>
        </p:nvSpPr>
        <p:spPr>
          <a:xfrm>
            <a:off x="548640" y="1554480"/>
            <a:ext cx="11064240" cy="4754880"/>
          </a:xfrm>
          <a:prstGeom prst="roundRect">
            <a:avLst>
              <a:gd name="adj" fmla="val 2308"/>
            </a:avLst>
          </a:prstGeom>
          <a:solidFill>
            <a:srgbClr val="13294B"/>
          </a:solidFill>
          <a:ln w="15875">
            <a:solidFill>
              <a:srgbClr val="94A3B8"/>
            </a:solidFill>
            <a:prstDash val="solid"/>
          </a:ln>
        </p:spPr>
      </p:sp>
      <p:sp>
        <p:nvSpPr>
          <p:cNvPr id="5" name="Shape 3"/>
          <p:cNvSpPr/>
          <p:nvPr/>
        </p:nvSpPr>
        <p:spPr>
          <a:xfrm>
            <a:off x="822960" y="1828800"/>
            <a:ext cx="2468880" cy="2011680"/>
          </a:xfrm>
          <a:prstGeom prst="roundRect">
            <a:avLst>
              <a:gd name="adj" fmla="val 5455"/>
            </a:avLst>
          </a:prstGeom>
          <a:solidFill>
            <a:srgbClr val="13294B"/>
          </a:solidFill>
          <a:ln w="15875">
            <a:solidFill>
              <a:srgbClr val="22D3EE"/>
            </a:solidFill>
            <a:prstDash val="solid"/>
          </a:ln>
        </p:spPr>
      </p:sp>
      <p:sp>
        <p:nvSpPr>
          <p:cNvPr id="6" name="Text 4"/>
          <p:cNvSpPr/>
          <p:nvPr/>
        </p:nvSpPr>
        <p:spPr>
          <a:xfrm>
            <a:off x="960120" y="1965960"/>
            <a:ext cx="2194560" cy="45720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Deployment status</a:t>
            </a:r>
            <a:endParaRPr lang="en-US" sz="1500" dirty="0"/>
          </a:p>
        </p:txBody>
      </p:sp>
      <p:sp>
        <p:nvSpPr>
          <p:cNvPr id="7" name="Text 5"/>
          <p:cNvSpPr/>
          <p:nvPr/>
        </p:nvSpPr>
        <p:spPr>
          <a:xfrm>
            <a:off x="960120" y="2468880"/>
            <a:ext cx="219456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Build logs and state</a:t>
            </a:r>
            <a:endParaRPr lang="en-US" sz="1300" dirty="0"/>
          </a:p>
        </p:txBody>
      </p:sp>
      <p:sp>
        <p:nvSpPr>
          <p:cNvPr id="8" name="Shape 6"/>
          <p:cNvSpPr/>
          <p:nvPr/>
        </p:nvSpPr>
        <p:spPr>
          <a:xfrm>
            <a:off x="3520440" y="1828800"/>
            <a:ext cx="2468880" cy="2011680"/>
          </a:xfrm>
          <a:prstGeom prst="roundRect">
            <a:avLst>
              <a:gd name="adj" fmla="val 5455"/>
            </a:avLst>
          </a:prstGeom>
          <a:solidFill>
            <a:srgbClr val="13294B"/>
          </a:solidFill>
          <a:ln w="15875">
            <a:solidFill>
              <a:srgbClr val="22D3EE"/>
            </a:solidFill>
            <a:prstDash val="solid"/>
          </a:ln>
        </p:spPr>
      </p:sp>
      <p:sp>
        <p:nvSpPr>
          <p:cNvPr id="9" name="Text 7"/>
          <p:cNvSpPr/>
          <p:nvPr/>
        </p:nvSpPr>
        <p:spPr>
          <a:xfrm>
            <a:off x="3657600" y="1965960"/>
            <a:ext cx="2194560" cy="45720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Request activity</a:t>
            </a:r>
            <a:endParaRPr lang="en-US" sz="1500" dirty="0"/>
          </a:p>
        </p:txBody>
      </p:sp>
      <p:sp>
        <p:nvSpPr>
          <p:cNvPr id="10" name="Text 8"/>
          <p:cNvSpPr/>
          <p:nvPr/>
        </p:nvSpPr>
        <p:spPr>
          <a:xfrm>
            <a:off x="3657600" y="2468880"/>
            <a:ext cx="219456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Incoming traffic over time</a:t>
            </a:r>
            <a:endParaRPr lang="en-US" sz="1300" dirty="0"/>
          </a:p>
        </p:txBody>
      </p:sp>
      <p:sp>
        <p:nvSpPr>
          <p:cNvPr id="11" name="Shape 9"/>
          <p:cNvSpPr/>
          <p:nvPr/>
        </p:nvSpPr>
        <p:spPr>
          <a:xfrm>
            <a:off x="6217920" y="1828800"/>
            <a:ext cx="2468880" cy="2011680"/>
          </a:xfrm>
          <a:prstGeom prst="roundRect">
            <a:avLst>
              <a:gd name="adj" fmla="val 5455"/>
            </a:avLst>
          </a:prstGeom>
          <a:solidFill>
            <a:srgbClr val="13294B"/>
          </a:solidFill>
          <a:ln w="15875">
            <a:solidFill>
              <a:srgbClr val="8B5CF6"/>
            </a:solidFill>
            <a:prstDash val="solid"/>
          </a:ln>
        </p:spPr>
      </p:sp>
      <p:sp>
        <p:nvSpPr>
          <p:cNvPr id="12" name="Text 10"/>
          <p:cNvSpPr/>
          <p:nvPr/>
        </p:nvSpPr>
        <p:spPr>
          <a:xfrm>
            <a:off x="6355080" y="1965960"/>
            <a:ext cx="2194560" cy="45720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Incidents</a:t>
            </a:r>
            <a:endParaRPr lang="en-US" sz="1500" dirty="0"/>
          </a:p>
        </p:txBody>
      </p:sp>
      <p:sp>
        <p:nvSpPr>
          <p:cNvPr id="13" name="Text 11"/>
          <p:cNvSpPr/>
          <p:nvPr/>
        </p:nvSpPr>
        <p:spPr>
          <a:xfrm>
            <a:off x="6355080" y="2468880"/>
            <a:ext cx="219456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Type, source IP, severity</a:t>
            </a:r>
            <a:endParaRPr lang="en-US" sz="1300" dirty="0"/>
          </a:p>
        </p:txBody>
      </p:sp>
      <p:sp>
        <p:nvSpPr>
          <p:cNvPr id="14" name="Shape 12"/>
          <p:cNvSpPr/>
          <p:nvPr/>
        </p:nvSpPr>
        <p:spPr>
          <a:xfrm>
            <a:off x="8915400" y="1828800"/>
            <a:ext cx="2468880" cy="2011680"/>
          </a:xfrm>
          <a:prstGeom prst="roundRect">
            <a:avLst>
              <a:gd name="adj" fmla="val 5455"/>
            </a:avLst>
          </a:prstGeom>
          <a:solidFill>
            <a:srgbClr val="13294B"/>
          </a:solidFill>
          <a:ln w="15875">
            <a:solidFill>
              <a:srgbClr val="8B5CF6"/>
            </a:solidFill>
            <a:prstDash val="solid"/>
          </a:ln>
        </p:spPr>
      </p:sp>
      <p:sp>
        <p:nvSpPr>
          <p:cNvPr id="15" name="Text 13"/>
          <p:cNvSpPr/>
          <p:nvPr/>
        </p:nvSpPr>
        <p:spPr>
          <a:xfrm>
            <a:off x="9052560" y="1965960"/>
            <a:ext cx="2194560" cy="45720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Anomaly score</a:t>
            </a:r>
            <a:endParaRPr lang="en-US" sz="1500" dirty="0"/>
          </a:p>
        </p:txBody>
      </p:sp>
      <p:sp>
        <p:nvSpPr>
          <p:cNvPr id="16" name="Text 14"/>
          <p:cNvSpPr/>
          <p:nvPr/>
        </p:nvSpPr>
        <p:spPr>
          <a:xfrm>
            <a:off x="9052560" y="2468880"/>
            <a:ext cx="219456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From log analysis</a:t>
            </a:r>
            <a:endParaRPr lang="en-US" sz="1300" dirty="0"/>
          </a:p>
        </p:txBody>
      </p:sp>
      <p:sp>
        <p:nvSpPr>
          <p:cNvPr id="17" name="Text 15"/>
          <p:cNvSpPr/>
          <p:nvPr/>
        </p:nvSpPr>
        <p:spPr>
          <a:xfrm>
            <a:off x="822960" y="4206240"/>
            <a:ext cx="10515600" cy="457200"/>
          </a:xfrm>
          <a:prstGeom prst="rect">
            <a:avLst/>
          </a:prstGeom>
          <a:noFill/>
          <a:ln/>
        </p:spPr>
        <p:txBody>
          <a:bodyPr wrap="square" lIns="0" tIns="0" rIns="0" bIns="0" rtlCol="0" anchor="ctr"/>
          <a:lstStyle/>
          <a:p>
            <a:pPr indent="0" marL="0">
              <a:buNone/>
            </a:pPr>
            <a:r>
              <a:rPr lang="en-US" sz="1500" dirty="0">
                <a:solidFill>
                  <a:srgbClr val="E6F1FF"/>
                </a:solidFill>
                <a:latin typeface="Arial" pitchFamily="34" charset="0"/>
                <a:ea typeface="Arial" pitchFamily="34" charset="-122"/>
                <a:cs typeface="Arial" pitchFamily="34" charset="-120"/>
              </a:rPr>
              <a:t>Incident status and history: open · acknowledged · resolved, with evidence and timestamps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Technology stack</a:t>
            </a:r>
            <a:endParaRPr lang="en-US" sz="3400" dirty="0"/>
          </a:p>
        </p:txBody>
      </p:sp>
      <p:sp>
        <p:nvSpPr>
          <p:cNvPr id="3" name="Shape 1"/>
          <p:cNvSpPr/>
          <p:nvPr/>
        </p:nvSpPr>
        <p:spPr>
          <a:xfrm>
            <a:off x="548640" y="1371600"/>
            <a:ext cx="5440680" cy="1371600"/>
          </a:xfrm>
          <a:prstGeom prst="roundRect">
            <a:avLst>
              <a:gd name="adj" fmla="val 8000"/>
            </a:avLst>
          </a:prstGeom>
          <a:solidFill>
            <a:srgbClr val="13294B"/>
          </a:solidFill>
          <a:ln w="15875">
            <a:solidFill>
              <a:srgbClr val="22D3EE"/>
            </a:solidFill>
            <a:prstDash val="solid"/>
          </a:ln>
        </p:spPr>
      </p:sp>
      <p:sp>
        <p:nvSpPr>
          <p:cNvPr id="4" name="Text 2"/>
          <p:cNvSpPr/>
          <p:nvPr/>
        </p:nvSpPr>
        <p:spPr>
          <a:xfrm>
            <a:off x="822960" y="1508760"/>
            <a:ext cx="4937760" cy="41148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Deployment</a:t>
            </a:r>
            <a:endParaRPr lang="en-US" sz="1700" dirty="0"/>
          </a:p>
        </p:txBody>
      </p:sp>
      <p:sp>
        <p:nvSpPr>
          <p:cNvPr id="5" name="Text 3"/>
          <p:cNvSpPr/>
          <p:nvPr/>
        </p:nvSpPr>
        <p:spPr>
          <a:xfrm>
            <a:off x="822960" y="201168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Node.js · Express · Docker · Git · AWS SDK · ECS Fargate · S3</a:t>
            </a:r>
            <a:endParaRPr lang="en-US" sz="1400" dirty="0"/>
          </a:p>
        </p:txBody>
      </p:sp>
      <p:sp>
        <p:nvSpPr>
          <p:cNvPr id="6" name="Shape 4"/>
          <p:cNvSpPr/>
          <p:nvPr/>
        </p:nvSpPr>
        <p:spPr>
          <a:xfrm>
            <a:off x="6172200" y="1371600"/>
            <a:ext cx="5440680" cy="1371600"/>
          </a:xfrm>
          <a:prstGeom prst="roundRect">
            <a:avLst>
              <a:gd name="adj" fmla="val 8000"/>
            </a:avLst>
          </a:prstGeom>
          <a:solidFill>
            <a:srgbClr val="13294B"/>
          </a:solidFill>
          <a:ln w="15875">
            <a:solidFill>
              <a:srgbClr val="22D3EE"/>
            </a:solidFill>
            <a:prstDash val="solid"/>
          </a:ln>
        </p:spPr>
      </p:sp>
      <p:sp>
        <p:nvSpPr>
          <p:cNvPr id="7" name="Text 5"/>
          <p:cNvSpPr/>
          <p:nvPr/>
        </p:nvSpPr>
        <p:spPr>
          <a:xfrm>
            <a:off x="6446520" y="1508760"/>
            <a:ext cx="4937760" cy="41148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Real-time messaging</a:t>
            </a:r>
            <a:endParaRPr lang="en-US" sz="1700" dirty="0"/>
          </a:p>
        </p:txBody>
      </p:sp>
      <p:sp>
        <p:nvSpPr>
          <p:cNvPr id="8" name="Text 6"/>
          <p:cNvSpPr/>
          <p:nvPr/>
        </p:nvSpPr>
        <p:spPr>
          <a:xfrm>
            <a:off x="6446520" y="201168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Redis Pub/Sub · Redis Streams · Socket.IO</a:t>
            </a:r>
            <a:endParaRPr lang="en-US" sz="1400" dirty="0"/>
          </a:p>
        </p:txBody>
      </p:sp>
      <p:sp>
        <p:nvSpPr>
          <p:cNvPr id="9" name="Shape 7"/>
          <p:cNvSpPr/>
          <p:nvPr/>
        </p:nvSpPr>
        <p:spPr>
          <a:xfrm>
            <a:off x="548640" y="2926080"/>
            <a:ext cx="5440680" cy="1371600"/>
          </a:xfrm>
          <a:prstGeom prst="roundRect">
            <a:avLst>
              <a:gd name="adj" fmla="val 8000"/>
            </a:avLst>
          </a:prstGeom>
          <a:solidFill>
            <a:srgbClr val="13294B"/>
          </a:solidFill>
          <a:ln w="15875">
            <a:solidFill>
              <a:srgbClr val="22D3EE"/>
            </a:solidFill>
            <a:prstDash val="solid"/>
          </a:ln>
        </p:spPr>
      </p:sp>
      <p:sp>
        <p:nvSpPr>
          <p:cNvPr id="10" name="Text 8"/>
          <p:cNvSpPr/>
          <p:nvPr/>
        </p:nvSpPr>
        <p:spPr>
          <a:xfrm>
            <a:off x="822960" y="3063240"/>
            <a:ext cx="4937760" cy="41148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Runtime security</a:t>
            </a:r>
            <a:endParaRPr lang="en-US" sz="1700" dirty="0"/>
          </a:p>
        </p:txBody>
      </p:sp>
      <p:sp>
        <p:nvSpPr>
          <p:cNvPr id="11" name="Text 9"/>
          <p:cNvSpPr/>
          <p:nvPr/>
        </p:nvSpPr>
        <p:spPr>
          <a:xfrm>
            <a:off x="822960" y="356616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Node.js · HTTP reverse proxy · rule engine · Redis-backed state</a:t>
            </a:r>
            <a:endParaRPr lang="en-US" sz="1400" dirty="0"/>
          </a:p>
        </p:txBody>
      </p:sp>
      <p:sp>
        <p:nvSpPr>
          <p:cNvPr id="12" name="Shape 10"/>
          <p:cNvSpPr/>
          <p:nvPr/>
        </p:nvSpPr>
        <p:spPr>
          <a:xfrm>
            <a:off x="6172200" y="2926080"/>
            <a:ext cx="5440680" cy="1371600"/>
          </a:xfrm>
          <a:prstGeom prst="roundRect">
            <a:avLst>
              <a:gd name="adj" fmla="val 8000"/>
            </a:avLst>
          </a:prstGeom>
          <a:solidFill>
            <a:srgbClr val="13294B"/>
          </a:solidFill>
          <a:ln w="15875">
            <a:solidFill>
              <a:srgbClr val="8B5CF6"/>
            </a:solidFill>
            <a:prstDash val="solid"/>
          </a:ln>
        </p:spPr>
      </p:sp>
      <p:sp>
        <p:nvSpPr>
          <p:cNvPr id="13" name="Text 11"/>
          <p:cNvSpPr/>
          <p:nvPr/>
        </p:nvSpPr>
        <p:spPr>
          <a:xfrm>
            <a:off x="6446520" y="3063240"/>
            <a:ext cx="4937760" cy="411480"/>
          </a:xfrm>
          <a:prstGeom prst="rect">
            <a:avLst/>
          </a:prstGeom>
          <a:noFill/>
          <a:ln/>
        </p:spPr>
        <p:txBody>
          <a:bodyPr wrap="square" lIns="0" tIns="0" rIns="0" bIns="0" rtlCol="0" anchor="ctr"/>
          <a:lstStyle/>
          <a:p>
            <a:pPr indent="0" marL="0">
              <a:buNone/>
            </a:pPr>
            <a:r>
              <a:rPr lang="en-US" sz="1700" b="1" dirty="0">
                <a:solidFill>
                  <a:srgbClr val="C4B5FD"/>
                </a:solidFill>
                <a:latin typeface="Arial" pitchFamily="34" charset="0"/>
                <a:ea typeface="Arial" pitchFamily="34" charset="-122"/>
                <a:cs typeface="Arial" pitchFamily="34" charset="-120"/>
              </a:rPr>
              <a:t>Log analysis</a:t>
            </a:r>
            <a:endParaRPr lang="en-US" sz="1700" dirty="0"/>
          </a:p>
        </p:txBody>
      </p:sp>
      <p:sp>
        <p:nvSpPr>
          <p:cNvPr id="14" name="Text 12"/>
          <p:cNvSpPr/>
          <p:nvPr/>
        </p:nvSpPr>
        <p:spPr>
          <a:xfrm>
            <a:off x="6446520" y="356616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Python · pandas · NumPy · scikit-learn (Isolation Forest)</a:t>
            </a:r>
            <a:endParaRPr lang="en-US" sz="1400" dirty="0"/>
          </a:p>
        </p:txBody>
      </p:sp>
      <p:sp>
        <p:nvSpPr>
          <p:cNvPr id="15" name="Shape 13"/>
          <p:cNvSpPr/>
          <p:nvPr/>
        </p:nvSpPr>
        <p:spPr>
          <a:xfrm>
            <a:off x="548640" y="4480560"/>
            <a:ext cx="5440680" cy="1371600"/>
          </a:xfrm>
          <a:prstGeom prst="roundRect">
            <a:avLst>
              <a:gd name="adj" fmla="val 8000"/>
            </a:avLst>
          </a:prstGeom>
          <a:solidFill>
            <a:srgbClr val="13294B"/>
          </a:solidFill>
          <a:ln w="15875">
            <a:solidFill>
              <a:srgbClr val="8B5CF6"/>
            </a:solidFill>
            <a:prstDash val="solid"/>
          </a:ln>
        </p:spPr>
      </p:sp>
      <p:sp>
        <p:nvSpPr>
          <p:cNvPr id="16" name="Text 14"/>
          <p:cNvSpPr/>
          <p:nvPr/>
        </p:nvSpPr>
        <p:spPr>
          <a:xfrm>
            <a:off x="822960" y="4617720"/>
            <a:ext cx="4937760" cy="411480"/>
          </a:xfrm>
          <a:prstGeom prst="rect">
            <a:avLst/>
          </a:prstGeom>
          <a:noFill/>
          <a:ln/>
        </p:spPr>
        <p:txBody>
          <a:bodyPr wrap="square" lIns="0" tIns="0" rIns="0" bIns="0" rtlCol="0" anchor="ctr"/>
          <a:lstStyle/>
          <a:p>
            <a:pPr indent="0" marL="0">
              <a:buNone/>
            </a:pPr>
            <a:r>
              <a:rPr lang="en-US" sz="1700" b="1" dirty="0">
                <a:solidFill>
                  <a:srgbClr val="C4B5FD"/>
                </a:solidFill>
                <a:latin typeface="Arial" pitchFamily="34" charset="0"/>
                <a:ea typeface="Arial" pitchFamily="34" charset="-122"/>
                <a:cs typeface="Arial" pitchFamily="34" charset="-120"/>
              </a:rPr>
              <a:t>Monitoring backend</a:t>
            </a:r>
            <a:endParaRPr lang="en-US" sz="1700" dirty="0"/>
          </a:p>
        </p:txBody>
      </p:sp>
      <p:sp>
        <p:nvSpPr>
          <p:cNvPr id="17" name="Text 15"/>
          <p:cNvSpPr/>
          <p:nvPr/>
        </p:nvSpPr>
        <p:spPr>
          <a:xfrm>
            <a:off x="822960" y="512064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FastAPI · SQLAlchemy · PostgreSQL</a:t>
            </a:r>
            <a:endParaRPr lang="en-US" sz="1400" dirty="0"/>
          </a:p>
        </p:txBody>
      </p:sp>
      <p:sp>
        <p:nvSpPr>
          <p:cNvPr id="18" name="Shape 16"/>
          <p:cNvSpPr/>
          <p:nvPr/>
        </p:nvSpPr>
        <p:spPr>
          <a:xfrm>
            <a:off x="6172200" y="4480560"/>
            <a:ext cx="5440680" cy="1371600"/>
          </a:xfrm>
          <a:prstGeom prst="roundRect">
            <a:avLst>
              <a:gd name="adj" fmla="val 8000"/>
            </a:avLst>
          </a:prstGeom>
          <a:solidFill>
            <a:srgbClr val="13294B"/>
          </a:solidFill>
          <a:ln w="15875">
            <a:solidFill>
              <a:srgbClr val="22D3EE"/>
            </a:solidFill>
            <a:prstDash val="solid"/>
          </a:ln>
        </p:spPr>
      </p:sp>
      <p:sp>
        <p:nvSpPr>
          <p:cNvPr id="19" name="Text 17"/>
          <p:cNvSpPr/>
          <p:nvPr/>
        </p:nvSpPr>
        <p:spPr>
          <a:xfrm>
            <a:off x="6446520" y="4617720"/>
            <a:ext cx="4937760" cy="41148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Frontend</a:t>
            </a:r>
            <a:endParaRPr lang="en-US" sz="1700" dirty="0"/>
          </a:p>
        </p:txBody>
      </p:sp>
      <p:sp>
        <p:nvSpPr>
          <p:cNvPr id="20" name="Text 18"/>
          <p:cNvSpPr/>
          <p:nvPr/>
        </p:nvSpPr>
        <p:spPr>
          <a:xfrm>
            <a:off x="6446520" y="5120640"/>
            <a:ext cx="4937760" cy="640080"/>
          </a:xfrm>
          <a:prstGeom prst="rect">
            <a:avLst/>
          </a:prstGeom>
          <a:noFill/>
          <a:ln/>
        </p:spPr>
        <p:txBody>
          <a:bodyPr wrap="square" lIns="0" tIns="0" rIns="0" bIns="0" rtlCol="0" anchor="t"/>
          <a:lstStyle/>
          <a:p>
            <a:pPr indent="0" marL="0">
              <a:buNone/>
            </a:pPr>
            <a:r>
              <a:rPr lang="en-US" sz="1400" dirty="0">
                <a:solidFill>
                  <a:srgbClr val="E6F1FF"/>
                </a:solidFill>
                <a:latin typeface="Arial" pitchFamily="34" charset="0"/>
                <a:ea typeface="Arial" pitchFamily="34" charset="-122"/>
                <a:cs typeface="Arial" pitchFamily="34" charset="-120"/>
              </a:rPr>
              <a:t>React · Vite · Recharts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Incident lifecycle</a:t>
            </a:r>
            <a:endParaRPr lang="en-US" sz="3400" dirty="0"/>
          </a:p>
        </p:txBody>
      </p:sp>
      <p:sp>
        <p:nvSpPr>
          <p:cNvPr id="3" name="Shape 1"/>
          <p:cNvSpPr/>
          <p:nvPr/>
        </p:nvSpPr>
        <p:spPr>
          <a:xfrm>
            <a:off x="548640" y="1371600"/>
            <a:ext cx="2606040" cy="1920240"/>
          </a:xfrm>
          <a:prstGeom prst="roundRect">
            <a:avLst>
              <a:gd name="adj" fmla="val 5714"/>
            </a:avLst>
          </a:prstGeom>
          <a:solidFill>
            <a:srgbClr val="13294B"/>
          </a:solidFill>
          <a:ln w="15875">
            <a:solidFill>
              <a:srgbClr val="22D3EE"/>
            </a:solidFill>
            <a:prstDash val="solid"/>
          </a:ln>
        </p:spPr>
      </p:sp>
      <p:sp>
        <p:nvSpPr>
          <p:cNvPr id="4" name="Text 2"/>
          <p:cNvSpPr/>
          <p:nvPr/>
        </p:nvSpPr>
        <p:spPr>
          <a:xfrm>
            <a:off x="731520" y="1508760"/>
            <a:ext cx="2286000" cy="54864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Request arrives</a:t>
            </a:r>
            <a:endParaRPr lang="en-US" sz="1500" dirty="0"/>
          </a:p>
        </p:txBody>
      </p:sp>
      <p:sp>
        <p:nvSpPr>
          <p:cNvPr id="5" name="Text 3"/>
          <p:cNvSpPr/>
          <p:nvPr/>
        </p:nvSpPr>
        <p:spPr>
          <a:xfrm>
            <a:off x="731520" y="2103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A visitor hits a deployed site</a:t>
            </a:r>
            <a:endParaRPr lang="en-US" sz="1300" dirty="0"/>
          </a:p>
        </p:txBody>
      </p:sp>
      <p:sp>
        <p:nvSpPr>
          <p:cNvPr id="6" name="Shape 4"/>
          <p:cNvSpPr/>
          <p:nvPr/>
        </p:nvSpPr>
        <p:spPr>
          <a:xfrm>
            <a:off x="3383280" y="1371600"/>
            <a:ext cx="2606040" cy="1920240"/>
          </a:xfrm>
          <a:prstGeom prst="roundRect">
            <a:avLst>
              <a:gd name="adj" fmla="val 5714"/>
            </a:avLst>
          </a:prstGeom>
          <a:solidFill>
            <a:srgbClr val="13294B"/>
          </a:solidFill>
          <a:ln w="15875">
            <a:solidFill>
              <a:srgbClr val="22D3EE"/>
            </a:solidFill>
            <a:prstDash val="solid"/>
          </a:ln>
        </p:spPr>
      </p:sp>
      <p:sp>
        <p:nvSpPr>
          <p:cNvPr id="7" name="Text 5"/>
          <p:cNvSpPr/>
          <p:nvPr/>
        </p:nvSpPr>
        <p:spPr>
          <a:xfrm>
            <a:off x="3566160" y="1508760"/>
            <a:ext cx="2286000" cy="54864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Rules evaluated</a:t>
            </a:r>
            <a:endParaRPr lang="en-US" sz="1500" dirty="0"/>
          </a:p>
        </p:txBody>
      </p:sp>
      <p:sp>
        <p:nvSpPr>
          <p:cNvPr id="8" name="Text 6"/>
          <p:cNvSpPr/>
          <p:nvPr/>
        </p:nvSpPr>
        <p:spPr>
          <a:xfrm>
            <a:off x="3566160" y="2103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The proxy checks rate limits and detectors</a:t>
            </a:r>
            <a:endParaRPr lang="en-US" sz="1300" dirty="0"/>
          </a:p>
        </p:txBody>
      </p:sp>
      <p:sp>
        <p:nvSpPr>
          <p:cNvPr id="9" name="Shape 7"/>
          <p:cNvSpPr/>
          <p:nvPr/>
        </p:nvSpPr>
        <p:spPr>
          <a:xfrm>
            <a:off x="6217920" y="1371600"/>
            <a:ext cx="2606040" cy="1920240"/>
          </a:xfrm>
          <a:prstGeom prst="roundRect">
            <a:avLst>
              <a:gd name="adj" fmla="val 5714"/>
            </a:avLst>
          </a:prstGeom>
          <a:solidFill>
            <a:srgbClr val="13294B"/>
          </a:solidFill>
          <a:ln w="15875">
            <a:solidFill>
              <a:srgbClr val="22D3EE"/>
            </a:solidFill>
            <a:prstDash val="solid"/>
          </a:ln>
        </p:spPr>
      </p:sp>
      <p:sp>
        <p:nvSpPr>
          <p:cNvPr id="10" name="Text 8"/>
          <p:cNvSpPr/>
          <p:nvPr/>
        </p:nvSpPr>
        <p:spPr>
          <a:xfrm>
            <a:off x="6400800" y="1508760"/>
            <a:ext cx="2286000" cy="54864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Incident created</a:t>
            </a:r>
            <a:endParaRPr lang="en-US" sz="1500" dirty="0"/>
          </a:p>
        </p:txBody>
      </p:sp>
      <p:sp>
        <p:nvSpPr>
          <p:cNvPr id="11" name="Text 9"/>
          <p:cNvSpPr/>
          <p:nvPr/>
        </p:nvSpPr>
        <p:spPr>
          <a:xfrm>
            <a:off x="6400800" y="2103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Suspicious behaviour is deduplicated and stored</a:t>
            </a:r>
            <a:endParaRPr lang="en-US" sz="1300" dirty="0"/>
          </a:p>
        </p:txBody>
      </p:sp>
      <p:sp>
        <p:nvSpPr>
          <p:cNvPr id="12" name="Shape 10"/>
          <p:cNvSpPr/>
          <p:nvPr/>
        </p:nvSpPr>
        <p:spPr>
          <a:xfrm>
            <a:off x="9052560" y="1371600"/>
            <a:ext cx="2606040" cy="1920240"/>
          </a:xfrm>
          <a:prstGeom prst="roundRect">
            <a:avLst>
              <a:gd name="adj" fmla="val 5714"/>
            </a:avLst>
          </a:prstGeom>
          <a:solidFill>
            <a:srgbClr val="13294B"/>
          </a:solidFill>
          <a:ln w="15875">
            <a:solidFill>
              <a:srgbClr val="22D3EE"/>
            </a:solidFill>
            <a:prstDash val="solid"/>
          </a:ln>
        </p:spPr>
      </p:sp>
      <p:sp>
        <p:nvSpPr>
          <p:cNvPr id="13" name="Text 11"/>
          <p:cNvSpPr/>
          <p:nvPr/>
        </p:nvSpPr>
        <p:spPr>
          <a:xfrm>
            <a:off x="9235440" y="1508760"/>
            <a:ext cx="2286000" cy="54864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Logs published</a:t>
            </a:r>
            <a:endParaRPr lang="en-US" sz="1500" dirty="0"/>
          </a:p>
        </p:txBody>
      </p:sp>
      <p:sp>
        <p:nvSpPr>
          <p:cNvPr id="14" name="Text 12"/>
          <p:cNvSpPr/>
          <p:nvPr/>
        </p:nvSpPr>
        <p:spPr>
          <a:xfrm>
            <a:off x="9235440" y="2103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Redis carries events to Socket.IO</a:t>
            </a:r>
            <a:endParaRPr lang="en-US" sz="1300" dirty="0"/>
          </a:p>
        </p:txBody>
      </p:sp>
      <p:sp>
        <p:nvSpPr>
          <p:cNvPr id="15" name="Shape 13"/>
          <p:cNvSpPr/>
          <p:nvPr/>
        </p:nvSpPr>
        <p:spPr>
          <a:xfrm>
            <a:off x="548640" y="3657600"/>
            <a:ext cx="2606040" cy="1920240"/>
          </a:xfrm>
          <a:prstGeom prst="roundRect">
            <a:avLst>
              <a:gd name="adj" fmla="val 5714"/>
            </a:avLst>
          </a:prstGeom>
          <a:solidFill>
            <a:srgbClr val="13294B"/>
          </a:solidFill>
          <a:ln w="15875">
            <a:solidFill>
              <a:srgbClr val="8B5CF6"/>
            </a:solidFill>
            <a:prstDash val="solid"/>
          </a:ln>
        </p:spPr>
      </p:sp>
      <p:sp>
        <p:nvSpPr>
          <p:cNvPr id="16" name="Text 14"/>
          <p:cNvSpPr/>
          <p:nvPr/>
        </p:nvSpPr>
        <p:spPr>
          <a:xfrm>
            <a:off x="731520" y="3794760"/>
            <a:ext cx="2286000" cy="548640"/>
          </a:xfrm>
          <a:prstGeom prst="rect">
            <a:avLst/>
          </a:prstGeom>
          <a:noFill/>
          <a:ln/>
        </p:spPr>
        <p:txBody>
          <a:bodyPr wrap="square" lIns="0" tIns="0" rIns="0" bIns="0" rtlCol="0" anchor="ctr"/>
          <a:lstStyle/>
          <a:p>
            <a:pPr indent="0" marL="0">
              <a:buNone/>
            </a:pPr>
            <a:r>
              <a:rPr lang="en-US" sz="1500" b="1" dirty="0">
                <a:solidFill>
                  <a:srgbClr val="E6F1FF"/>
                </a:solidFill>
                <a:latin typeface="Arial" pitchFamily="34" charset="0"/>
                <a:ea typeface="Arial" pitchFamily="34" charset="-122"/>
                <a:cs typeface="Arial" pitchFamily="34" charset="-120"/>
              </a:rPr>
              <a:t>Log analysis</a:t>
            </a:r>
            <a:endParaRPr lang="en-US" sz="1500" dirty="0"/>
          </a:p>
        </p:txBody>
      </p:sp>
      <p:sp>
        <p:nvSpPr>
          <p:cNvPr id="17" name="Text 15"/>
          <p:cNvSpPr/>
          <p:nvPr/>
        </p:nvSpPr>
        <p:spPr>
          <a:xfrm>
            <a:off x="731520" y="4389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Rules and the Isolation Forest scan access logs</a:t>
            </a:r>
            <a:endParaRPr lang="en-US" sz="1300" dirty="0"/>
          </a:p>
        </p:txBody>
      </p:sp>
      <p:sp>
        <p:nvSpPr>
          <p:cNvPr id="18" name="Shape 16"/>
          <p:cNvSpPr/>
          <p:nvPr/>
        </p:nvSpPr>
        <p:spPr>
          <a:xfrm>
            <a:off x="3383280" y="3657600"/>
            <a:ext cx="2606040" cy="1920240"/>
          </a:xfrm>
          <a:prstGeom prst="roundRect">
            <a:avLst>
              <a:gd name="adj" fmla="val 5714"/>
            </a:avLst>
          </a:prstGeom>
          <a:solidFill>
            <a:srgbClr val="13294B"/>
          </a:solidFill>
          <a:ln w="15875">
            <a:solidFill>
              <a:srgbClr val="C4B5FD"/>
            </a:solidFill>
            <a:prstDash val="dash"/>
          </a:ln>
        </p:spPr>
      </p:sp>
      <p:sp>
        <p:nvSpPr>
          <p:cNvPr id="19" name="Text 17"/>
          <p:cNvSpPr/>
          <p:nvPr/>
        </p:nvSpPr>
        <p:spPr>
          <a:xfrm>
            <a:off x="3566160" y="3794760"/>
            <a:ext cx="2286000" cy="548640"/>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Adapter (proposed)</a:t>
            </a:r>
            <a:endParaRPr lang="en-US" sz="1500" dirty="0"/>
          </a:p>
        </p:txBody>
      </p:sp>
      <p:sp>
        <p:nvSpPr>
          <p:cNvPr id="20" name="Text 18"/>
          <p:cNvSpPr/>
          <p:nvPr/>
        </p:nvSpPr>
        <p:spPr>
          <a:xfrm>
            <a:off x="3566160" y="4389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Normalises alerts to one schema</a:t>
            </a:r>
            <a:endParaRPr lang="en-US" sz="1300" dirty="0"/>
          </a:p>
        </p:txBody>
      </p:sp>
      <p:sp>
        <p:nvSpPr>
          <p:cNvPr id="21" name="Shape 19"/>
          <p:cNvSpPr/>
          <p:nvPr/>
        </p:nvSpPr>
        <p:spPr>
          <a:xfrm>
            <a:off x="6217920" y="3657600"/>
            <a:ext cx="2606040" cy="1920240"/>
          </a:xfrm>
          <a:prstGeom prst="roundRect">
            <a:avLst>
              <a:gd name="adj" fmla="val 5714"/>
            </a:avLst>
          </a:prstGeom>
          <a:solidFill>
            <a:srgbClr val="13294B"/>
          </a:solidFill>
          <a:ln w="15875">
            <a:solidFill>
              <a:srgbClr val="C4B5FD"/>
            </a:solidFill>
            <a:prstDash val="dash"/>
          </a:ln>
        </p:spPr>
      </p:sp>
      <p:sp>
        <p:nvSpPr>
          <p:cNvPr id="22" name="Text 20"/>
          <p:cNvSpPr/>
          <p:nvPr/>
        </p:nvSpPr>
        <p:spPr>
          <a:xfrm>
            <a:off x="6400800" y="3794760"/>
            <a:ext cx="2286000" cy="548640"/>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Unified view (proposed)</a:t>
            </a:r>
            <a:endParaRPr lang="en-US" sz="1500" dirty="0"/>
          </a:p>
        </p:txBody>
      </p:sp>
      <p:sp>
        <p:nvSpPr>
          <p:cNvPr id="23" name="Text 21"/>
          <p:cNvSpPr/>
          <p:nvPr/>
        </p:nvSpPr>
        <p:spPr>
          <a:xfrm>
            <a:off x="6400800" y="4389120"/>
            <a:ext cx="2286000" cy="1097280"/>
          </a:xfrm>
          <a:prstGeom prst="rect">
            <a:avLst/>
          </a:prstGeom>
          <a:noFill/>
          <a:ln/>
        </p:spPr>
        <p:txBody>
          <a:bodyPr wrap="square" lIns="0" tIns="0" rIns="0" bIns="0" rtlCol="0" anchor="t"/>
          <a:lstStyle/>
          <a:p>
            <a:pPr indent="0" marL="0">
              <a:buNone/>
            </a:pPr>
            <a:r>
              <a:rPr lang="en-US" sz="1300" dirty="0">
                <a:solidFill>
                  <a:srgbClr val="94A3B8"/>
                </a:solidFill>
                <a:latin typeface="Arial" pitchFamily="34" charset="0"/>
                <a:ea typeface="Arial" pitchFamily="34" charset="-122"/>
                <a:cs typeface="Arial" pitchFamily="34" charset="-120"/>
              </a:rPr>
              <a:t>Source, severity, evidence, time, status</a:t>
            </a:r>
            <a:endParaRPr lang="en-US" sz="1300" dirty="0"/>
          </a:p>
        </p:txBody>
      </p:sp>
      <p:sp>
        <p:nvSpPr>
          <p:cNvPr id="24" name="Text 22"/>
          <p:cNvSpPr/>
          <p:nvPr/>
        </p:nvSpPr>
        <p:spPr>
          <a:xfrm>
            <a:off x="548640" y="6126480"/>
            <a:ext cx="10972800" cy="365760"/>
          </a:xfrm>
          <a:prstGeom prst="rect">
            <a:avLst/>
          </a:prstGeom>
          <a:noFill/>
          <a:ln/>
        </p:spPr>
        <p:txBody>
          <a:bodyPr wrap="square" lIns="0" tIns="0" rIns="0" bIns="0" rtlCol="0" anchor="ctr"/>
          <a:lstStyle/>
          <a:p>
            <a:pPr indent="0" marL="0">
              <a:buNone/>
            </a:pPr>
            <a:r>
              <a:rPr lang="en-US" sz="1300" i="1" dirty="0">
                <a:solidFill>
                  <a:srgbClr val="94A3B8"/>
                </a:solidFill>
                <a:latin typeface="Arial" pitchFamily="34" charset="0"/>
                <a:ea typeface="Arial" pitchFamily="34" charset="-122"/>
                <a:cs typeface="Arial" pitchFamily="34" charset="-120"/>
              </a:rPr>
              <a:t>Solid: implemented in code. Dashed: proposed.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Evaluation and testing</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2011680"/>
                <a:gridCol w="1188720"/>
                <a:gridCol w="914400"/>
                <a:gridCol w="868680"/>
                <a:gridCol w="868680"/>
              </a:tblGrid>
              <a:tr h="457200">
                <a:tc>
                  <a:txBody>
                    <a:bodyPr/>
                    <a:lstStyle/>
                    <a:p>
                      <a:pPr indent="0" marL="0">
                        <a:buNone/>
                      </a:pPr>
                      <a:r>
                        <a:rPr lang="en-US" sz="1400" b="1" dirty="0">
                          <a:solidFill>
                            <a:srgbClr val="22D3EE"/>
                          </a:solidFill>
                          <a:latin typeface="Arial" pitchFamily="34" charset="0"/>
                          <a:ea typeface="Arial" pitchFamily="34" charset="-122"/>
                          <a:cs typeface="Arial" pitchFamily="34" charset="-120"/>
                        </a:rPr>
                        <a:t>Method</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Precision</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Recall</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F1</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FPR</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Rules only</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0.68</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0.81</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Isolation Forest only</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0.61</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0.75</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r h="457200">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Hybrid detection</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0.91</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0.96</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c>
                  <a:txBody>
                    <a:bodyPr/>
                    <a:lstStyle/>
                    <a:p>
                      <a:pPr algn="ctr" indent="0" marL="0">
                        <a:buNone/>
                      </a:pPr>
                      <a:r>
                        <a:rPr lang="en-US" sz="1400" dirty="0">
                          <a:solidFill>
                            <a:srgbClr val="E6F1FF"/>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91440" marR="91440" marT="45720" marB="45720">
                    <a:lnL w="12700" cap="flat" cmpd="sng" algn="ctr">
                      <a:solidFill>
                        <a:srgbClr val="1E3A66"/>
                      </a:solidFill>
                      <a:prstDash val="solid"/>
                      <a:round/>
                      <a:headEnd type="none" w="med" len="med"/>
                      <a:tailEnd type="none" w="med" len="med"/>
                    </a:lnL>
                    <a:lnR w="12700" cap="flat" cmpd="sng" algn="ctr">
                      <a:solidFill>
                        <a:srgbClr val="1E3A66"/>
                      </a:solidFill>
                      <a:prstDash val="solid"/>
                      <a:round/>
                      <a:headEnd type="none" w="med" len="med"/>
                      <a:tailEnd type="none" w="med" len="med"/>
                    </a:lnR>
                    <a:lnT w="12700" cap="flat" cmpd="sng" algn="ctr">
                      <a:solidFill>
                        <a:srgbClr val="1E3A66"/>
                      </a:solidFill>
                      <a:prstDash val="solid"/>
                      <a:round/>
                      <a:headEnd type="none" w="med" len="med"/>
                      <a:tailEnd type="none" w="med" len="med"/>
                    </a:lnT>
                    <a:lnB w="12700" cap="flat" cmpd="sng" algn="ctr">
                      <a:solidFill>
                        <a:srgbClr val="1E3A66"/>
                      </a:solidFill>
                      <a:prstDash val="solid"/>
                      <a:round/>
                      <a:headEnd type="none" w="med" len="med"/>
                      <a:tailEnd type="none" w="med" len="med"/>
                    </a:lnB>
                    <a:solidFill>
                      <a:srgbClr val="13294B"/>
                    </a:solidFill>
                  </a:tcPr>
                </a:tc>
              </a:tr>
            </a:tbl>
          </a:graphicData>
        </a:graphic>
      </p:graphicFrame>
      <p:sp>
        <p:nvSpPr>
          <p:cNvPr id="4" name="Text 1"/>
          <p:cNvSpPr/>
          <p:nvPr/>
        </p:nvSpPr>
        <p:spPr>
          <a:xfrm>
            <a:off x="548640" y="3566160"/>
            <a:ext cx="5852160" cy="822960"/>
          </a:xfrm>
          <a:prstGeom prst="rect">
            <a:avLst/>
          </a:prstGeom>
          <a:noFill/>
          <a:ln/>
        </p:spPr>
        <p:txBody>
          <a:bodyPr wrap="square" lIns="0" tIns="0" rIns="0" bIns="0" rtlCol="0" anchor="ctr"/>
          <a:lstStyle/>
          <a:p>
            <a:pPr indent="0" marL="0">
              <a:buNone/>
            </a:pPr>
            <a:r>
              <a:rPr lang="en-US" sz="1300" i="1" dirty="0">
                <a:solidFill>
                  <a:srgbClr val="94A3B8"/>
                </a:solidFill>
                <a:latin typeface="Arial" pitchFamily="34" charset="0"/>
                <a:ea typeface="Arial" pitchFamily="34" charset="-122"/>
                <a:cs typeface="Arial" pitchFamily="34" charset="-120"/>
              </a:rPr>
              <a:t>Reported on simulated data: 61 normal and 81 attack windows. Results may vary and do not establish production performance.</a:t>
            </a:r>
            <a:endParaRPr lang="en-US" sz="1300" dirty="0"/>
          </a:p>
        </p:txBody>
      </p:sp>
      <p:sp>
        <p:nvSpPr>
          <p:cNvPr id="5" name="Shape 2"/>
          <p:cNvSpPr/>
          <p:nvPr/>
        </p:nvSpPr>
        <p:spPr>
          <a:xfrm>
            <a:off x="6766560" y="1371600"/>
            <a:ext cx="4846320" cy="3017520"/>
          </a:xfrm>
          <a:prstGeom prst="roundRect">
            <a:avLst>
              <a:gd name="adj" fmla="val 3636"/>
            </a:avLst>
          </a:prstGeom>
          <a:solidFill>
            <a:srgbClr val="13294B"/>
          </a:solidFill>
          <a:ln w="15875">
            <a:solidFill>
              <a:srgbClr val="22D3EE"/>
            </a:solidFill>
            <a:prstDash val="solid"/>
          </a:ln>
        </p:spPr>
      </p:sp>
      <p:sp>
        <p:nvSpPr>
          <p:cNvPr id="6" name="Text 3"/>
          <p:cNvSpPr/>
          <p:nvPr/>
        </p:nvSpPr>
        <p:spPr>
          <a:xfrm>
            <a:off x="7040880" y="1508760"/>
            <a:ext cx="4389120" cy="457200"/>
          </a:xfrm>
          <a:prstGeom prst="rect">
            <a:avLst/>
          </a:prstGeom>
          <a:noFill/>
          <a:ln/>
        </p:spPr>
        <p:txBody>
          <a:bodyPr wrap="square" lIns="0" tIns="0" rIns="0" bIns="0" rtlCol="0" anchor="ctr"/>
          <a:lstStyle/>
          <a:p>
            <a:pPr indent="0" marL="0">
              <a:buNone/>
            </a:pPr>
            <a:r>
              <a:rPr lang="en-US" sz="1700" b="1" dirty="0">
                <a:solidFill>
                  <a:srgbClr val="22D3EE"/>
                </a:solidFill>
                <a:latin typeface="Arial" pitchFamily="34" charset="0"/>
                <a:ea typeface="Arial" pitchFamily="34" charset="-122"/>
                <a:cs typeface="Arial" pitchFamily="34" charset="-120"/>
              </a:rPr>
              <a:t>Runtime security test coverage</a:t>
            </a:r>
            <a:endParaRPr lang="en-US" sz="1700" dirty="0"/>
          </a:p>
        </p:txBody>
      </p:sp>
      <p:sp>
        <p:nvSpPr>
          <p:cNvPr id="7" name="Text 4"/>
          <p:cNvSpPr/>
          <p:nvPr/>
        </p:nvSpPr>
        <p:spPr>
          <a:xfrm>
            <a:off x="7040880" y="2011680"/>
            <a:ext cx="448056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Rate-limit boundary and incident creation</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Path-scan boundary and deduplication</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Brute-force boundary</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Replay nonce reservation and stale timestamps</a:t>
            </a:r>
            <a:endParaRPr lang="en-US" sz="1400" dirty="0"/>
          </a:p>
          <a:p>
            <a:pPr marL="342900" indent="-342900">
              <a:spcAft>
                <a:spcPts val="600"/>
              </a:spcAft>
              <a:buSzPct val="100000"/>
              <a:buChar char="•"/>
            </a:pPr>
            <a:r>
              <a:rPr lang="en-US" sz="1400" dirty="0">
                <a:solidFill>
                  <a:srgbClr val="E6F1FF"/>
                </a:solidFill>
                <a:latin typeface="Arial" pitchFamily="34" charset="0"/>
                <a:ea typeface="Arial" pitchFamily="34" charset="-122"/>
                <a:cs typeface="Arial" pitchFamily="34" charset="-120"/>
              </a:rPr>
              <a:t>Query redaction, Redis outages, proxy 502s</a:t>
            </a:r>
            <a:endParaRPr lang="en-US" sz="1400" dirty="0"/>
          </a:p>
        </p:txBody>
      </p:sp>
      <p:sp>
        <p:nvSpPr>
          <p:cNvPr id="8" name="Text 5"/>
          <p:cNvSpPr/>
          <p:nvPr/>
        </p:nvSpPr>
        <p:spPr>
          <a:xfrm>
            <a:off x="548640" y="4937760"/>
            <a:ext cx="11064240" cy="82296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Deployment is described by its code paths: build execution, output detection, artifact upload and log streaming. No success rate is claimed.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E6F1FF"/>
                </a:solidFill>
                <a:latin typeface="Arial" pitchFamily="34" charset="0"/>
                <a:ea typeface="Arial" pitchFamily="34" charset="-122"/>
                <a:cs typeface="Arial" pitchFamily="34" charset="-120"/>
              </a:rPr>
              <a:t>Limitations, integration plan and future scope</a:t>
            </a:r>
            <a:endParaRPr lang="en-US" sz="3400" dirty="0"/>
          </a:p>
        </p:txBody>
      </p:sp>
      <p:sp>
        <p:nvSpPr>
          <p:cNvPr id="3" name="Shape 1"/>
          <p:cNvSpPr/>
          <p:nvPr/>
        </p:nvSpPr>
        <p:spPr>
          <a:xfrm>
            <a:off x="548640" y="1371600"/>
            <a:ext cx="5303520" cy="4754880"/>
          </a:xfrm>
          <a:prstGeom prst="roundRect">
            <a:avLst>
              <a:gd name="adj" fmla="val 2308"/>
            </a:avLst>
          </a:prstGeom>
          <a:solidFill>
            <a:srgbClr val="13294B"/>
          </a:solidFill>
          <a:ln w="15875">
            <a:solidFill>
              <a:srgbClr val="94A3B8"/>
            </a:solidFill>
            <a:prstDash val="solid"/>
          </a:ln>
        </p:spPr>
      </p:sp>
      <p:sp>
        <p:nvSpPr>
          <p:cNvPr id="4" name="Text 2"/>
          <p:cNvSpPr/>
          <p:nvPr/>
        </p:nvSpPr>
        <p:spPr>
          <a:xfrm>
            <a:off x="822960" y="1554480"/>
            <a:ext cx="4754880" cy="457200"/>
          </a:xfrm>
          <a:prstGeom prst="rect">
            <a:avLst/>
          </a:prstGeom>
          <a:noFill/>
          <a:ln/>
        </p:spPr>
        <p:txBody>
          <a:bodyPr wrap="square" lIns="0" tIns="0" rIns="0" bIns="0" rtlCol="0" anchor="ctr"/>
          <a:lstStyle/>
          <a:p>
            <a:pPr indent="0" marL="0">
              <a:buNone/>
            </a:pPr>
            <a:r>
              <a:rPr lang="en-US" sz="2000" b="1" dirty="0">
                <a:solidFill>
                  <a:srgbClr val="E6F1FF"/>
                </a:solidFill>
                <a:latin typeface="Arial" pitchFamily="34" charset="0"/>
                <a:ea typeface="Arial" pitchFamily="34" charset="-122"/>
                <a:cs typeface="Arial" pitchFamily="34" charset="-120"/>
              </a:rPr>
              <a:t>Current limitations</a:t>
            </a:r>
            <a:endParaRPr lang="en-US" sz="2000" dirty="0"/>
          </a:p>
        </p:txBody>
      </p:sp>
      <p:sp>
        <p:nvSpPr>
          <p:cNvPr id="5" name="Text 3"/>
          <p:cNvSpPr/>
          <p:nvPr/>
        </p:nvSpPr>
        <p:spPr>
          <a:xfrm>
            <a:off x="822960" y="2103120"/>
            <a:ext cx="4846320" cy="3840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6F1FF"/>
                </a:solidFill>
                <a:latin typeface="Arial" pitchFamily="34" charset="0"/>
                <a:ea typeface="Arial" pitchFamily="34" charset="-122"/>
                <a:cs typeface="Arial" pitchFamily="34" charset="-120"/>
              </a:rPr>
              <a:t>Evaluation uses simulated traffic and a small dataset</a:t>
            </a:r>
            <a:endParaRPr lang="en-US" sz="1500" dirty="0"/>
          </a:p>
          <a:p>
            <a:pPr marL="342900" indent="-342900">
              <a:spcAft>
                <a:spcPts val="600"/>
              </a:spcAft>
              <a:buSzPct val="100000"/>
              <a:buChar char="•"/>
            </a:pPr>
            <a:r>
              <a:rPr lang="en-US" sz="1500" dirty="0">
                <a:solidFill>
                  <a:srgbClr val="E6F1FF"/>
                </a:solidFill>
                <a:latin typeface="Arial" pitchFamily="34" charset="0"/>
                <a:ea typeface="Arial" pitchFamily="34" charset="-122"/>
                <a:cs typeface="Arial" pitchFamily="34" charset="-120"/>
              </a:rPr>
              <a:t>Detection pipelines and alert formats differ</a:t>
            </a:r>
            <a:endParaRPr lang="en-US" sz="1500" dirty="0"/>
          </a:p>
          <a:p>
            <a:pPr marL="342900" indent="-342900">
              <a:spcAft>
                <a:spcPts val="600"/>
              </a:spcAft>
              <a:buSzPct val="100000"/>
              <a:buChar char="•"/>
            </a:pPr>
            <a:r>
              <a:rPr lang="en-US" sz="1500" dirty="0">
                <a:solidFill>
                  <a:srgbClr val="E6F1FF"/>
                </a:solidFill>
                <a:latin typeface="Arial" pitchFamily="34" charset="0"/>
                <a:ea typeface="Arial" pitchFamily="34" charset="-122"/>
                <a:cs typeface="Arial" pitchFamily="34" charset="-120"/>
              </a:rPr>
              <a:t>Incidents are kept in a bounded Redis stream; no durable store yet</a:t>
            </a:r>
            <a:endParaRPr lang="en-US" sz="1500" dirty="0"/>
          </a:p>
          <a:p>
            <a:pPr marL="342900" indent="-342900">
              <a:spcAft>
                <a:spcPts val="600"/>
              </a:spcAft>
              <a:buSzPct val="100000"/>
              <a:buChar char="•"/>
            </a:pPr>
            <a:r>
              <a:rPr lang="en-US" sz="1500" dirty="0">
                <a:solidFill>
                  <a:srgbClr val="E6F1FF"/>
                </a:solidFill>
                <a:latin typeface="Arial" pitchFamily="34" charset="0"/>
                <a:ea typeface="Arial" pitchFamily="34" charset="-122"/>
                <a:cs typeface="Arial" pitchFamily="34" charset="-120"/>
              </a:rPr>
              <a:t>No shared alert store, normalised schema or unified dashboard</a:t>
            </a:r>
            <a:endParaRPr lang="en-US" sz="1500" dirty="0"/>
          </a:p>
        </p:txBody>
      </p:sp>
      <p:sp>
        <p:nvSpPr>
          <p:cNvPr id="6" name="Shape 4"/>
          <p:cNvSpPr/>
          <p:nvPr/>
        </p:nvSpPr>
        <p:spPr>
          <a:xfrm>
            <a:off x="6309360" y="1371600"/>
            <a:ext cx="5303520" cy="4754880"/>
          </a:xfrm>
          <a:prstGeom prst="roundRect">
            <a:avLst>
              <a:gd name="adj" fmla="val 2308"/>
            </a:avLst>
          </a:prstGeom>
          <a:solidFill>
            <a:srgbClr val="13294B"/>
          </a:solidFill>
          <a:ln w="15875">
            <a:solidFill>
              <a:srgbClr val="8B5CF6"/>
            </a:solidFill>
            <a:prstDash val="solid"/>
          </a:ln>
        </p:spPr>
      </p:sp>
      <p:sp>
        <p:nvSpPr>
          <p:cNvPr id="7" name="Text 5"/>
          <p:cNvSpPr/>
          <p:nvPr/>
        </p:nvSpPr>
        <p:spPr>
          <a:xfrm>
            <a:off x="6583680" y="1554480"/>
            <a:ext cx="4754880" cy="45720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Proposed roadmap</a:t>
            </a:r>
            <a:endParaRPr lang="en-US" sz="2000" dirty="0"/>
          </a:p>
        </p:txBody>
      </p:sp>
      <p:sp>
        <p:nvSpPr>
          <p:cNvPr id="8" name="Text 6"/>
          <p:cNvSpPr/>
          <p:nvPr/>
        </p:nvSpPr>
        <p:spPr>
          <a:xfrm>
            <a:off x="6583680" y="2103120"/>
            <a:ext cx="4846320" cy="3840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Define a common event and incident schema</a:t>
            </a:r>
            <a:endParaRPr lang="en-US" sz="1500" dirty="0"/>
          </a:p>
          <a:p>
            <a:pPr marL="342900" indent="-342900">
              <a:spcAft>
                <a:spcPts val="600"/>
              </a:spcAft>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Add a log adapter that feeds access logs to log analysis</a:t>
            </a:r>
            <a:endParaRPr lang="en-US" sz="1500" dirty="0"/>
          </a:p>
          <a:p>
            <a:pPr marL="342900" indent="-342900">
              <a:spcAft>
                <a:spcPts val="600"/>
              </a:spcAft>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Normalise rule and ML alerts</a:t>
            </a:r>
            <a:endParaRPr lang="en-US" sz="1500" dirty="0"/>
          </a:p>
          <a:p>
            <a:pPr marL="342900" indent="-342900">
              <a:spcAft>
                <a:spcPts val="600"/>
              </a:spcAft>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Add shared alert storage and project mapping</a:t>
            </a:r>
            <a:endParaRPr lang="en-US" sz="1500" dirty="0"/>
          </a:p>
          <a:p>
            <a:pPr marL="342900" indent="-342900">
              <a:spcAft>
                <a:spcPts val="600"/>
              </a:spcAft>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Build one dashboard with deployment and security views</a:t>
            </a:r>
            <a:endParaRPr lang="en-US" sz="1500" dirty="0"/>
          </a:p>
          <a:p>
            <a:pPr marL="342900" indent="-342900">
              <a:buSzPct val="100000"/>
              <a:buFont typeface="+mj-lt"/>
              <a:buAutoNum type="arabicPeriod" startAt="1"/>
            </a:pPr>
            <a:r>
              <a:rPr lang="en-US" sz="1500" dirty="0">
                <a:solidFill>
                  <a:srgbClr val="E6F1FF"/>
                </a:solidFill>
                <a:latin typeface="Arial" pitchFamily="34" charset="0"/>
                <a:ea typeface="Arial" pitchFamily="34" charset="-122"/>
                <a:cs typeface="Arial" pitchFamily="34" charset="-120"/>
              </a:rPr>
              <a:t>Add integration tests, authentication and production hardening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731520" y="1097280"/>
            <a:ext cx="10698480" cy="1828800"/>
          </a:xfrm>
          <a:prstGeom prst="rect">
            <a:avLst/>
          </a:prstGeom>
          <a:noFill/>
          <a:ln/>
        </p:spPr>
        <p:txBody>
          <a:bodyPr wrap="square" lIns="0" tIns="0" rIns="0" bIns="0" rtlCol="0" anchor="ctr"/>
          <a:lstStyle/>
          <a:p>
            <a:pPr indent="0" marL="0">
              <a:buNone/>
            </a:pPr>
            <a:r>
              <a:rPr lang="en-US" sz="2600" i="1" dirty="0">
                <a:solidFill>
                  <a:srgbClr val="E6F1FF"/>
                </a:solidFill>
                <a:latin typeface="Arial" pitchFamily="34" charset="0"/>
                <a:ea typeface="Arial" pitchFamily="34" charset="-122"/>
                <a:cs typeface="Arial" pitchFamily="34" charset="-120"/>
              </a:rPr>
              <a:t>“Automated deployment provides the foundation, runtime security provides immediate request-level protection, and hybrid intrusion detection adds log-based anomaly analysis.”</a:t>
            </a:r>
            <a:endParaRPr lang="en-US" sz="2600" dirty="0"/>
          </a:p>
        </p:txBody>
      </p:sp>
      <p:sp>
        <p:nvSpPr>
          <p:cNvPr id="3" name="Text 1"/>
          <p:cNvSpPr/>
          <p:nvPr/>
        </p:nvSpPr>
        <p:spPr>
          <a:xfrm>
            <a:off x="731520" y="3291840"/>
            <a:ext cx="10698480" cy="9144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Contributions: cloud infrastructure · deployment automation · cybersecurity · machine learning · API development · real-time messaging · observability</a:t>
            </a:r>
            <a:endParaRPr lang="en-US" sz="1600" dirty="0"/>
          </a:p>
        </p:txBody>
      </p:sp>
      <p:sp>
        <p:nvSpPr>
          <p:cNvPr id="4" name="Text 2"/>
          <p:cNvSpPr/>
          <p:nvPr/>
        </p:nvSpPr>
        <p:spPr>
          <a:xfrm>
            <a:off x="731520" y="4480560"/>
            <a:ext cx="10698480" cy="457200"/>
          </a:xfrm>
          <a:prstGeom prst="rect">
            <a:avLst/>
          </a:prstGeom>
          <a:noFill/>
          <a:ln/>
        </p:spPr>
        <p:txBody>
          <a:bodyPr wrap="square" lIns="0" tIns="0" rIns="0" bIns="0" rtlCol="0" anchor="ctr"/>
          <a:lstStyle/>
          <a:p>
            <a:pPr indent="0" marL="0">
              <a:buNone/>
            </a:pPr>
            <a:r>
              <a:rPr lang="en-US" sz="1400" dirty="0">
                <a:solidFill>
                  <a:srgbClr val="22D3EE"/>
                </a:solidFill>
                <a:latin typeface="Arial" pitchFamily="34" charset="0"/>
                <a:ea typeface="Arial" pitchFamily="34" charset="-122"/>
                <a:cs typeface="Arial" pitchFamily="34" charset="-120"/>
              </a:rPr>
              <a:t>Hybrid log analysis source: https://github.com/ShashankSharma-hash/NIDAMS</a:t>
            </a:r>
            <a:endParaRPr lang="en-US" sz="1400" dirty="0"/>
          </a:p>
        </p:txBody>
      </p:sp>
      <p:sp>
        <p:nvSpPr>
          <p:cNvPr id="5" name="Text 3"/>
          <p:cNvSpPr/>
          <p:nvPr/>
        </p:nvSpPr>
        <p:spPr>
          <a:xfrm>
            <a:off x="731520" y="5303520"/>
            <a:ext cx="10698480" cy="822960"/>
          </a:xfrm>
          <a:prstGeom prst="rect">
            <a:avLst/>
          </a:prstGeom>
          <a:noFill/>
          <a:ln/>
        </p:spPr>
        <p:txBody>
          <a:bodyPr wrap="square" lIns="0" tIns="0" rIns="0" bIns="0" rtlCol="0" anchor="ctr"/>
          <a:lstStyle/>
          <a:p>
            <a:pPr indent="0" marL="0">
              <a:buNone/>
            </a:pPr>
            <a:r>
              <a:rPr lang="en-US" sz="3600" b="1" dirty="0">
                <a:solidFill>
                  <a:srgbClr val="C4B5FD"/>
                </a:solidFill>
                <a:latin typeface="Arial" pitchFamily="34" charset="0"/>
                <a:ea typeface="Arial" pitchFamily="34" charset="-122"/>
                <a:cs typeface="Arial" pitchFamily="34" charset="-120"/>
              </a:rPr>
              <a:t>Questions &amp; Answers</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Intrusion Detection System (NIDS)</dc:title>
  <dc:subject>PptxGenJS Presentation</dc:subject>
  <dc:creator>PptxGenJS</dc:creator>
  <cp:lastModifiedBy>PptxGenJS</cp:lastModifiedBy>
  <cp:revision>1</cp:revision>
  <dcterms:created xsi:type="dcterms:W3CDTF">2026-10-28T04:01:54Z</dcterms:created>
  <dcterms:modified xsi:type="dcterms:W3CDTF">2026-10-28T04:01:54Z</dcterms:modified>
</cp:coreProperties>
</file>
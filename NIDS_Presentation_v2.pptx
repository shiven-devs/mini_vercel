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F1FF"/>
                </a:solidFill>
                <a:latin typeface="Arial"/>
              </a:defRPr>
            </a:pPr>
            <a:r>
              <a:rPr sz="1400" b="0" i="0" u="none" strike="noStrike">
                <a:solidFill>
                  <a:srgbClr val="E6F1FF"/>
                </a:solidFill>
                <a:latin typeface="Arial"/>
              </a:rPr>
              <a:t>Overall recall</a:t>
            </a:r>
          </a:p>
        </c:rich>
      </c:tx>
      <c:layout/>
      <c:overlay val="0"/>
    </c:title>
    <c:autoTitleDeleted val="0"/>
    <c:plotArea>
      <c:layout/>
      <c:barChart>
        <c:barDir val="col"/>
        <c:grouping val="clustered"/>
        <c:varyColors val="0"/>
        <c:ser>
          <c:idx val="0"/>
          <c:order val="0"/>
          <c:tx>
            <c:strRef>
              <c:f>Sheet1!$B$1</c:f>
              <c:strCache>
                <c:ptCount val="1"/>
                <c:pt idx="0">
                  <c:v>Recall</c:v>
                </c:pt>
              </c:strCache>
            </c:strRef>
          </c:tx>
          <c:spPr>
            <a:solidFill>
              <a:srgbClr val="22D3EE"/>
            </a:solidFill>
            <a:effectLst/>
          </c:spPr>
          <c:invertIfNegative val="0"/>
          <c:dLbls>
            <c:numFmt formatCode="0.00" sourceLinked="0"/>
            <c:txPr>
              <a:bodyPr/>
              <a:lstStyle/>
              <a:p>
                <a:pPr>
                  <a:defRPr b="0" i="0" strike="noStrike" sz="1200" u="none">
                    <a:solidFill>
                      <a:srgbClr val="E6F1FF"/>
                    </a:solidFill>
                    <a:latin typeface="Arial"/>
                  </a:defRPr>
                </a:pPr>
              </a:p>
            </c:txPr>
            <c:showLegendKey val="0"/>
            <c:showVal val="1"/>
            <c:showCatName val="0"/>
            <c:showSerName val="0"/>
            <c:showPercent val="0"/>
            <c:showBubbleSize val="0"/>
            <c:showLeaderLines val="0"/>
          </c:dLbls>
          <c:cat>
            <c:multiLvlStrRef>
              <c:f>Sheet1!$A$2:$A$4</c:f>
              <c:multiLvlStrCache>
                <c:ptCount val="3"/>
                <c:lvl>
                  <c:pt idx="0">
                    <c:v>Rules only</c:v>
                  </c:pt>
                  <c:pt idx="1">
                    <c:v>Isolation Forest</c:v>
                  </c:pt>
                  <c:pt idx="2">
                    <c:v>Hybrid</c:v>
                  </c:pt>
                </c:lvl>
              </c:multiLvlStrCache>
            </c:multiLvlStrRef>
          </c:cat>
          <c:val>
            <c:numRef>
              <c:f>Sheet1!$B$2:$B$4</c:f>
              <c:numCache>
                <c:formatCode>General</c:formatCode>
                <c:ptCount val="3"/>
                <c:pt idx="0">
                  <c:v>0.68</c:v>
                </c:pt>
                <c:pt idx="1">
                  <c:v>0.61</c:v>
                </c:pt>
                <c:pt idx="2">
                  <c:v>0.91</c:v>
                </c:pt>
              </c:numCache>
            </c:numRef>
          </c:val>
        </c:ser>
        <c:dLbls>
          <c:numFmt formatCode="0.00" sourceLinked="0"/>
          <c:txPr>
            <a:bodyPr/>
            <a:lstStyle/>
            <a:p>
              <a:pPr>
                <a:defRPr b="0" i="0" strike="noStrike" sz="1200" u="none">
                  <a:solidFill>
                    <a:srgbClr val="E6F1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1E3A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the bracketed placeholders with the USNs, batch, and guide name before the session. Presentation: 28 and 29 October 2026, 5.10 pm to 7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parts. Deployment hosts the site. Runtime security monitors each request at the proxy. Log analysis looks for patterns across traffic over time. The rest of the talk covers each part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limitations honest. The rule-based and ML results come from our own simulated traffic. The point is that each approach on its own has a blind spot, and the combination covers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first, then the five objectives. Each objective maps to a module in the architecture and to a result in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requirements are what the system does. Non-functional requirements are the quality rules it follows: privacy, bounded storage, and fail-open behaviour. Each non-functional item is in the code and in the repository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list is from the repositories. The PostgreSQL version and hardware figures are suggestions for local setup. Confirm them on your machine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in three bands. The top band is deployment: API server, ECS build task, S3, and the proxy. The middle is runtime security: Redis carries events to the Socket.IO dashboard. The bottom is log analysis. Solid arrows exist in the code. Dashed arrows are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Level 1 DFD. Four processes, four data stores, and three external entities. The arrow from the proxy to the access-log file is proposed: the proxy does not write that file today. The watchman reads the log file the victim app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proxy works per request, live. The log analysis works per IP over 60-second windows, offline. The combined workflow is a proposal. The rule thresholds are the defaults in the repository and can be changed through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owners, sites, and alerts. Owners own sites; sites produce alerts. Mapping follows the standard rule for one-to-many relationships. The alert table is the one that matters most, and it carries both rule and ML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Languages and tools are the ones in the repositories. The dataset is labelled and simulated. Say that clearly: the results describe performance on this data, not on live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short excerpts from the code. Deployment: the API launches a Fargate task. Proxy: rate limits return 429 with a Retry-After header. Log analysis: the rules run before the model, and the threshold sits at the 97th percentile of normal windows. Excerpts are shortened; the full files are in the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reported metrics from the NIDAMS evaluation file. The hybrid approach gives the highest recall with no false positives on this test set. The rule and ML results cover different attack types, which is why they complement each other. The simulated-data caveat must stay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Ten-week plan. Replace the week ranges with the actual dates for your batch. Be ready to say which tasks are finished and which are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three-part vision and the honest status: the parts exist, the combination is the next step, and the evaluation is on simulated data.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Each entry is a paper from a journal or conference. Titles were checked against the publisher pages, except the Liu &amp; Hu title, which must be confirmed. Confirm the final format against the department's required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Continued reference list. Replace bracketed names if the department asks for a different citation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822960"/>
            <a:ext cx="7315200" cy="1280160"/>
          </a:xfrm>
          <a:prstGeom prst="rect">
            <a:avLst/>
          </a:prstGeom>
          <a:noFill/>
          <a:ln/>
        </p:spPr>
        <p:txBody>
          <a:bodyPr wrap="square" lIns="0" tIns="0" rIns="0" bIns="0" rtlCol="0" anchor="ctr"/>
          <a:lstStyle/>
          <a:p>
            <a:pPr indent="0" marL="0">
              <a:buNone/>
            </a:pPr>
            <a:r>
              <a:rPr lang="en-US" sz="3800" b="1" dirty="0">
                <a:solidFill>
                  <a:srgbClr val="E6F1FF"/>
                </a:solidFill>
                <a:latin typeface="Arial" pitchFamily="34" charset="0"/>
                <a:ea typeface="Arial" pitchFamily="34" charset="-122"/>
                <a:cs typeface="Arial" pitchFamily="34" charset="-120"/>
              </a:rPr>
              <a:t>Network Intrusion Detection System (NIDS)</a:t>
            </a:r>
            <a:endParaRPr lang="en-US" sz="3800" dirty="0"/>
          </a:p>
        </p:txBody>
      </p:sp>
      <p:sp>
        <p:nvSpPr>
          <p:cNvPr id="3" name="Text 1"/>
          <p:cNvSpPr/>
          <p:nvPr/>
        </p:nvSpPr>
        <p:spPr>
          <a:xfrm>
            <a:off x="548640" y="2194560"/>
            <a:ext cx="7315200" cy="822960"/>
          </a:xfrm>
          <a:prstGeom prst="rect">
            <a:avLst/>
          </a:prstGeom>
          <a:noFill/>
          <a:ln/>
        </p:spPr>
        <p:txBody>
          <a:bodyPr wrap="square" lIns="0" tIns="0" rIns="0" bIns="0" rtlCol="0" anchor="ctr"/>
          <a:lstStyle/>
          <a:p>
            <a:pPr indent="0" marL="0">
              <a:buNone/>
            </a:pPr>
            <a:r>
              <a:rPr lang="en-US" sz="1800" dirty="0">
                <a:solidFill>
                  <a:srgbClr val="22D3EE"/>
                </a:solidFill>
                <a:latin typeface="Arial" pitchFamily="34" charset="0"/>
                <a:ea typeface="Arial" pitchFamily="34" charset="-122"/>
                <a:cs typeface="Arial" pitchFamily="34" charset="-120"/>
              </a:rPr>
              <a:t>Real-Time Attack Detection, Hybrid Intrusion Analysis, and Intelligent Security Monitoring</a:t>
            </a:r>
            <a:endParaRPr lang="en-US" sz="1800" dirty="0"/>
          </a:p>
        </p:txBody>
      </p:sp>
      <p:sp>
        <p:nvSpPr>
          <p:cNvPr id="4" name="Text 2"/>
          <p:cNvSpPr/>
          <p:nvPr/>
        </p:nvSpPr>
        <p:spPr>
          <a:xfrm>
            <a:off x="548640" y="3063240"/>
            <a:ext cx="7315200" cy="365760"/>
          </a:xfrm>
          <a:prstGeom prst="rect">
            <a:avLst/>
          </a:prstGeom>
          <a:noFill/>
          <a:ln/>
        </p:spPr>
        <p:txBody>
          <a:bodyPr wrap="square" lIns="0" tIns="0" rIns="0" bIns="0" rtlCol="0" anchor="ctr"/>
          <a:lstStyle/>
          <a:p>
            <a:pPr indent="0" marL="0">
              <a:buNone/>
            </a:pPr>
            <a:r>
              <a:rPr lang="en-US" sz="1400" dirty="0">
                <a:solidFill>
                  <a:srgbClr val="C4B5FD"/>
                </a:solidFill>
                <a:latin typeface="Arial" pitchFamily="34" charset="0"/>
                <a:ea typeface="Arial" pitchFamily="34" charset="-122"/>
                <a:cs typeface="Arial" pitchFamily="34" charset="-120"/>
              </a:rPr>
              <a:t>Mini Project Phase-II  |  2026-27</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7315200" cy="914400"/>
        </p:xfrm>
        <a:graphic>
          <a:graphicData uri="http://schemas.openxmlformats.org/drawingml/2006/table">
            <a:tbl>
              <a:tblPr/>
              <a:tblGrid>
                <a:gridCol w="3291840"/>
                <a:gridCol w="2011680"/>
                <a:gridCol w="2011680"/>
              </a:tblGrid>
              <a:tr h="384048">
                <a:tc>
                  <a:txBody>
                    <a:bodyPr/>
                    <a:lstStyle/>
                    <a:p>
                      <a:pPr indent="0" marL="0">
                        <a:buNone/>
                      </a:pPr>
                      <a:r>
                        <a:rPr lang="en-US" sz="1400" b="1" dirty="0">
                          <a:solidFill>
                            <a:srgbClr val="22D3EE"/>
                          </a:solidFill>
                          <a:latin typeface="Arial" pitchFamily="34" charset="0"/>
                          <a:ea typeface="Arial" pitchFamily="34" charset="-122"/>
                          <a:cs typeface="Arial" pitchFamily="34" charset="-120"/>
                        </a:rPr>
                        <a:t>Student</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USN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Batch</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384048">
                <a:tc>
                  <a:txBody>
                    <a:bodyPr/>
                    <a:lstStyle/>
                    <a:p>
                      <a:pPr indent="0" marL="0">
                        <a:buNone/>
                      </a:pPr>
                      <a:r>
                        <a:rPr lang="en-US" sz="1400" dirty="0">
                          <a:solidFill>
                            <a:srgbClr val="E6F1FF"/>
                          </a:solidFill>
                          <a:latin typeface="Arial" pitchFamily="34" charset="0"/>
                          <a:ea typeface="Arial" pitchFamily="34" charset="-122"/>
                          <a:cs typeface="Arial" pitchFamily="34" charset="-120"/>
                        </a:rPr>
                        <a:t>Shiven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[USN]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[Batch]</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384048">
                <a:tc>
                  <a:txBody>
                    <a:bodyPr/>
                    <a:lstStyle/>
                    <a:p>
                      <a:pPr indent="0" marL="0">
                        <a:buNone/>
                      </a:pPr>
                      <a:r>
                        <a:rPr lang="en-US" sz="1400" dirty="0">
                          <a:solidFill>
                            <a:srgbClr val="E6F1FF"/>
                          </a:solidFill>
                          <a:latin typeface="Arial" pitchFamily="34" charset="0"/>
                          <a:ea typeface="Arial" pitchFamily="34" charset="-122"/>
                          <a:cs typeface="Arial" pitchFamily="34" charset="-120"/>
                        </a:rPr>
                        <a:t>[Team member 2]</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[USN]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[Batch]</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384048">
                <a:tc>
                  <a:txBody>
                    <a:bodyPr/>
                    <a:lstStyle/>
                    <a:p>
                      <a:pPr indent="0" marL="0">
                        <a:buNone/>
                      </a:pPr>
                      <a:r>
                        <a:rPr lang="en-US" sz="1400" dirty="0">
                          <a:solidFill>
                            <a:srgbClr val="E6F1FF"/>
                          </a:solidFill>
                          <a:latin typeface="Arial" pitchFamily="34" charset="0"/>
                          <a:ea typeface="Arial" pitchFamily="34" charset="-122"/>
                          <a:cs typeface="Arial" pitchFamily="34" charset="-120"/>
                        </a:rPr>
                        <a:t>[Team member 3]</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[USN]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[Batch]</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384048">
                <a:tc>
                  <a:txBody>
                    <a:bodyPr/>
                    <a:lstStyle/>
                    <a:p>
                      <a:pPr indent="0" marL="0">
                        <a:buNone/>
                      </a:pPr>
                      <a:r>
                        <a:rPr lang="en-US" sz="1400" dirty="0">
                          <a:solidFill>
                            <a:srgbClr val="E6F1FF"/>
                          </a:solidFill>
                          <a:latin typeface="Arial" pitchFamily="34" charset="0"/>
                          <a:ea typeface="Arial" pitchFamily="34" charset="-122"/>
                          <a:cs typeface="Arial" pitchFamily="34" charset="-120"/>
                        </a:rPr>
                        <a:t>[Team member 4]</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[USN]</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[Batch]</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6" name="Text 3"/>
          <p:cNvSpPr/>
          <p:nvPr/>
        </p:nvSpPr>
        <p:spPr>
          <a:xfrm>
            <a:off x="548640" y="5577840"/>
            <a:ext cx="7498080" cy="731520"/>
          </a:xfrm>
          <a:prstGeom prst="rect">
            <a:avLst/>
          </a:prstGeom>
          <a:noFill/>
          <a:ln/>
        </p:spPr>
        <p:txBody>
          <a:bodyPr wrap="square" lIns="0" tIns="0" rIns="0" bIns="0" rtlCol="0" anchor="ctr"/>
          <a:lstStyle/>
          <a:p>
            <a:pPr indent="0" marL="0">
              <a:spcAft>
                <a:spcPts val="400"/>
              </a:spcAft>
              <a:buNone/>
            </a:pPr>
            <a:r>
              <a:rPr lang="en-US" sz="1400" dirty="0">
                <a:solidFill>
                  <a:srgbClr val="94A3B8"/>
                </a:solidFill>
                <a:latin typeface="Arial" pitchFamily="34" charset="0"/>
                <a:ea typeface="Arial" pitchFamily="34" charset="-122"/>
                <a:cs typeface="Arial" pitchFamily="34" charset="-120"/>
              </a:rPr>
              <a:t>Guide: [Guide name]</a:t>
            </a:r>
            <a:endParaRPr lang="en-US" sz="14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Department of Computer Science and Engineering, SIT Tumakuru</a:t>
            </a:r>
            <a:endParaRPr lang="en-US" sz="1400" dirty="0"/>
          </a:p>
        </p:txBody>
      </p:sp>
      <p:sp>
        <p:nvSpPr>
          <p:cNvPr id="7" name="Shape 4"/>
          <p:cNvSpPr/>
          <p:nvPr/>
        </p:nvSpPr>
        <p:spPr>
          <a:xfrm>
            <a:off x="8595360" y="822960"/>
            <a:ext cx="3108960" cy="640080"/>
          </a:xfrm>
          <a:prstGeom prst="roundRect">
            <a:avLst>
              <a:gd name="adj" fmla="val 17143"/>
            </a:avLst>
          </a:prstGeom>
          <a:solidFill>
            <a:srgbClr val="13294B"/>
          </a:solidFill>
          <a:ln w="15875">
            <a:solidFill>
              <a:srgbClr val="22D3EE"/>
            </a:solidFill>
            <a:prstDash val="solid"/>
          </a:ln>
        </p:spPr>
      </p:sp>
      <p:sp>
        <p:nvSpPr>
          <p:cNvPr id="8" name="Text 5"/>
          <p:cNvSpPr/>
          <p:nvPr/>
        </p:nvSpPr>
        <p:spPr>
          <a:xfrm>
            <a:off x="8595360" y="822960"/>
            <a:ext cx="3108960" cy="64008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Website</a:t>
            </a:r>
            <a:endParaRPr lang="en-US" sz="1800" dirty="0"/>
          </a:p>
        </p:txBody>
      </p:sp>
      <p:sp>
        <p:nvSpPr>
          <p:cNvPr id="9" name="Shape 6"/>
          <p:cNvSpPr/>
          <p:nvPr/>
        </p:nvSpPr>
        <p:spPr>
          <a:xfrm>
            <a:off x="10149840" y="1463040"/>
            <a:ext cx="0" cy="411480"/>
          </a:xfrm>
          <a:prstGeom prst="line">
            <a:avLst/>
          </a:prstGeom>
          <a:noFill/>
          <a:ln w="25400">
            <a:solidFill>
              <a:srgbClr val="22D3EE"/>
            </a:solidFill>
            <a:prstDash val="solid"/>
            <a:tailEnd type="triangle"/>
          </a:ln>
        </p:spPr>
      </p:sp>
      <p:sp>
        <p:nvSpPr>
          <p:cNvPr id="10" name="Shape 7"/>
          <p:cNvSpPr/>
          <p:nvPr/>
        </p:nvSpPr>
        <p:spPr>
          <a:xfrm>
            <a:off x="8595360" y="1874520"/>
            <a:ext cx="3108960" cy="640080"/>
          </a:xfrm>
          <a:prstGeom prst="roundRect">
            <a:avLst>
              <a:gd name="adj" fmla="val 17143"/>
            </a:avLst>
          </a:prstGeom>
          <a:solidFill>
            <a:srgbClr val="13294B"/>
          </a:solidFill>
          <a:ln w="15875">
            <a:solidFill>
              <a:srgbClr val="22D3EE"/>
            </a:solidFill>
            <a:prstDash val="solid"/>
          </a:ln>
        </p:spPr>
      </p:sp>
      <p:sp>
        <p:nvSpPr>
          <p:cNvPr id="11" name="Text 8"/>
          <p:cNvSpPr/>
          <p:nvPr/>
        </p:nvSpPr>
        <p:spPr>
          <a:xfrm>
            <a:off x="8595360" y="1874520"/>
            <a:ext cx="3108960" cy="64008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Build</a:t>
            </a:r>
            <a:endParaRPr lang="en-US" sz="1800" dirty="0"/>
          </a:p>
        </p:txBody>
      </p:sp>
      <p:sp>
        <p:nvSpPr>
          <p:cNvPr id="12" name="Shape 9"/>
          <p:cNvSpPr/>
          <p:nvPr/>
        </p:nvSpPr>
        <p:spPr>
          <a:xfrm>
            <a:off x="10149840" y="2514600"/>
            <a:ext cx="0" cy="411480"/>
          </a:xfrm>
          <a:prstGeom prst="line">
            <a:avLst/>
          </a:prstGeom>
          <a:noFill/>
          <a:ln w="25400">
            <a:solidFill>
              <a:srgbClr val="22D3EE"/>
            </a:solidFill>
            <a:prstDash val="solid"/>
            <a:tailEnd type="triangle"/>
          </a:ln>
        </p:spPr>
      </p:sp>
      <p:sp>
        <p:nvSpPr>
          <p:cNvPr id="13" name="Shape 10"/>
          <p:cNvSpPr/>
          <p:nvPr/>
        </p:nvSpPr>
        <p:spPr>
          <a:xfrm>
            <a:off x="8595360" y="2926080"/>
            <a:ext cx="3108960" cy="640080"/>
          </a:xfrm>
          <a:prstGeom prst="roundRect">
            <a:avLst>
              <a:gd name="adj" fmla="val 17143"/>
            </a:avLst>
          </a:prstGeom>
          <a:solidFill>
            <a:srgbClr val="13294B"/>
          </a:solidFill>
          <a:ln w="15875">
            <a:solidFill>
              <a:srgbClr val="22D3EE"/>
            </a:solidFill>
            <a:prstDash val="solid"/>
          </a:ln>
        </p:spPr>
      </p:sp>
      <p:sp>
        <p:nvSpPr>
          <p:cNvPr id="14" name="Text 11"/>
          <p:cNvSpPr/>
          <p:nvPr/>
        </p:nvSpPr>
        <p:spPr>
          <a:xfrm>
            <a:off x="8595360" y="2926080"/>
            <a:ext cx="3108960" cy="64008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S3</a:t>
            </a:r>
            <a:endParaRPr lang="en-US" sz="1800" dirty="0"/>
          </a:p>
        </p:txBody>
      </p:sp>
      <p:sp>
        <p:nvSpPr>
          <p:cNvPr id="15" name="Shape 12"/>
          <p:cNvSpPr/>
          <p:nvPr/>
        </p:nvSpPr>
        <p:spPr>
          <a:xfrm>
            <a:off x="10149840" y="3566160"/>
            <a:ext cx="0" cy="411480"/>
          </a:xfrm>
          <a:prstGeom prst="line">
            <a:avLst/>
          </a:prstGeom>
          <a:noFill/>
          <a:ln w="25400">
            <a:solidFill>
              <a:srgbClr val="22D3EE"/>
            </a:solidFill>
            <a:prstDash val="solid"/>
            <a:tailEnd type="triangle"/>
          </a:ln>
        </p:spPr>
      </p:sp>
      <p:sp>
        <p:nvSpPr>
          <p:cNvPr id="16" name="Shape 13"/>
          <p:cNvSpPr/>
          <p:nvPr/>
        </p:nvSpPr>
        <p:spPr>
          <a:xfrm>
            <a:off x="8595360" y="3977640"/>
            <a:ext cx="3108960" cy="640080"/>
          </a:xfrm>
          <a:prstGeom prst="roundRect">
            <a:avLst>
              <a:gd name="adj" fmla="val 17143"/>
            </a:avLst>
          </a:prstGeom>
          <a:solidFill>
            <a:srgbClr val="13294B"/>
          </a:solidFill>
          <a:ln w="15875">
            <a:solidFill>
              <a:srgbClr val="22D3EE"/>
            </a:solidFill>
            <a:prstDash val="solid"/>
          </a:ln>
        </p:spPr>
      </p:sp>
      <p:sp>
        <p:nvSpPr>
          <p:cNvPr id="17" name="Text 14"/>
          <p:cNvSpPr/>
          <p:nvPr/>
        </p:nvSpPr>
        <p:spPr>
          <a:xfrm>
            <a:off x="8595360" y="3977640"/>
            <a:ext cx="3108960" cy="64008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Proxy</a:t>
            </a:r>
            <a:endParaRPr lang="en-US" sz="1800" dirty="0"/>
          </a:p>
        </p:txBody>
      </p:sp>
      <p:sp>
        <p:nvSpPr>
          <p:cNvPr id="18" name="Shape 15"/>
          <p:cNvSpPr/>
          <p:nvPr/>
        </p:nvSpPr>
        <p:spPr>
          <a:xfrm>
            <a:off x="10149840" y="4617720"/>
            <a:ext cx="0" cy="411480"/>
          </a:xfrm>
          <a:prstGeom prst="line">
            <a:avLst/>
          </a:prstGeom>
          <a:noFill/>
          <a:ln w="25400">
            <a:solidFill>
              <a:srgbClr val="22D3EE"/>
            </a:solidFill>
            <a:prstDash val="solid"/>
            <a:tailEnd type="triangle"/>
          </a:ln>
        </p:spPr>
      </p:sp>
      <p:sp>
        <p:nvSpPr>
          <p:cNvPr id="19" name="Shape 16"/>
          <p:cNvSpPr/>
          <p:nvPr/>
        </p:nvSpPr>
        <p:spPr>
          <a:xfrm>
            <a:off x="8595360" y="5029200"/>
            <a:ext cx="3108960" cy="640080"/>
          </a:xfrm>
          <a:prstGeom prst="roundRect">
            <a:avLst>
              <a:gd name="adj" fmla="val 17143"/>
            </a:avLst>
          </a:prstGeom>
          <a:solidFill>
            <a:srgbClr val="13294B"/>
          </a:solidFill>
          <a:ln w="15875">
            <a:solidFill>
              <a:srgbClr val="8B5CF6"/>
            </a:solidFill>
            <a:prstDash val="solid"/>
          </a:ln>
        </p:spPr>
      </p:sp>
      <p:sp>
        <p:nvSpPr>
          <p:cNvPr id="20" name="Text 17"/>
          <p:cNvSpPr/>
          <p:nvPr/>
        </p:nvSpPr>
        <p:spPr>
          <a:xfrm>
            <a:off x="8595360" y="5029200"/>
            <a:ext cx="3108960" cy="64008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Monitoring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OVERVIEW</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Introduction</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a:t>
            </a:r>
            <a:endParaRPr lang="en-US" sz="1100" dirty="0"/>
          </a:p>
        </p:txBody>
      </p:sp>
      <p:sp>
        <p:nvSpPr>
          <p:cNvPr id="5" name="Text 3"/>
          <p:cNvSpPr/>
          <p:nvPr/>
        </p:nvSpPr>
        <p:spPr>
          <a:xfrm>
            <a:off x="548640" y="1325880"/>
            <a:ext cx="11064240" cy="822960"/>
          </a:xfrm>
          <a:prstGeom prst="rect">
            <a:avLst/>
          </a:prstGeom>
          <a:noFill/>
          <a:ln/>
        </p:spPr>
        <p:txBody>
          <a:bodyPr wrap="square" lIns="0" tIns="0" rIns="0" bIns="0" rtlCol="0" anchor="ctr"/>
          <a:lstStyle/>
          <a:p>
            <a:pPr indent="0" marL="0">
              <a:buNone/>
            </a:pPr>
            <a:r>
              <a:rPr lang="en-US" sz="1700" dirty="0">
                <a:solidFill>
                  <a:srgbClr val="E6F1FF"/>
                </a:solidFill>
                <a:latin typeface="Arial" pitchFamily="34" charset="0"/>
                <a:ea typeface="Arial" pitchFamily="34" charset="-122"/>
                <a:cs typeface="Arial" pitchFamily="34" charset="-120"/>
              </a:rPr>
              <a:t>A hosted web application needs two things: a way to get it live, and a way to protect it once it is public. This project provides both in one platform.</a:t>
            </a:r>
            <a:endParaRPr lang="en-US" sz="1700" dirty="0"/>
          </a:p>
        </p:txBody>
      </p:sp>
      <p:sp>
        <p:nvSpPr>
          <p:cNvPr id="6" name="Shape 4"/>
          <p:cNvSpPr/>
          <p:nvPr/>
        </p:nvSpPr>
        <p:spPr>
          <a:xfrm>
            <a:off x="548640" y="2377440"/>
            <a:ext cx="3520440" cy="3200400"/>
          </a:xfrm>
          <a:prstGeom prst="roundRect">
            <a:avLst>
              <a:gd name="adj" fmla="val 3429"/>
            </a:avLst>
          </a:prstGeom>
          <a:solidFill>
            <a:srgbClr val="13294B"/>
          </a:solidFill>
          <a:ln w="15875">
            <a:solidFill>
              <a:srgbClr val="22D3EE"/>
            </a:solidFill>
            <a:prstDash val="solid"/>
          </a:ln>
        </p:spPr>
      </p:sp>
      <p:sp>
        <p:nvSpPr>
          <p:cNvPr id="7" name="Text 5"/>
          <p:cNvSpPr/>
          <p:nvPr/>
        </p:nvSpPr>
        <p:spPr>
          <a:xfrm>
            <a:off x="822960" y="2606040"/>
            <a:ext cx="3017520" cy="45720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Deployment</a:t>
            </a:r>
            <a:endParaRPr lang="en-US" sz="2000" dirty="0"/>
          </a:p>
        </p:txBody>
      </p:sp>
      <p:sp>
        <p:nvSpPr>
          <p:cNvPr id="8" name="Text 6"/>
          <p:cNvSpPr/>
          <p:nvPr/>
        </p:nvSpPr>
        <p:spPr>
          <a:xfrm>
            <a:off x="822960" y="3200400"/>
            <a:ext cx="3017520" cy="2194560"/>
          </a:xfrm>
          <a:prstGeom prst="rect">
            <a:avLst/>
          </a:prstGeom>
          <a:noFill/>
          <a:ln/>
        </p:spPr>
        <p:txBody>
          <a:bodyPr wrap="square" lIns="0" tIns="0" rIns="0" bIns="0" rtlCol="0" anchor="t"/>
          <a:lstStyle/>
          <a:p>
            <a:pPr indent="0" marL="0">
              <a:buNone/>
            </a:pPr>
            <a:r>
              <a:rPr lang="en-US" sz="1600" dirty="0">
                <a:solidFill>
                  <a:srgbClr val="E6F1FF"/>
                </a:solidFill>
                <a:latin typeface="Arial" pitchFamily="34" charset="0"/>
                <a:ea typeface="Arial" pitchFamily="34" charset="-122"/>
                <a:cs typeface="Arial" pitchFamily="34" charset="-120"/>
              </a:rPr>
              <a:t>Accepts a Git URL, builds the site in an isolated container, and stores the output in S3 behind a reverse proxy.</a:t>
            </a:r>
            <a:endParaRPr lang="en-US" sz="1600" dirty="0"/>
          </a:p>
        </p:txBody>
      </p:sp>
      <p:sp>
        <p:nvSpPr>
          <p:cNvPr id="9" name="Shape 7"/>
          <p:cNvSpPr/>
          <p:nvPr/>
        </p:nvSpPr>
        <p:spPr>
          <a:xfrm>
            <a:off x="4297680" y="2377440"/>
            <a:ext cx="3520440" cy="3200400"/>
          </a:xfrm>
          <a:prstGeom prst="roundRect">
            <a:avLst>
              <a:gd name="adj" fmla="val 3429"/>
            </a:avLst>
          </a:prstGeom>
          <a:solidFill>
            <a:srgbClr val="13294B"/>
          </a:solidFill>
          <a:ln w="15875">
            <a:solidFill>
              <a:srgbClr val="22D3EE"/>
            </a:solidFill>
            <a:prstDash val="solid"/>
          </a:ln>
        </p:spPr>
      </p:sp>
      <p:sp>
        <p:nvSpPr>
          <p:cNvPr id="10" name="Text 8"/>
          <p:cNvSpPr/>
          <p:nvPr/>
        </p:nvSpPr>
        <p:spPr>
          <a:xfrm>
            <a:off x="4572000" y="2606040"/>
            <a:ext cx="3017520" cy="45720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Runtime security</a:t>
            </a:r>
            <a:endParaRPr lang="en-US" sz="2000" dirty="0"/>
          </a:p>
        </p:txBody>
      </p:sp>
      <p:sp>
        <p:nvSpPr>
          <p:cNvPr id="11" name="Text 9"/>
          <p:cNvSpPr/>
          <p:nvPr/>
        </p:nvSpPr>
        <p:spPr>
          <a:xfrm>
            <a:off x="4572000" y="3200400"/>
            <a:ext cx="3017520" cy="2194560"/>
          </a:xfrm>
          <a:prstGeom prst="rect">
            <a:avLst/>
          </a:prstGeom>
          <a:noFill/>
          <a:ln/>
        </p:spPr>
        <p:txBody>
          <a:bodyPr wrap="square" lIns="0" tIns="0" rIns="0" bIns="0" rtlCol="0" anchor="t"/>
          <a:lstStyle/>
          <a:p>
            <a:pPr indent="0" marL="0">
              <a:buNone/>
            </a:pPr>
            <a:r>
              <a:rPr lang="en-US" sz="1600" dirty="0">
                <a:solidFill>
                  <a:srgbClr val="E6F1FF"/>
                </a:solidFill>
                <a:latin typeface="Arial" pitchFamily="34" charset="0"/>
                <a:ea typeface="Arial" pitchFamily="34" charset="-122"/>
                <a:cs typeface="Arial" pitchFamily="34" charset="-120"/>
              </a:rPr>
              <a:t>Inspects each HTTP request at the proxy, applies rate limits and rules, and raises deduplicated incidents.</a:t>
            </a:r>
            <a:endParaRPr lang="en-US" sz="1600" dirty="0"/>
          </a:p>
        </p:txBody>
      </p:sp>
      <p:sp>
        <p:nvSpPr>
          <p:cNvPr id="12" name="Shape 10"/>
          <p:cNvSpPr/>
          <p:nvPr/>
        </p:nvSpPr>
        <p:spPr>
          <a:xfrm>
            <a:off x="8046720" y="2377440"/>
            <a:ext cx="3520440" cy="3200400"/>
          </a:xfrm>
          <a:prstGeom prst="roundRect">
            <a:avLst>
              <a:gd name="adj" fmla="val 3429"/>
            </a:avLst>
          </a:prstGeom>
          <a:solidFill>
            <a:srgbClr val="13294B"/>
          </a:solidFill>
          <a:ln w="15875">
            <a:solidFill>
              <a:srgbClr val="8B5CF6"/>
            </a:solidFill>
            <a:prstDash val="solid"/>
          </a:ln>
        </p:spPr>
      </p:sp>
      <p:sp>
        <p:nvSpPr>
          <p:cNvPr id="13" name="Text 11"/>
          <p:cNvSpPr/>
          <p:nvPr/>
        </p:nvSpPr>
        <p:spPr>
          <a:xfrm>
            <a:off x="8321040" y="2606040"/>
            <a:ext cx="3017520" cy="45720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Log analysis</a:t>
            </a:r>
            <a:endParaRPr lang="en-US" sz="2000" dirty="0"/>
          </a:p>
        </p:txBody>
      </p:sp>
      <p:sp>
        <p:nvSpPr>
          <p:cNvPr id="14" name="Text 12"/>
          <p:cNvSpPr/>
          <p:nvPr/>
        </p:nvSpPr>
        <p:spPr>
          <a:xfrm>
            <a:off x="8321040" y="3200400"/>
            <a:ext cx="3017520" cy="2194560"/>
          </a:xfrm>
          <a:prstGeom prst="rect">
            <a:avLst/>
          </a:prstGeom>
          <a:noFill/>
          <a:ln/>
        </p:spPr>
        <p:txBody>
          <a:bodyPr wrap="square" lIns="0" tIns="0" rIns="0" bIns="0" rtlCol="0" anchor="t"/>
          <a:lstStyle/>
          <a:p>
            <a:pPr indent="0" marL="0">
              <a:buNone/>
            </a:pPr>
            <a:r>
              <a:rPr lang="en-US" sz="1600" dirty="0">
                <a:solidFill>
                  <a:srgbClr val="E6F1FF"/>
                </a:solidFill>
                <a:latin typeface="Arial" pitchFamily="34" charset="0"/>
                <a:ea typeface="Arial" pitchFamily="34" charset="-122"/>
                <a:cs typeface="Arial" pitchFamily="34" charset="-120"/>
              </a:rPr>
              <a:t>Reads access logs in time windows, combines explicit rules with an Isolation Forest, and produces severity-ranked alerts.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LITERATURE SURVEY</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Literature survey (1 of 3)</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
                <a:gridCol w="2651760"/>
                <a:gridCol w="2743200"/>
                <a:gridCol w="5212080"/>
              </a:tblGrid>
              <a:tr h="822960">
                <a:tc>
                  <a:txBody>
                    <a:bodyPr/>
                    <a:lstStyle/>
                    <a:p>
                      <a:pPr indent="0" marL="0">
                        <a:buNone/>
                      </a:pPr>
                      <a:r>
                        <a:rPr lang="en-US" sz="1300" b="1" dirty="0">
                          <a:solidFill>
                            <a:srgbClr val="22D3EE"/>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Authors (year)</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Venue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Contribution</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Elsaid &amp; Binbusayyis (2024)</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Discover Applied Sciences 6:483</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Optimised Isolation Forest IDS for IIoT streams with feature selection and concept-drift handling; reports roughly 95.6%, 94.8% and 99% accuracy on NSL-KDD, UNSW-NB15 and CICIDS-2018.</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Fuhnwi, Adedoyin &amp; Agbaje (2023)</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IJACSA 14(8)</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Compared Isolation Forest and One-Class SVM on NSL-KDD with ANOVA feature selection; One-Class SVM generally outperformed Isolation Forest.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Rehman et al. (2025)</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Journal of Big Data 12:264</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Systematic review of ML-based IDS; finds common datasets have skewed classes and outdated attack coverage.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Kyryk, Pleskanka &amp; Riy (2025)</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Herald of Khmelnytskyi NU 349(2)</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Applied Isolation Forest to network traffic with SHAP explanations of feature contributions.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LITERATURE SURVEY</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Literature survey (2 of 3)</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3</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
                <a:gridCol w="2651760"/>
                <a:gridCol w="2743200"/>
                <a:gridCol w="5212080"/>
              </a:tblGrid>
              <a:tr h="822960">
                <a:tc>
                  <a:txBody>
                    <a:bodyPr/>
                    <a:lstStyle/>
                    <a:p>
                      <a:pPr indent="0" marL="0">
                        <a:buNone/>
                      </a:pPr>
                      <a:r>
                        <a:rPr lang="en-US" sz="1300" b="1" dirty="0">
                          <a:solidFill>
                            <a:srgbClr val="22D3EE"/>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Authors (year)</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Venue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Contribution</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Rehman, Nouman &amp; Hassanu (2026)</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Future Internet 18(10):511</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Hybrid per-request and per-session anomaly detection on web server logs; fixing session construction raised one branch's AUC on CSIC 2010 from 0.63 to 0.98.</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Zou, Tao &amp; Yu (2017)</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Journal of Internet Technology 18(4)</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Rule base for known web-log attacks, followed by a K-means baseline check for logs the rules miss.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Jaafar et al. (2025)</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Open International Journal of Informatics 13(2)</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Reviews signature and anomaly detection for HTTP DDoS; concludes neither is sufficient alone.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LITERATURE SURVEY</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Literature survey (3 of 3)</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4</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
                <a:gridCol w="2651760"/>
                <a:gridCol w="2743200"/>
                <a:gridCol w="5212080"/>
              </a:tblGrid>
              <a:tr h="822960">
                <a:tc>
                  <a:txBody>
                    <a:bodyPr/>
                    <a:lstStyle/>
                    <a:p>
                      <a:pPr indent="0" marL="0">
                        <a:buNone/>
                      </a:pPr>
                      <a:r>
                        <a:rPr lang="en-US" sz="1300" b="1" dirty="0">
                          <a:solidFill>
                            <a:srgbClr val="22D3EE"/>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Authors (year)</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Venue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Contribution</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Alieyan et al. (2026)</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IJASCA 18(2)</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Bayes-entropy detection of HTTP flood attacks; reports 97.14% accuracy on the ISCX dataset.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Liu &amp; Hu (2024)</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J. Computational Methods in Sciences and Engineering 24(3)</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Brute-force detection in email logs using clustering and a decision tree trained on labelled data.</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822960">
                <a:tc>
                  <a:txBody>
                    <a:bodyPr/>
                    <a:lstStyle/>
                    <a:p>
                      <a:pPr indent="0" marL="0">
                        <a:buNone/>
                      </a:pPr>
                      <a:r>
                        <a:rPr lang="en-US" sz="1300" dirty="0">
                          <a:solidFill>
                            <a:srgbClr val="E6F1FF"/>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Sureda Riera et al. (2020)</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Sustainability 12(12)</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Systematic review of anomaly detection for web attacks, screening 8,041 papers down to 88 studies.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6" name="Shape 3"/>
          <p:cNvSpPr/>
          <p:nvPr/>
        </p:nvSpPr>
        <p:spPr>
          <a:xfrm>
            <a:off x="548640" y="4572000"/>
            <a:ext cx="11064240" cy="1554480"/>
          </a:xfrm>
          <a:prstGeom prst="roundRect">
            <a:avLst>
              <a:gd name="adj" fmla="val 7059"/>
            </a:avLst>
          </a:prstGeom>
          <a:solidFill>
            <a:srgbClr val="13294B"/>
          </a:solidFill>
          <a:ln w="15875">
            <a:solidFill>
              <a:srgbClr val="8B5CF6"/>
            </a:solidFill>
            <a:prstDash val="solid"/>
          </a:ln>
        </p:spPr>
      </p:sp>
      <p:sp>
        <p:nvSpPr>
          <p:cNvPr id="7" name="Text 4"/>
          <p:cNvSpPr/>
          <p:nvPr/>
        </p:nvSpPr>
        <p:spPr>
          <a:xfrm>
            <a:off x="822960" y="4709160"/>
            <a:ext cx="10515600" cy="36576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What the review points to</a:t>
            </a:r>
            <a:endParaRPr lang="en-US" sz="1600" dirty="0"/>
          </a:p>
        </p:txBody>
      </p:sp>
      <p:sp>
        <p:nvSpPr>
          <p:cNvPr id="8" name="Text 5"/>
          <p:cNvSpPr/>
          <p:nvPr/>
        </p:nvSpPr>
        <p:spPr>
          <a:xfrm>
            <a:off x="822960" y="5120640"/>
            <a:ext cx="105156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Rules and statistical or ML detectors are usually studied separately, and each has known blind spots. Work that combines request-level rules with log-level ML for web applications is less common. This project takes that combined approach.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EXISTING SYSTEM</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Limitations of existing systems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5</a:t>
            </a:r>
            <a:endParaRPr lang="en-US" sz="1100" dirty="0"/>
          </a:p>
        </p:txBody>
      </p:sp>
      <p:sp>
        <p:nvSpPr>
          <p:cNvPr id="5" name="Shape 3"/>
          <p:cNvSpPr/>
          <p:nvPr/>
        </p:nvSpPr>
        <p:spPr>
          <a:xfrm>
            <a:off x="548640" y="1371600"/>
            <a:ext cx="5440680" cy="1371600"/>
          </a:xfrm>
          <a:prstGeom prst="roundRect">
            <a:avLst>
              <a:gd name="adj" fmla="val 8000"/>
            </a:avLst>
          </a:prstGeom>
          <a:solidFill>
            <a:srgbClr val="13294B"/>
          </a:solidFill>
          <a:ln w="15875">
            <a:solidFill>
              <a:srgbClr val="94A3B8"/>
            </a:solidFill>
            <a:prstDash val="solid"/>
          </a:ln>
        </p:spPr>
      </p:sp>
      <p:sp>
        <p:nvSpPr>
          <p:cNvPr id="6" name="Text 4"/>
          <p:cNvSpPr/>
          <p:nvPr/>
        </p:nvSpPr>
        <p:spPr>
          <a:xfrm>
            <a:off x="822960" y="1481328"/>
            <a:ext cx="4937760" cy="411480"/>
          </a:xfrm>
          <a:prstGeom prst="rect">
            <a:avLst/>
          </a:prstGeom>
          <a:noFill/>
          <a:ln/>
        </p:spPr>
        <p:txBody>
          <a:bodyPr wrap="square" lIns="0" tIns="0" rIns="0" bIns="0" rtlCol="0" anchor="ctr"/>
          <a:lstStyle/>
          <a:p>
            <a:pPr indent="0" marL="0">
              <a:buNone/>
            </a:pPr>
            <a:r>
              <a:rPr lang="en-US" sz="1600" b="1" dirty="0">
                <a:solidFill>
                  <a:srgbClr val="E6F1FF"/>
                </a:solidFill>
                <a:latin typeface="Arial" pitchFamily="34" charset="0"/>
                <a:ea typeface="Arial" pitchFamily="34" charset="-122"/>
                <a:cs typeface="Arial" pitchFamily="34" charset="-120"/>
              </a:rPr>
              <a:t>Fixed thresholds miss slow attacks</a:t>
            </a:r>
            <a:endParaRPr lang="en-US" sz="1600" dirty="0"/>
          </a:p>
        </p:txBody>
      </p:sp>
      <p:sp>
        <p:nvSpPr>
          <p:cNvPr id="7" name="Text 5"/>
          <p:cNvSpPr/>
          <p:nvPr/>
        </p:nvSpPr>
        <p:spPr>
          <a:xfrm>
            <a:off x="822960" y="1920240"/>
            <a:ext cx="4937760" cy="77724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A brute-force attempt every 15 seconds stays under typical rate limits. Rules alone reached 0.0 recall on this pattern in our simulated test.</a:t>
            </a:r>
            <a:endParaRPr lang="en-US" sz="1300" dirty="0"/>
          </a:p>
        </p:txBody>
      </p:sp>
      <p:sp>
        <p:nvSpPr>
          <p:cNvPr id="8" name="Shape 6"/>
          <p:cNvSpPr/>
          <p:nvPr/>
        </p:nvSpPr>
        <p:spPr>
          <a:xfrm>
            <a:off x="6172200" y="1371600"/>
            <a:ext cx="5440680" cy="1371600"/>
          </a:xfrm>
          <a:prstGeom prst="roundRect">
            <a:avLst>
              <a:gd name="adj" fmla="val 8000"/>
            </a:avLst>
          </a:prstGeom>
          <a:solidFill>
            <a:srgbClr val="13294B"/>
          </a:solidFill>
          <a:ln w="15875">
            <a:solidFill>
              <a:srgbClr val="94A3B8"/>
            </a:solidFill>
            <a:prstDash val="solid"/>
          </a:ln>
        </p:spPr>
      </p:sp>
      <p:sp>
        <p:nvSpPr>
          <p:cNvPr id="9" name="Text 7"/>
          <p:cNvSpPr/>
          <p:nvPr/>
        </p:nvSpPr>
        <p:spPr>
          <a:xfrm>
            <a:off x="6446520" y="1481328"/>
            <a:ext cx="4937760" cy="411480"/>
          </a:xfrm>
          <a:prstGeom prst="rect">
            <a:avLst/>
          </a:prstGeom>
          <a:noFill/>
          <a:ln/>
        </p:spPr>
        <p:txBody>
          <a:bodyPr wrap="square" lIns="0" tIns="0" rIns="0" bIns="0" rtlCol="0" anchor="ctr"/>
          <a:lstStyle/>
          <a:p>
            <a:pPr indent="0" marL="0">
              <a:buNone/>
            </a:pPr>
            <a:r>
              <a:rPr lang="en-US" sz="1600" b="1" dirty="0">
                <a:solidFill>
                  <a:srgbClr val="E6F1FF"/>
                </a:solidFill>
                <a:latin typeface="Arial" pitchFamily="34" charset="0"/>
                <a:ea typeface="Arial" pitchFamily="34" charset="-122"/>
                <a:cs typeface="Arial" pitchFamily="34" charset="-120"/>
              </a:rPr>
              <a:t>Pure ML misses other attack types</a:t>
            </a:r>
            <a:endParaRPr lang="en-US" sz="1600" dirty="0"/>
          </a:p>
        </p:txBody>
      </p:sp>
      <p:sp>
        <p:nvSpPr>
          <p:cNvPr id="10" name="Text 8"/>
          <p:cNvSpPr/>
          <p:nvPr/>
        </p:nvSpPr>
        <p:spPr>
          <a:xfrm>
            <a:off x="6446520" y="1920240"/>
            <a:ext cx="4937760" cy="77724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Isolation Forest alone reached 0.61 overall recall, and 0.0 on floods and injection in our evaluation.</a:t>
            </a:r>
            <a:endParaRPr lang="en-US" sz="1300" dirty="0"/>
          </a:p>
        </p:txBody>
      </p:sp>
      <p:sp>
        <p:nvSpPr>
          <p:cNvPr id="11" name="Shape 9"/>
          <p:cNvSpPr/>
          <p:nvPr/>
        </p:nvSpPr>
        <p:spPr>
          <a:xfrm>
            <a:off x="548640" y="2926080"/>
            <a:ext cx="5440680" cy="1371600"/>
          </a:xfrm>
          <a:prstGeom prst="roundRect">
            <a:avLst>
              <a:gd name="adj" fmla="val 8000"/>
            </a:avLst>
          </a:prstGeom>
          <a:solidFill>
            <a:srgbClr val="13294B"/>
          </a:solidFill>
          <a:ln w="15875">
            <a:solidFill>
              <a:srgbClr val="94A3B8"/>
            </a:solidFill>
            <a:prstDash val="solid"/>
          </a:ln>
        </p:spPr>
      </p:sp>
      <p:sp>
        <p:nvSpPr>
          <p:cNvPr id="12" name="Text 10"/>
          <p:cNvSpPr/>
          <p:nvPr/>
        </p:nvSpPr>
        <p:spPr>
          <a:xfrm>
            <a:off x="822960" y="3035808"/>
            <a:ext cx="4937760" cy="411480"/>
          </a:xfrm>
          <a:prstGeom prst="rect">
            <a:avLst/>
          </a:prstGeom>
          <a:noFill/>
          <a:ln/>
        </p:spPr>
        <p:txBody>
          <a:bodyPr wrap="square" lIns="0" tIns="0" rIns="0" bIns="0" rtlCol="0" anchor="ctr"/>
          <a:lstStyle/>
          <a:p>
            <a:pPr indent="0" marL="0">
              <a:buNone/>
            </a:pPr>
            <a:r>
              <a:rPr lang="en-US" sz="1600" b="1" dirty="0">
                <a:solidFill>
                  <a:srgbClr val="E6F1FF"/>
                </a:solidFill>
                <a:latin typeface="Arial" pitchFamily="34" charset="0"/>
                <a:ea typeface="Arial" pitchFamily="34" charset="-122"/>
                <a:cs typeface="Arial" pitchFamily="34" charset="-120"/>
              </a:rPr>
              <a:t>Single-layer detection</a:t>
            </a:r>
            <a:endParaRPr lang="en-US" sz="1600" dirty="0"/>
          </a:p>
        </p:txBody>
      </p:sp>
      <p:sp>
        <p:nvSpPr>
          <p:cNvPr id="13" name="Text 11"/>
          <p:cNvSpPr/>
          <p:nvPr/>
        </p:nvSpPr>
        <p:spPr>
          <a:xfrm>
            <a:off x="822960" y="3474720"/>
            <a:ext cx="4937760" cy="77724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Surveys (Jaafar et al., 2025; Rehman et al., 2025) report that signature and anomaly methods are each insufficient on their own.</a:t>
            </a:r>
            <a:endParaRPr lang="en-US" sz="1300" dirty="0"/>
          </a:p>
        </p:txBody>
      </p:sp>
      <p:sp>
        <p:nvSpPr>
          <p:cNvPr id="14" name="Shape 12"/>
          <p:cNvSpPr/>
          <p:nvPr/>
        </p:nvSpPr>
        <p:spPr>
          <a:xfrm>
            <a:off x="6172200" y="2926080"/>
            <a:ext cx="5440680" cy="1371600"/>
          </a:xfrm>
          <a:prstGeom prst="roundRect">
            <a:avLst>
              <a:gd name="adj" fmla="val 8000"/>
            </a:avLst>
          </a:prstGeom>
          <a:solidFill>
            <a:srgbClr val="13294B"/>
          </a:solidFill>
          <a:ln w="15875">
            <a:solidFill>
              <a:srgbClr val="94A3B8"/>
            </a:solidFill>
            <a:prstDash val="solid"/>
          </a:ln>
        </p:spPr>
      </p:sp>
      <p:sp>
        <p:nvSpPr>
          <p:cNvPr id="15" name="Text 13"/>
          <p:cNvSpPr/>
          <p:nvPr/>
        </p:nvSpPr>
        <p:spPr>
          <a:xfrm>
            <a:off x="6446520" y="3035808"/>
            <a:ext cx="4937760" cy="411480"/>
          </a:xfrm>
          <a:prstGeom prst="rect">
            <a:avLst/>
          </a:prstGeom>
          <a:noFill/>
          <a:ln/>
        </p:spPr>
        <p:txBody>
          <a:bodyPr wrap="square" lIns="0" tIns="0" rIns="0" bIns="0" rtlCol="0" anchor="ctr"/>
          <a:lstStyle/>
          <a:p>
            <a:pPr indent="0" marL="0">
              <a:buNone/>
            </a:pPr>
            <a:r>
              <a:rPr lang="en-US" sz="1600" b="1" dirty="0">
                <a:solidFill>
                  <a:srgbClr val="E6F1FF"/>
                </a:solidFill>
                <a:latin typeface="Arial" pitchFamily="34" charset="0"/>
                <a:ea typeface="Arial" pitchFamily="34" charset="-122"/>
                <a:cs typeface="Arial" pitchFamily="34" charset="-120"/>
              </a:rPr>
              <a:t>Build and security are separate</a:t>
            </a:r>
            <a:endParaRPr lang="en-US" sz="1600" dirty="0"/>
          </a:p>
        </p:txBody>
      </p:sp>
      <p:sp>
        <p:nvSpPr>
          <p:cNvPr id="16" name="Text 14"/>
          <p:cNvSpPr/>
          <p:nvPr/>
        </p:nvSpPr>
        <p:spPr>
          <a:xfrm>
            <a:off x="6446520" y="3474720"/>
            <a:ext cx="4937760" cy="77724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Deployment tools rarely put request-level protection and log analysis next to the build pipeline.</a:t>
            </a:r>
            <a:endParaRPr lang="en-US" sz="1300" dirty="0"/>
          </a:p>
        </p:txBody>
      </p:sp>
      <p:sp>
        <p:nvSpPr>
          <p:cNvPr id="17" name="Shape 15"/>
          <p:cNvSpPr/>
          <p:nvPr/>
        </p:nvSpPr>
        <p:spPr>
          <a:xfrm>
            <a:off x="548640" y="4480560"/>
            <a:ext cx="5440680" cy="1371600"/>
          </a:xfrm>
          <a:prstGeom prst="roundRect">
            <a:avLst>
              <a:gd name="adj" fmla="val 8000"/>
            </a:avLst>
          </a:prstGeom>
          <a:solidFill>
            <a:srgbClr val="13294B"/>
          </a:solidFill>
          <a:ln w="15875">
            <a:solidFill>
              <a:srgbClr val="94A3B8"/>
            </a:solidFill>
            <a:prstDash val="solid"/>
          </a:ln>
        </p:spPr>
      </p:sp>
      <p:sp>
        <p:nvSpPr>
          <p:cNvPr id="18" name="Text 16"/>
          <p:cNvSpPr/>
          <p:nvPr/>
        </p:nvSpPr>
        <p:spPr>
          <a:xfrm>
            <a:off x="822960" y="4590288"/>
            <a:ext cx="4937760" cy="411480"/>
          </a:xfrm>
          <a:prstGeom prst="rect">
            <a:avLst/>
          </a:prstGeom>
          <a:noFill/>
          <a:ln/>
        </p:spPr>
        <p:txBody>
          <a:bodyPr wrap="square" lIns="0" tIns="0" rIns="0" bIns="0" rtlCol="0" anchor="ctr"/>
          <a:lstStyle/>
          <a:p>
            <a:pPr indent="0" marL="0">
              <a:buNone/>
            </a:pPr>
            <a:r>
              <a:rPr lang="en-US" sz="1600" b="1" dirty="0">
                <a:solidFill>
                  <a:srgbClr val="E6F1FF"/>
                </a:solidFill>
                <a:latin typeface="Arial" pitchFamily="34" charset="0"/>
                <a:ea typeface="Arial" pitchFamily="34" charset="-122"/>
                <a:cs typeface="Arial" pitchFamily="34" charset="-120"/>
              </a:rPr>
              <a:t>Alerts are not durable</a:t>
            </a:r>
            <a:endParaRPr lang="en-US" sz="1600" dirty="0"/>
          </a:p>
        </p:txBody>
      </p:sp>
      <p:sp>
        <p:nvSpPr>
          <p:cNvPr id="19" name="Text 17"/>
          <p:cNvSpPr/>
          <p:nvPr/>
        </p:nvSpPr>
        <p:spPr>
          <a:xfrm>
            <a:off x="822960" y="5029200"/>
            <a:ext cx="4937760" cy="77724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Many prototypes keep incidents in memory, so they are lost on restart. Our current proxy keeps them in a bounded Redis stream.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PROBLEM</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Problem statement and objectives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6</a:t>
            </a:r>
            <a:endParaRPr lang="en-US" sz="1100" dirty="0"/>
          </a:p>
        </p:txBody>
      </p:sp>
      <p:sp>
        <p:nvSpPr>
          <p:cNvPr id="5" name="Shape 3"/>
          <p:cNvSpPr/>
          <p:nvPr/>
        </p:nvSpPr>
        <p:spPr>
          <a:xfrm>
            <a:off x="548640" y="1325880"/>
            <a:ext cx="11064240" cy="1234440"/>
          </a:xfrm>
          <a:prstGeom prst="roundRect">
            <a:avLst>
              <a:gd name="adj" fmla="val 8889"/>
            </a:avLst>
          </a:prstGeom>
          <a:solidFill>
            <a:srgbClr val="13294B"/>
          </a:solidFill>
          <a:ln w="15875">
            <a:solidFill>
              <a:srgbClr val="8B5CF6"/>
            </a:solidFill>
            <a:prstDash val="solid"/>
          </a:ln>
        </p:spPr>
      </p:sp>
      <p:sp>
        <p:nvSpPr>
          <p:cNvPr id="6" name="Text 4"/>
          <p:cNvSpPr/>
          <p:nvPr/>
        </p:nvSpPr>
        <p:spPr>
          <a:xfrm>
            <a:off x="822960" y="1463040"/>
            <a:ext cx="10515600" cy="1005840"/>
          </a:xfrm>
          <a:prstGeom prst="rect">
            <a:avLst/>
          </a:prstGeom>
          <a:noFill/>
          <a:ln/>
        </p:spPr>
        <p:txBody>
          <a:bodyPr wrap="square" lIns="0" tIns="0" rIns="0" bIns="0" rtlCol="0" anchor="ctr"/>
          <a:lstStyle/>
          <a:p>
            <a:pPr indent="0" marL="0">
              <a:buNone/>
            </a:pPr>
            <a:r>
              <a:rPr lang="en-US" sz="1600" dirty="0">
                <a:solidFill>
                  <a:srgbClr val="E6F1FF"/>
                </a:solidFill>
                <a:latin typeface="Arial" pitchFamily="34" charset="0"/>
                <a:ea typeface="Arial" pitchFamily="34" charset="-122"/>
                <a:cs typeface="Arial" pitchFamily="34" charset="-120"/>
              </a:rPr>
              <a:t>Problem statement: hosted web applications need automated deployment and request- and log-level intrusion detection, with alerts an operator can see. Existing tools usually cover only one of these.</a:t>
            </a:r>
            <a:endParaRPr lang="en-US" sz="1600" dirty="0"/>
          </a:p>
        </p:txBody>
      </p:sp>
      <p:sp>
        <p:nvSpPr>
          <p:cNvPr id="7" name="Text 5"/>
          <p:cNvSpPr/>
          <p:nvPr/>
        </p:nvSpPr>
        <p:spPr>
          <a:xfrm>
            <a:off x="548640" y="2788920"/>
            <a:ext cx="5486400" cy="411480"/>
          </a:xfrm>
          <a:prstGeom prst="rect">
            <a:avLst/>
          </a:prstGeom>
          <a:noFill/>
          <a:ln/>
        </p:spPr>
        <p:txBody>
          <a:bodyPr wrap="square" lIns="0" tIns="0" rIns="0" bIns="0" rtlCol="0" anchor="ctr"/>
          <a:lstStyle/>
          <a:p>
            <a:pPr indent="0" marL="0">
              <a:buNone/>
            </a:pPr>
            <a:r>
              <a:rPr lang="en-US" sz="1800" b="1" dirty="0">
                <a:solidFill>
                  <a:srgbClr val="22D3EE"/>
                </a:solidFill>
                <a:latin typeface="Arial" pitchFamily="34" charset="0"/>
                <a:ea typeface="Arial" pitchFamily="34" charset="-122"/>
                <a:cs typeface="Arial" pitchFamily="34" charset="-120"/>
              </a:rPr>
              <a:t>Objectives</a:t>
            </a:r>
            <a:endParaRPr lang="en-US" sz="1800" dirty="0"/>
          </a:p>
        </p:txBody>
      </p:sp>
      <p:sp>
        <p:nvSpPr>
          <p:cNvPr id="8" name="Text 6"/>
          <p:cNvSpPr/>
          <p:nvPr/>
        </p:nvSpPr>
        <p:spPr>
          <a:xfrm>
            <a:off x="548640" y="3246120"/>
            <a:ext cx="1106424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700" dirty="0">
                <a:solidFill>
                  <a:srgbClr val="E6F1FF"/>
                </a:solidFill>
                <a:latin typeface="Arial" pitchFamily="34" charset="0"/>
                <a:ea typeface="Arial" pitchFamily="34" charset="-122"/>
                <a:cs typeface="Arial" pitchFamily="34" charset="-120"/>
              </a:rPr>
              <a:t>Automate static-site deployment from a Git URL to S3 behind a reverse proxy</a:t>
            </a:r>
            <a:endParaRPr lang="en-US" sz="1700" dirty="0"/>
          </a:p>
          <a:p>
            <a:pPr marL="342900" indent="-342900">
              <a:spcAft>
                <a:spcPts val="800"/>
              </a:spcAft>
              <a:buSzPct val="100000"/>
              <a:buFont typeface="+mj-lt"/>
              <a:buAutoNum type="arabicPeriod" startAt="1"/>
            </a:pPr>
            <a:r>
              <a:rPr lang="en-US" sz="1700" dirty="0">
                <a:solidFill>
                  <a:srgbClr val="E6F1FF"/>
                </a:solidFill>
                <a:latin typeface="Arial" pitchFamily="34" charset="0"/>
                <a:ea typeface="Arial" pitchFamily="34" charset="-122"/>
                <a:cs typeface="Arial" pitchFamily="34" charset="-120"/>
              </a:rPr>
              <a:t>Detect HTTP flood, path scanning, brute force and signed-webhook replay at the proxy</a:t>
            </a:r>
            <a:endParaRPr lang="en-US" sz="1700" dirty="0"/>
          </a:p>
          <a:p>
            <a:pPr marL="342900" indent="-342900">
              <a:spcAft>
                <a:spcPts val="800"/>
              </a:spcAft>
              <a:buSzPct val="100000"/>
              <a:buFont typeface="+mj-lt"/>
              <a:buAutoNum type="arabicPeriod" startAt="1"/>
            </a:pPr>
            <a:r>
              <a:rPr lang="en-US" sz="1700" dirty="0">
                <a:solidFill>
                  <a:srgbClr val="E6F1FF"/>
                </a:solidFill>
                <a:latin typeface="Arial" pitchFamily="34" charset="0"/>
                <a:ea typeface="Arial" pitchFamily="34" charset="-122"/>
                <a:cs typeface="Arial" pitchFamily="34" charset="-120"/>
              </a:rPr>
              <a:t>Detect slow and multi-signal attacks from access logs with rules and Isolation Forest</a:t>
            </a:r>
            <a:endParaRPr lang="en-US" sz="1700" dirty="0"/>
          </a:p>
          <a:p>
            <a:pPr marL="342900" indent="-342900">
              <a:spcAft>
                <a:spcPts val="800"/>
              </a:spcAft>
              <a:buSzPct val="100000"/>
              <a:buFont typeface="+mj-lt"/>
              <a:buAutoNum type="arabicPeriod" startAt="1"/>
            </a:pPr>
            <a:r>
              <a:rPr lang="en-US" sz="1700" dirty="0">
                <a:solidFill>
                  <a:srgbClr val="E6F1FF"/>
                </a:solidFill>
                <a:latin typeface="Arial" pitchFamily="34" charset="0"/>
                <a:ea typeface="Arial" pitchFamily="34" charset="-122"/>
                <a:cs typeface="Arial" pitchFamily="34" charset="-120"/>
              </a:rPr>
              <a:t>Stream build logs and security incidents live to an operator dashboard</a:t>
            </a:r>
            <a:endParaRPr lang="en-US" sz="1700" dirty="0"/>
          </a:p>
          <a:p>
            <a:pPr marL="342900" indent="-342900">
              <a:spcAft>
                <a:spcPts val="800"/>
              </a:spcAft>
              <a:buSzPct val="100000"/>
              <a:buFont typeface="+mj-lt"/>
              <a:buAutoNum type="arabicPeriod" startAt="1"/>
            </a:pPr>
            <a:r>
              <a:rPr lang="en-US" sz="1700" dirty="0">
                <a:solidFill>
                  <a:srgbClr val="E6F1FF"/>
                </a:solidFill>
                <a:latin typeface="Arial" pitchFamily="34" charset="0"/>
                <a:ea typeface="Arial" pitchFamily="34" charset="-122"/>
                <a:cs typeface="Arial" pitchFamily="34" charset="-120"/>
              </a:rPr>
              <a:t>Evaluate detection on labelled traffic and state its limits plainly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REQUIREMENTS</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Requirements: functional and non-functional</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7</a:t>
            </a:r>
            <a:endParaRPr lang="en-US" sz="1100" dirty="0"/>
          </a:p>
        </p:txBody>
      </p:sp>
      <p:sp>
        <p:nvSpPr>
          <p:cNvPr id="5" name="Shape 3"/>
          <p:cNvSpPr/>
          <p:nvPr/>
        </p:nvSpPr>
        <p:spPr>
          <a:xfrm>
            <a:off x="548640" y="1325880"/>
            <a:ext cx="5440680" cy="4846320"/>
          </a:xfrm>
          <a:prstGeom prst="roundRect">
            <a:avLst>
              <a:gd name="adj" fmla="val 2264"/>
            </a:avLst>
          </a:prstGeom>
          <a:solidFill>
            <a:srgbClr val="13294B"/>
          </a:solidFill>
          <a:ln w="15875">
            <a:solidFill>
              <a:srgbClr val="22D3EE"/>
            </a:solidFill>
            <a:prstDash val="solid"/>
          </a:ln>
        </p:spPr>
      </p:sp>
      <p:sp>
        <p:nvSpPr>
          <p:cNvPr id="6" name="Text 4"/>
          <p:cNvSpPr/>
          <p:nvPr/>
        </p:nvSpPr>
        <p:spPr>
          <a:xfrm>
            <a:off x="822960" y="1463040"/>
            <a:ext cx="4846320" cy="411480"/>
          </a:xfrm>
          <a:prstGeom prst="rect">
            <a:avLst/>
          </a:prstGeom>
          <a:noFill/>
          <a:ln/>
        </p:spPr>
        <p:txBody>
          <a:bodyPr wrap="square" lIns="0" tIns="0" rIns="0" bIns="0" rtlCol="0" anchor="ctr"/>
          <a:lstStyle/>
          <a:p>
            <a:pPr indent="0" marL="0">
              <a:buNone/>
            </a:pPr>
            <a:r>
              <a:rPr lang="en-US" sz="1800" b="1" dirty="0">
                <a:solidFill>
                  <a:srgbClr val="22D3EE"/>
                </a:solidFill>
                <a:latin typeface="Arial" pitchFamily="34" charset="0"/>
                <a:ea typeface="Arial" pitchFamily="34" charset="-122"/>
                <a:cs typeface="Arial" pitchFamily="34" charset="-120"/>
              </a:rPr>
              <a:t>Functional</a:t>
            </a:r>
            <a:endParaRPr lang="en-US" sz="1800" dirty="0"/>
          </a:p>
        </p:txBody>
      </p:sp>
      <p:sp>
        <p:nvSpPr>
          <p:cNvPr id="7" name="Text 5"/>
          <p:cNvSpPr/>
          <p:nvPr/>
        </p:nvSpPr>
        <p:spPr>
          <a:xfrm>
            <a:off x="822960" y="1965960"/>
            <a:ext cx="493776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Accept a Git URL and launch a build task</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Build the site and upload output under a project prefix</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Serve each project by subdomain through the proxy</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Rate-limit requests per source IP</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Detect flood, path scan, brute force and replay</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Create deduplicated, severity-classified incidents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Stream build logs and incidents to the dashboard</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Ingest access logs; score windows; store alerts</a:t>
            </a:r>
            <a:endParaRPr lang="en-US" sz="1400" dirty="0"/>
          </a:p>
        </p:txBody>
      </p:sp>
      <p:sp>
        <p:nvSpPr>
          <p:cNvPr id="8" name="Shape 6"/>
          <p:cNvSpPr/>
          <p:nvPr/>
        </p:nvSpPr>
        <p:spPr>
          <a:xfrm>
            <a:off x="6172200" y="1325880"/>
            <a:ext cx="5440680" cy="4846320"/>
          </a:xfrm>
          <a:prstGeom prst="roundRect">
            <a:avLst>
              <a:gd name="adj" fmla="val 2264"/>
            </a:avLst>
          </a:prstGeom>
          <a:solidFill>
            <a:srgbClr val="13294B"/>
          </a:solidFill>
          <a:ln w="15875">
            <a:solidFill>
              <a:srgbClr val="8B5CF6"/>
            </a:solidFill>
            <a:prstDash val="solid"/>
          </a:ln>
        </p:spPr>
      </p:sp>
      <p:sp>
        <p:nvSpPr>
          <p:cNvPr id="9" name="Text 7"/>
          <p:cNvSpPr/>
          <p:nvPr/>
        </p:nvSpPr>
        <p:spPr>
          <a:xfrm>
            <a:off x="6446520" y="1463040"/>
            <a:ext cx="4846320" cy="411480"/>
          </a:xfrm>
          <a:prstGeom prst="rect">
            <a:avLst/>
          </a:prstGeom>
          <a:noFill/>
          <a:ln/>
        </p:spPr>
        <p:txBody>
          <a:bodyPr wrap="square" lIns="0" tIns="0" rIns="0" bIns="0" rtlCol="0" anchor="ctr"/>
          <a:lstStyle/>
          <a:p>
            <a:pPr indent="0" marL="0">
              <a:buNone/>
            </a:pPr>
            <a:r>
              <a:rPr lang="en-US" sz="1800" b="1" dirty="0">
                <a:solidFill>
                  <a:srgbClr val="C4B5FD"/>
                </a:solidFill>
                <a:latin typeface="Arial" pitchFamily="34" charset="0"/>
                <a:ea typeface="Arial" pitchFamily="34" charset="-122"/>
                <a:cs typeface="Arial" pitchFamily="34" charset="-120"/>
              </a:rPr>
              <a:t>Non-functional</a:t>
            </a:r>
            <a:endParaRPr lang="en-US" sz="1800" dirty="0"/>
          </a:p>
        </p:txBody>
      </p:sp>
      <p:sp>
        <p:nvSpPr>
          <p:cNvPr id="10" name="Text 8"/>
          <p:cNvSpPr/>
          <p:nvPr/>
        </p:nvSpPr>
        <p:spPr>
          <a:xfrm>
            <a:off x="6446520" y="1965960"/>
            <a:ext cx="493776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Thresholds set through environment variables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Bounded storage: Redis streams trimmed with MAXLEN</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Privacy: request bodies, cookies and auth headers are never recorded; sensitive query values are redacted</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Signed webhooks checked for timestamp skew and nonce reuse</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Rate limiting fails open if Redis is unavailable</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Socket rooms require a token when one is configured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REQUIREMENTS</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Requirements: software and hardware</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8</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926080"/>
                <a:gridCol w="8138160"/>
              </a:tblGrid>
              <a:tr h="548640">
                <a:tc>
                  <a:txBody>
                    <a:bodyPr/>
                    <a:lstStyle/>
                    <a:p>
                      <a:pPr indent="0" marL="0">
                        <a:buNone/>
                      </a:pPr>
                      <a:r>
                        <a:rPr lang="en-US" sz="1500" b="1" dirty="0">
                          <a:solidFill>
                            <a:srgbClr val="22D3EE"/>
                          </a:solidFill>
                          <a:latin typeface="Arial" pitchFamily="34" charset="0"/>
                          <a:ea typeface="Arial" pitchFamily="34" charset="-122"/>
                          <a:cs typeface="Arial" pitchFamily="34" charset="-120"/>
                        </a:rPr>
                        <a:t>Category</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500" b="1" dirty="0">
                          <a:solidFill>
                            <a:srgbClr val="22D3EE"/>
                          </a:solidFill>
                          <a:latin typeface="Arial" pitchFamily="34" charset="0"/>
                          <a:ea typeface="Arial" pitchFamily="34" charset="-122"/>
                          <a:cs typeface="Arial" pitchFamily="34" charset="-120"/>
                        </a:rPr>
                        <a:t>Requirement</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Runtime</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Node.js 20.12 or later (process.loadEnvFile); Python 3</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Services</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Redis (Pub/Sub and Streams); PostgreSQL 15 or later; Docker</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Cloud</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AWS account with ECS Fargate, ECR and S3 access</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Build tools</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npm, pip; Vite for the frontend</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Browser</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Any modern browser for the dashboard</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48640">
                <a:tc>
                  <a:txBody>
                    <a:bodyPr/>
                    <a:lstStyle/>
                    <a:p>
                      <a:pPr indent="0" marL="0">
                        <a:buNone/>
                      </a:pPr>
                      <a:r>
                        <a:rPr lang="en-US" sz="1500" dirty="0">
                          <a:solidFill>
                            <a:srgbClr val="E6F1FF"/>
                          </a:solidFill>
                          <a:latin typeface="Arial" pitchFamily="34" charset="0"/>
                          <a:ea typeface="Arial" pitchFamily="34" charset="-122"/>
                          <a:cs typeface="Arial" pitchFamily="34" charset="-120"/>
                        </a:rPr>
                        <a:t>Hardware (suggested)</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Laptop with 8 GB RAM and 4 cores for local development</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6" name="Text 3"/>
          <p:cNvSpPr/>
          <p:nvPr/>
        </p:nvSpPr>
        <p:spPr>
          <a:xfrm>
            <a:off x="548640" y="5577840"/>
            <a:ext cx="11064240" cy="365760"/>
          </a:xfrm>
          <a:prstGeom prst="rect">
            <a:avLst/>
          </a:prstGeom>
          <a:noFill/>
          <a:ln/>
        </p:spPr>
        <p:txBody>
          <a:bodyPr wrap="square" lIns="0" tIns="0" rIns="0" bIns="0" rtlCol="0" anchor="ctr"/>
          <a:lstStyle/>
          <a:p>
            <a:pPr indent="0" marL="0">
              <a:buNone/>
            </a:pPr>
            <a:r>
              <a:rPr lang="en-US" sz="1300" i="1" dirty="0">
                <a:solidFill>
                  <a:srgbClr val="94A3B8"/>
                </a:solidFill>
                <a:latin typeface="Arial" pitchFamily="34" charset="0"/>
                <a:ea typeface="Arial" pitchFamily="34" charset="-122"/>
                <a:cs typeface="Arial" pitchFamily="34" charset="-120"/>
              </a:rPr>
              <a:t>Hardware figures are suggested for local development, not measured limits.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SYSTEM DESIGN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System architecture</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9</a:t>
            </a:r>
            <a:endParaRPr lang="en-US" sz="1100" dirty="0"/>
          </a:p>
        </p:txBody>
      </p:sp>
      <p:pic>
        <p:nvPicPr>
          <p:cNvPr id="5" name="Image 0" descr="/tmp/claude-0/-home-claude/083e003d-52c2-51ba-b3cc-2bc1943c3d88/scratchpad/nids_arch.png">    </p:cNvPr>
          <p:cNvPicPr>
            <a:picLocks noChangeAspect="1"/>
          </p:cNvPicPr>
          <p:nvPr/>
        </p:nvPicPr>
        <p:blipFill>
          <a:blip r:embed="rId1"/>
          <a:stretch>
            <a:fillRect/>
          </a:stretch>
        </p:blipFill>
        <p:spPr>
          <a:xfrm>
            <a:off x="1097280" y="1188720"/>
            <a:ext cx="9966960" cy="56052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SYSTEM DESIGN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Data flow diagram (Level 1)</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10</a:t>
            </a:r>
            <a:endParaRPr lang="en-US" sz="1100" dirty="0"/>
          </a:p>
        </p:txBody>
      </p:sp>
      <p:sp>
        <p:nvSpPr>
          <p:cNvPr id="5" name="Shape 3"/>
          <p:cNvSpPr/>
          <p:nvPr/>
        </p:nvSpPr>
        <p:spPr>
          <a:xfrm>
            <a:off x="457200" y="1371600"/>
            <a:ext cx="2103120" cy="822960"/>
          </a:xfrm>
          <a:prstGeom prst="rect">
            <a:avLst/>
          </a:prstGeom>
          <a:solidFill>
            <a:srgbClr val="0F2340"/>
          </a:solidFill>
          <a:ln w="15875">
            <a:solidFill>
              <a:srgbClr val="94A3B8"/>
            </a:solidFill>
            <a:prstDash val="solid"/>
          </a:ln>
        </p:spPr>
      </p:sp>
      <p:sp>
        <p:nvSpPr>
          <p:cNvPr id="6" name="Text 4"/>
          <p:cNvSpPr/>
          <p:nvPr/>
        </p:nvSpPr>
        <p:spPr>
          <a:xfrm>
            <a:off x="457200" y="1371600"/>
            <a:ext cx="2103120" cy="822960"/>
          </a:xfrm>
          <a:prstGeom prst="rect">
            <a:avLst/>
          </a:prstGeom>
          <a:noFill/>
          <a:ln/>
        </p:spPr>
        <p:txBody>
          <a:bodyPr wrap="square" lIns="0" tIns="0" rIns="0" bIns="0" rtlCol="0" anchor="ctr"/>
          <a:lstStyle/>
          <a:p>
            <a:pPr algn="ctr" indent="0" marL="0">
              <a:buNone/>
            </a:pPr>
            <a:r>
              <a:rPr lang="en-US" sz="1600" b="1" dirty="0">
                <a:solidFill>
                  <a:srgbClr val="E6F1FF"/>
                </a:solidFill>
                <a:latin typeface="Arial" pitchFamily="34" charset="0"/>
                <a:ea typeface="Arial" pitchFamily="34" charset="-122"/>
                <a:cs typeface="Arial" pitchFamily="34" charset="-120"/>
              </a:rPr>
              <a:t>Developer</a:t>
            </a:r>
            <a:endParaRPr lang="en-US" sz="1600" dirty="0"/>
          </a:p>
        </p:txBody>
      </p:sp>
      <p:sp>
        <p:nvSpPr>
          <p:cNvPr id="7" name="Shape 5"/>
          <p:cNvSpPr/>
          <p:nvPr/>
        </p:nvSpPr>
        <p:spPr>
          <a:xfrm>
            <a:off x="457200" y="2834640"/>
            <a:ext cx="2103120" cy="822960"/>
          </a:xfrm>
          <a:prstGeom prst="rect">
            <a:avLst/>
          </a:prstGeom>
          <a:solidFill>
            <a:srgbClr val="0F2340"/>
          </a:solidFill>
          <a:ln w="15875">
            <a:solidFill>
              <a:srgbClr val="94A3B8"/>
            </a:solidFill>
            <a:prstDash val="solid"/>
          </a:ln>
        </p:spPr>
      </p:sp>
      <p:sp>
        <p:nvSpPr>
          <p:cNvPr id="8" name="Text 6"/>
          <p:cNvSpPr/>
          <p:nvPr/>
        </p:nvSpPr>
        <p:spPr>
          <a:xfrm>
            <a:off x="457200" y="2834640"/>
            <a:ext cx="2103120" cy="822960"/>
          </a:xfrm>
          <a:prstGeom prst="rect">
            <a:avLst/>
          </a:prstGeom>
          <a:noFill/>
          <a:ln/>
        </p:spPr>
        <p:txBody>
          <a:bodyPr wrap="square" lIns="0" tIns="0" rIns="0" bIns="0" rtlCol="0" anchor="ctr"/>
          <a:lstStyle/>
          <a:p>
            <a:pPr algn="ctr" indent="0" marL="0">
              <a:buNone/>
            </a:pPr>
            <a:r>
              <a:rPr lang="en-US" sz="1600" b="1" dirty="0">
                <a:solidFill>
                  <a:srgbClr val="E6F1FF"/>
                </a:solidFill>
                <a:latin typeface="Arial" pitchFamily="34" charset="0"/>
                <a:ea typeface="Arial" pitchFamily="34" charset="-122"/>
                <a:cs typeface="Arial" pitchFamily="34" charset="-120"/>
              </a:rPr>
              <a:t>Visitor</a:t>
            </a:r>
            <a:endParaRPr lang="en-US" sz="1600" dirty="0"/>
          </a:p>
        </p:txBody>
      </p:sp>
      <p:sp>
        <p:nvSpPr>
          <p:cNvPr id="9" name="Shape 7"/>
          <p:cNvSpPr/>
          <p:nvPr/>
        </p:nvSpPr>
        <p:spPr>
          <a:xfrm>
            <a:off x="457200" y="5577840"/>
            <a:ext cx="2103120" cy="822960"/>
          </a:xfrm>
          <a:prstGeom prst="rect">
            <a:avLst/>
          </a:prstGeom>
          <a:solidFill>
            <a:srgbClr val="0F2340"/>
          </a:solidFill>
          <a:ln w="15875">
            <a:solidFill>
              <a:srgbClr val="94A3B8"/>
            </a:solidFill>
            <a:prstDash val="solid"/>
          </a:ln>
        </p:spPr>
      </p:sp>
      <p:sp>
        <p:nvSpPr>
          <p:cNvPr id="10" name="Text 8"/>
          <p:cNvSpPr/>
          <p:nvPr/>
        </p:nvSpPr>
        <p:spPr>
          <a:xfrm>
            <a:off x="457200" y="5577840"/>
            <a:ext cx="2103120" cy="822960"/>
          </a:xfrm>
          <a:prstGeom prst="rect">
            <a:avLst/>
          </a:prstGeom>
          <a:noFill/>
          <a:ln/>
        </p:spPr>
        <p:txBody>
          <a:bodyPr wrap="square" lIns="0" tIns="0" rIns="0" bIns="0" rtlCol="0" anchor="ctr"/>
          <a:lstStyle/>
          <a:p>
            <a:pPr algn="ctr" indent="0" marL="0">
              <a:buNone/>
            </a:pPr>
            <a:r>
              <a:rPr lang="en-US" sz="1600" b="1" dirty="0">
                <a:solidFill>
                  <a:srgbClr val="E6F1FF"/>
                </a:solidFill>
                <a:latin typeface="Arial" pitchFamily="34" charset="0"/>
                <a:ea typeface="Arial" pitchFamily="34" charset="-122"/>
                <a:cs typeface="Arial" pitchFamily="34" charset="-120"/>
              </a:rPr>
              <a:t>Operator</a:t>
            </a:r>
            <a:endParaRPr lang="en-US" sz="1600" dirty="0"/>
          </a:p>
        </p:txBody>
      </p:sp>
      <p:sp>
        <p:nvSpPr>
          <p:cNvPr id="11" name="Shape 9"/>
          <p:cNvSpPr/>
          <p:nvPr/>
        </p:nvSpPr>
        <p:spPr>
          <a:xfrm>
            <a:off x="3657600" y="1371600"/>
            <a:ext cx="2651760" cy="914400"/>
          </a:xfrm>
          <a:prstGeom prst="roundRect">
            <a:avLst>
              <a:gd name="adj" fmla="val 10000"/>
            </a:avLst>
          </a:prstGeom>
          <a:solidFill>
            <a:srgbClr val="13294B"/>
          </a:solidFill>
          <a:ln w="19050">
            <a:solidFill>
              <a:srgbClr val="22D3EE"/>
            </a:solidFill>
            <a:prstDash val="solid"/>
          </a:ln>
        </p:spPr>
      </p:sp>
      <p:sp>
        <p:nvSpPr>
          <p:cNvPr id="12" name="Text 10"/>
          <p:cNvSpPr/>
          <p:nvPr/>
        </p:nvSpPr>
        <p:spPr>
          <a:xfrm>
            <a:off x="3749040" y="1444752"/>
            <a:ext cx="2468880" cy="41148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1  Deploy &amp; build</a:t>
            </a:r>
            <a:endParaRPr lang="en-US" sz="1300" dirty="0"/>
          </a:p>
        </p:txBody>
      </p:sp>
      <p:sp>
        <p:nvSpPr>
          <p:cNvPr id="13" name="Text 11"/>
          <p:cNvSpPr/>
          <p:nvPr/>
        </p:nvSpPr>
        <p:spPr>
          <a:xfrm>
            <a:off x="3749040" y="1847088"/>
            <a:ext cx="2468880" cy="36576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Git URL to S3 output</a:t>
            </a:r>
            <a:endParaRPr lang="en-US" sz="1100" dirty="0"/>
          </a:p>
        </p:txBody>
      </p:sp>
      <p:sp>
        <p:nvSpPr>
          <p:cNvPr id="14" name="Shape 12"/>
          <p:cNvSpPr/>
          <p:nvPr/>
        </p:nvSpPr>
        <p:spPr>
          <a:xfrm>
            <a:off x="3657600" y="2834640"/>
            <a:ext cx="2651760" cy="914400"/>
          </a:xfrm>
          <a:prstGeom prst="roundRect">
            <a:avLst>
              <a:gd name="adj" fmla="val 10000"/>
            </a:avLst>
          </a:prstGeom>
          <a:solidFill>
            <a:srgbClr val="13294B"/>
          </a:solidFill>
          <a:ln w="19050">
            <a:solidFill>
              <a:srgbClr val="22D3EE"/>
            </a:solidFill>
            <a:prstDash val="solid"/>
          </a:ln>
        </p:spPr>
      </p:sp>
      <p:sp>
        <p:nvSpPr>
          <p:cNvPr id="15" name="Text 13"/>
          <p:cNvSpPr/>
          <p:nvPr/>
        </p:nvSpPr>
        <p:spPr>
          <a:xfrm>
            <a:off x="3749040" y="2907792"/>
            <a:ext cx="2468880" cy="41148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2  Runtime security proxy</a:t>
            </a:r>
            <a:endParaRPr lang="en-US" sz="1300" dirty="0"/>
          </a:p>
        </p:txBody>
      </p:sp>
      <p:sp>
        <p:nvSpPr>
          <p:cNvPr id="16" name="Text 14"/>
          <p:cNvSpPr/>
          <p:nvPr/>
        </p:nvSpPr>
        <p:spPr>
          <a:xfrm>
            <a:off x="3749040" y="3310128"/>
            <a:ext cx="2468880" cy="36576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Rules and incidents</a:t>
            </a:r>
            <a:endParaRPr lang="en-US" sz="1100" dirty="0"/>
          </a:p>
        </p:txBody>
      </p:sp>
      <p:sp>
        <p:nvSpPr>
          <p:cNvPr id="17" name="Shape 15"/>
          <p:cNvSpPr/>
          <p:nvPr/>
        </p:nvSpPr>
        <p:spPr>
          <a:xfrm>
            <a:off x="3657600" y="4297680"/>
            <a:ext cx="2651760" cy="914400"/>
          </a:xfrm>
          <a:prstGeom prst="roundRect">
            <a:avLst>
              <a:gd name="adj" fmla="val 10000"/>
            </a:avLst>
          </a:prstGeom>
          <a:solidFill>
            <a:srgbClr val="13294B"/>
          </a:solidFill>
          <a:ln w="19050">
            <a:solidFill>
              <a:srgbClr val="8B5CF6"/>
            </a:solidFill>
            <a:prstDash val="solid"/>
          </a:ln>
        </p:spPr>
      </p:sp>
      <p:sp>
        <p:nvSpPr>
          <p:cNvPr id="18" name="Text 16"/>
          <p:cNvSpPr/>
          <p:nvPr/>
        </p:nvSpPr>
        <p:spPr>
          <a:xfrm>
            <a:off x="3749040" y="4370832"/>
            <a:ext cx="2468880" cy="41148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3  Log analysis</a:t>
            </a:r>
            <a:endParaRPr lang="en-US" sz="1300" dirty="0"/>
          </a:p>
        </p:txBody>
      </p:sp>
      <p:sp>
        <p:nvSpPr>
          <p:cNvPr id="19" name="Text 17"/>
          <p:cNvSpPr/>
          <p:nvPr/>
        </p:nvSpPr>
        <p:spPr>
          <a:xfrm>
            <a:off x="3749040" y="4773168"/>
            <a:ext cx="2468880" cy="36576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Windows, rules, Isolation Forest</a:t>
            </a:r>
            <a:endParaRPr lang="en-US" sz="1100" dirty="0"/>
          </a:p>
        </p:txBody>
      </p:sp>
      <p:sp>
        <p:nvSpPr>
          <p:cNvPr id="20" name="Shape 18"/>
          <p:cNvSpPr/>
          <p:nvPr/>
        </p:nvSpPr>
        <p:spPr>
          <a:xfrm>
            <a:off x="3657600" y="5577840"/>
            <a:ext cx="2651760" cy="914400"/>
          </a:xfrm>
          <a:prstGeom prst="roundRect">
            <a:avLst>
              <a:gd name="adj" fmla="val 10000"/>
            </a:avLst>
          </a:prstGeom>
          <a:solidFill>
            <a:srgbClr val="13294B"/>
          </a:solidFill>
          <a:ln w="19050">
            <a:solidFill>
              <a:srgbClr val="8B5CF6"/>
            </a:solidFill>
            <a:prstDash val="solid"/>
          </a:ln>
        </p:spPr>
      </p:sp>
      <p:sp>
        <p:nvSpPr>
          <p:cNvPr id="21" name="Text 19"/>
          <p:cNvSpPr/>
          <p:nvPr/>
        </p:nvSpPr>
        <p:spPr>
          <a:xfrm>
            <a:off x="3749040" y="5650992"/>
            <a:ext cx="2468880" cy="41148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4  Dashboard</a:t>
            </a:r>
            <a:endParaRPr lang="en-US" sz="1300" dirty="0"/>
          </a:p>
        </p:txBody>
      </p:sp>
      <p:sp>
        <p:nvSpPr>
          <p:cNvPr id="22" name="Text 20"/>
          <p:cNvSpPr/>
          <p:nvPr/>
        </p:nvSpPr>
        <p:spPr>
          <a:xfrm>
            <a:off x="3749040" y="6053328"/>
            <a:ext cx="2468880" cy="36576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Socket.IO and React views</a:t>
            </a:r>
            <a:endParaRPr lang="en-US" sz="1100" dirty="0"/>
          </a:p>
        </p:txBody>
      </p:sp>
      <p:sp>
        <p:nvSpPr>
          <p:cNvPr id="23" name="Shape 21"/>
          <p:cNvSpPr/>
          <p:nvPr/>
        </p:nvSpPr>
        <p:spPr>
          <a:xfrm>
            <a:off x="7955280" y="1371600"/>
            <a:ext cx="2651760" cy="914400"/>
          </a:xfrm>
          <a:prstGeom prst="can">
            <a:avLst/>
          </a:prstGeom>
          <a:solidFill>
            <a:srgbClr val="13294B"/>
          </a:solidFill>
          <a:ln w="15875">
            <a:solidFill>
              <a:srgbClr val="C4B5FD"/>
            </a:solidFill>
            <a:prstDash val="solid"/>
          </a:ln>
        </p:spPr>
      </p:sp>
      <p:sp>
        <p:nvSpPr>
          <p:cNvPr id="24" name="Text 22"/>
          <p:cNvSpPr/>
          <p:nvPr/>
        </p:nvSpPr>
        <p:spPr>
          <a:xfrm>
            <a:off x="7955280" y="1554480"/>
            <a:ext cx="2651760" cy="54864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D1  S3 outputs</a:t>
            </a:r>
            <a:endParaRPr lang="en-US" sz="1300" dirty="0"/>
          </a:p>
        </p:txBody>
      </p:sp>
      <p:sp>
        <p:nvSpPr>
          <p:cNvPr id="25" name="Shape 23"/>
          <p:cNvSpPr/>
          <p:nvPr/>
        </p:nvSpPr>
        <p:spPr>
          <a:xfrm>
            <a:off x="7955280" y="2834640"/>
            <a:ext cx="2651760" cy="914400"/>
          </a:xfrm>
          <a:prstGeom prst="can">
            <a:avLst/>
          </a:prstGeom>
          <a:solidFill>
            <a:srgbClr val="13294B"/>
          </a:solidFill>
          <a:ln w="15875">
            <a:solidFill>
              <a:srgbClr val="C4B5FD"/>
            </a:solidFill>
            <a:prstDash val="solid"/>
          </a:ln>
        </p:spPr>
      </p:sp>
      <p:sp>
        <p:nvSpPr>
          <p:cNvPr id="26" name="Text 24"/>
          <p:cNvSpPr/>
          <p:nvPr/>
        </p:nvSpPr>
        <p:spPr>
          <a:xfrm>
            <a:off x="7955280" y="3017520"/>
            <a:ext cx="2651760" cy="54864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D2  Redis</a:t>
            </a:r>
            <a:endParaRPr lang="en-US" sz="1300" dirty="0"/>
          </a:p>
        </p:txBody>
      </p:sp>
      <p:sp>
        <p:nvSpPr>
          <p:cNvPr id="27" name="Shape 25"/>
          <p:cNvSpPr/>
          <p:nvPr/>
        </p:nvSpPr>
        <p:spPr>
          <a:xfrm>
            <a:off x="7955280" y="4297680"/>
            <a:ext cx="2651760" cy="914400"/>
          </a:xfrm>
          <a:prstGeom prst="can">
            <a:avLst/>
          </a:prstGeom>
          <a:solidFill>
            <a:srgbClr val="13294B"/>
          </a:solidFill>
          <a:ln w="15875">
            <a:solidFill>
              <a:srgbClr val="C4B5FD"/>
            </a:solidFill>
            <a:prstDash val="solid"/>
          </a:ln>
        </p:spPr>
      </p:sp>
      <p:sp>
        <p:nvSpPr>
          <p:cNvPr id="28" name="Text 26"/>
          <p:cNvSpPr/>
          <p:nvPr/>
        </p:nvSpPr>
        <p:spPr>
          <a:xfrm>
            <a:off x="7955280" y="4480560"/>
            <a:ext cx="2651760" cy="54864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D3  Access log file</a:t>
            </a:r>
            <a:endParaRPr lang="en-US" sz="1300" dirty="0"/>
          </a:p>
        </p:txBody>
      </p:sp>
      <p:sp>
        <p:nvSpPr>
          <p:cNvPr id="29" name="Shape 27"/>
          <p:cNvSpPr/>
          <p:nvPr/>
        </p:nvSpPr>
        <p:spPr>
          <a:xfrm>
            <a:off x="7955280" y="5577840"/>
            <a:ext cx="2651760" cy="914400"/>
          </a:xfrm>
          <a:prstGeom prst="can">
            <a:avLst/>
          </a:prstGeom>
          <a:solidFill>
            <a:srgbClr val="13294B"/>
          </a:solidFill>
          <a:ln w="15875">
            <a:solidFill>
              <a:srgbClr val="C4B5FD"/>
            </a:solidFill>
            <a:prstDash val="solid"/>
          </a:ln>
        </p:spPr>
      </p:sp>
      <p:sp>
        <p:nvSpPr>
          <p:cNvPr id="30" name="Text 28"/>
          <p:cNvSpPr/>
          <p:nvPr/>
        </p:nvSpPr>
        <p:spPr>
          <a:xfrm>
            <a:off x="7955280" y="5760720"/>
            <a:ext cx="2651760" cy="548640"/>
          </a:xfrm>
          <a:prstGeom prst="rect">
            <a:avLst/>
          </a:prstGeom>
          <a:noFill/>
          <a:ln/>
        </p:spPr>
        <p:txBody>
          <a:bodyPr wrap="square" lIns="0" tIns="0" rIns="0" bIns="0" rtlCol="0" anchor="ctr"/>
          <a:lstStyle/>
          <a:p>
            <a:pPr algn="ctr" indent="0" marL="0">
              <a:buNone/>
            </a:pPr>
            <a:r>
              <a:rPr lang="en-US" sz="1300" b="1" dirty="0">
                <a:solidFill>
                  <a:srgbClr val="E6F1FF"/>
                </a:solidFill>
                <a:latin typeface="Arial" pitchFamily="34" charset="0"/>
                <a:ea typeface="Arial" pitchFamily="34" charset="-122"/>
                <a:cs typeface="Arial" pitchFamily="34" charset="-120"/>
              </a:rPr>
              <a:t>D4  PostgreSQL alerts</a:t>
            </a:r>
            <a:endParaRPr lang="en-US" sz="1300" dirty="0"/>
          </a:p>
        </p:txBody>
      </p:sp>
      <p:sp>
        <p:nvSpPr>
          <p:cNvPr id="31" name="Shape 29"/>
          <p:cNvSpPr/>
          <p:nvPr/>
        </p:nvSpPr>
        <p:spPr>
          <a:xfrm>
            <a:off x="2560320" y="1783080"/>
            <a:ext cx="1097280" cy="0"/>
          </a:xfrm>
          <a:prstGeom prst="line">
            <a:avLst/>
          </a:prstGeom>
          <a:noFill/>
          <a:ln w="25400">
            <a:solidFill>
              <a:srgbClr val="22D3EE"/>
            </a:solidFill>
            <a:prstDash val="solid"/>
            <a:tailEnd type="triangle"/>
          </a:ln>
        </p:spPr>
      </p:sp>
      <p:sp>
        <p:nvSpPr>
          <p:cNvPr id="32" name="Text 30"/>
          <p:cNvSpPr/>
          <p:nvPr/>
        </p:nvSpPr>
        <p:spPr>
          <a:xfrm>
            <a:off x="2468880" y="1417320"/>
            <a:ext cx="12801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Git URL</a:t>
            </a:r>
            <a:endParaRPr lang="en-US" sz="1100" dirty="0"/>
          </a:p>
        </p:txBody>
      </p:sp>
      <p:sp>
        <p:nvSpPr>
          <p:cNvPr id="33" name="Shape 31"/>
          <p:cNvSpPr/>
          <p:nvPr/>
        </p:nvSpPr>
        <p:spPr>
          <a:xfrm>
            <a:off x="2560320" y="3246120"/>
            <a:ext cx="1097280" cy="0"/>
          </a:xfrm>
          <a:prstGeom prst="line">
            <a:avLst/>
          </a:prstGeom>
          <a:noFill/>
          <a:ln w="25400">
            <a:solidFill>
              <a:srgbClr val="22D3EE"/>
            </a:solidFill>
            <a:prstDash val="solid"/>
            <a:tailEnd type="triangle"/>
          </a:ln>
        </p:spPr>
      </p:sp>
      <p:sp>
        <p:nvSpPr>
          <p:cNvPr id="34" name="Text 32"/>
          <p:cNvSpPr/>
          <p:nvPr/>
        </p:nvSpPr>
        <p:spPr>
          <a:xfrm>
            <a:off x="2468880" y="2880360"/>
            <a:ext cx="12801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HTTP</a:t>
            </a:r>
            <a:endParaRPr lang="en-US" sz="1100" dirty="0"/>
          </a:p>
        </p:txBody>
      </p:sp>
      <p:sp>
        <p:nvSpPr>
          <p:cNvPr id="35" name="Shape 33"/>
          <p:cNvSpPr/>
          <p:nvPr/>
        </p:nvSpPr>
        <p:spPr>
          <a:xfrm>
            <a:off x="2560320" y="5989320"/>
            <a:ext cx="1097280" cy="0"/>
          </a:xfrm>
          <a:prstGeom prst="line">
            <a:avLst/>
          </a:prstGeom>
          <a:noFill/>
          <a:ln w="25400">
            <a:solidFill>
              <a:srgbClr val="22D3EE"/>
            </a:solidFill>
            <a:prstDash val="solid"/>
            <a:tailEnd type="triangle"/>
          </a:ln>
        </p:spPr>
      </p:sp>
      <p:sp>
        <p:nvSpPr>
          <p:cNvPr id="36" name="Text 34"/>
          <p:cNvSpPr/>
          <p:nvPr/>
        </p:nvSpPr>
        <p:spPr>
          <a:xfrm>
            <a:off x="2468880" y="5623560"/>
            <a:ext cx="12801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views</a:t>
            </a:r>
            <a:endParaRPr lang="en-US" sz="1100" dirty="0"/>
          </a:p>
        </p:txBody>
      </p:sp>
      <p:sp>
        <p:nvSpPr>
          <p:cNvPr id="37" name="Shape 35"/>
          <p:cNvSpPr/>
          <p:nvPr/>
        </p:nvSpPr>
        <p:spPr>
          <a:xfrm>
            <a:off x="6309360" y="1783080"/>
            <a:ext cx="1645920" cy="0"/>
          </a:xfrm>
          <a:prstGeom prst="line">
            <a:avLst/>
          </a:prstGeom>
          <a:noFill/>
          <a:ln w="25400">
            <a:solidFill>
              <a:srgbClr val="22D3EE"/>
            </a:solidFill>
            <a:prstDash val="solid"/>
            <a:tailEnd type="triangle"/>
          </a:ln>
        </p:spPr>
      </p:sp>
      <p:sp>
        <p:nvSpPr>
          <p:cNvPr id="38" name="Text 36"/>
          <p:cNvSpPr/>
          <p:nvPr/>
        </p:nvSpPr>
        <p:spPr>
          <a:xfrm>
            <a:off x="6309360" y="1417320"/>
            <a:ext cx="16459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build output</a:t>
            </a:r>
            <a:endParaRPr lang="en-US" sz="1100" dirty="0"/>
          </a:p>
        </p:txBody>
      </p:sp>
      <p:sp>
        <p:nvSpPr>
          <p:cNvPr id="39" name="Shape 37"/>
          <p:cNvSpPr/>
          <p:nvPr/>
        </p:nvSpPr>
        <p:spPr>
          <a:xfrm>
            <a:off x="6309360" y="2057400"/>
            <a:ext cx="1645920" cy="1097280"/>
          </a:xfrm>
          <a:prstGeom prst="line">
            <a:avLst/>
          </a:prstGeom>
          <a:noFill/>
          <a:ln w="25400">
            <a:solidFill>
              <a:srgbClr val="22D3EE"/>
            </a:solidFill>
            <a:prstDash val="solid"/>
            <a:tailEnd type="triangle"/>
          </a:ln>
        </p:spPr>
      </p:sp>
      <p:sp>
        <p:nvSpPr>
          <p:cNvPr id="40" name="Text 38"/>
          <p:cNvSpPr/>
          <p:nvPr/>
        </p:nvSpPr>
        <p:spPr>
          <a:xfrm>
            <a:off x="6400800" y="1810512"/>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build logs</a:t>
            </a:r>
            <a:endParaRPr lang="en-US" sz="1100" dirty="0"/>
          </a:p>
        </p:txBody>
      </p:sp>
      <p:sp>
        <p:nvSpPr>
          <p:cNvPr id="41" name="Shape 39"/>
          <p:cNvSpPr/>
          <p:nvPr/>
        </p:nvSpPr>
        <p:spPr>
          <a:xfrm>
            <a:off x="6309360" y="3291840"/>
            <a:ext cx="1645920" cy="0"/>
          </a:xfrm>
          <a:prstGeom prst="line">
            <a:avLst/>
          </a:prstGeom>
          <a:noFill/>
          <a:ln w="25400">
            <a:solidFill>
              <a:srgbClr val="22D3EE"/>
            </a:solidFill>
            <a:prstDash val="solid"/>
            <a:tailEnd type="triangle"/>
          </a:ln>
        </p:spPr>
      </p:sp>
      <p:sp>
        <p:nvSpPr>
          <p:cNvPr id="42" name="Text 40"/>
          <p:cNvSpPr/>
          <p:nvPr/>
        </p:nvSpPr>
        <p:spPr>
          <a:xfrm>
            <a:off x="6309360" y="2926080"/>
            <a:ext cx="16459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events</a:t>
            </a:r>
            <a:endParaRPr lang="en-US" sz="1100" dirty="0"/>
          </a:p>
        </p:txBody>
      </p:sp>
      <p:sp>
        <p:nvSpPr>
          <p:cNvPr id="43" name="Shape 41"/>
          <p:cNvSpPr/>
          <p:nvPr/>
        </p:nvSpPr>
        <p:spPr>
          <a:xfrm flipV="1">
            <a:off x="6309360" y="2057400"/>
            <a:ext cx="1645920" cy="914400"/>
          </a:xfrm>
          <a:prstGeom prst="line">
            <a:avLst/>
          </a:prstGeom>
          <a:noFill/>
          <a:ln w="25400">
            <a:solidFill>
              <a:srgbClr val="22D3EE"/>
            </a:solidFill>
            <a:prstDash val="solid"/>
            <a:tailEnd type="triangle"/>
          </a:ln>
        </p:spPr>
      </p:sp>
      <p:sp>
        <p:nvSpPr>
          <p:cNvPr id="44" name="Text 42"/>
          <p:cNvSpPr/>
          <p:nvPr/>
        </p:nvSpPr>
        <p:spPr>
          <a:xfrm>
            <a:off x="6858000" y="2286000"/>
            <a:ext cx="11887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fetch object</a:t>
            </a:r>
            <a:endParaRPr lang="en-US" sz="1100" dirty="0"/>
          </a:p>
        </p:txBody>
      </p:sp>
      <p:sp>
        <p:nvSpPr>
          <p:cNvPr id="45" name="Shape 43"/>
          <p:cNvSpPr/>
          <p:nvPr/>
        </p:nvSpPr>
        <p:spPr>
          <a:xfrm flipH="1">
            <a:off x="6309360" y="4754880"/>
            <a:ext cx="1645920" cy="0"/>
          </a:xfrm>
          <a:prstGeom prst="line">
            <a:avLst/>
          </a:prstGeom>
          <a:noFill/>
          <a:ln w="25400">
            <a:solidFill>
              <a:srgbClr val="22D3EE"/>
            </a:solidFill>
            <a:prstDash val="solid"/>
            <a:tailEnd type="triangle"/>
          </a:ln>
        </p:spPr>
      </p:sp>
      <p:sp>
        <p:nvSpPr>
          <p:cNvPr id="46" name="Text 44"/>
          <p:cNvSpPr/>
          <p:nvPr/>
        </p:nvSpPr>
        <p:spPr>
          <a:xfrm>
            <a:off x="6309360" y="4389120"/>
            <a:ext cx="16459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tail log</a:t>
            </a:r>
            <a:endParaRPr lang="en-US" sz="1100" dirty="0"/>
          </a:p>
        </p:txBody>
      </p:sp>
      <p:sp>
        <p:nvSpPr>
          <p:cNvPr id="47" name="Shape 45"/>
          <p:cNvSpPr/>
          <p:nvPr/>
        </p:nvSpPr>
        <p:spPr>
          <a:xfrm>
            <a:off x="6309360" y="5120640"/>
            <a:ext cx="1645920" cy="822960"/>
          </a:xfrm>
          <a:prstGeom prst="line">
            <a:avLst/>
          </a:prstGeom>
          <a:noFill/>
          <a:ln w="25400">
            <a:solidFill>
              <a:srgbClr val="22D3EE"/>
            </a:solidFill>
            <a:prstDash val="solid"/>
            <a:tailEnd type="triangle"/>
          </a:ln>
        </p:spPr>
      </p:sp>
      <p:sp>
        <p:nvSpPr>
          <p:cNvPr id="48" name="Text 46"/>
          <p:cNvSpPr/>
          <p:nvPr/>
        </p:nvSpPr>
        <p:spPr>
          <a:xfrm>
            <a:off x="6400800" y="4846320"/>
            <a:ext cx="13716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alerts (POST)</a:t>
            </a:r>
            <a:endParaRPr lang="en-US" sz="1100" dirty="0"/>
          </a:p>
        </p:txBody>
      </p:sp>
      <p:sp>
        <p:nvSpPr>
          <p:cNvPr id="49" name="Shape 47"/>
          <p:cNvSpPr/>
          <p:nvPr/>
        </p:nvSpPr>
        <p:spPr>
          <a:xfrm flipH="1">
            <a:off x="6309360" y="6035040"/>
            <a:ext cx="1645920" cy="0"/>
          </a:xfrm>
          <a:prstGeom prst="line">
            <a:avLst/>
          </a:prstGeom>
          <a:noFill/>
          <a:ln w="25400">
            <a:solidFill>
              <a:srgbClr val="22D3EE"/>
            </a:solidFill>
            <a:prstDash val="solid"/>
            <a:tailEnd type="triangle"/>
          </a:ln>
        </p:spPr>
      </p:sp>
      <p:sp>
        <p:nvSpPr>
          <p:cNvPr id="50" name="Text 48"/>
          <p:cNvSpPr/>
          <p:nvPr/>
        </p:nvSpPr>
        <p:spPr>
          <a:xfrm>
            <a:off x="6309360" y="5687568"/>
            <a:ext cx="16459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alerts (GET)</a:t>
            </a:r>
            <a:endParaRPr lang="en-US" sz="1100" dirty="0"/>
          </a:p>
        </p:txBody>
      </p:sp>
      <p:sp>
        <p:nvSpPr>
          <p:cNvPr id="51" name="Shape 49"/>
          <p:cNvSpPr/>
          <p:nvPr/>
        </p:nvSpPr>
        <p:spPr>
          <a:xfrm>
            <a:off x="6309360" y="3520440"/>
            <a:ext cx="1645920" cy="960120"/>
          </a:xfrm>
          <a:prstGeom prst="line">
            <a:avLst/>
          </a:prstGeom>
          <a:noFill/>
          <a:ln w="25400">
            <a:solidFill>
              <a:srgbClr val="C4B5FD"/>
            </a:solidFill>
            <a:prstDash val="dash"/>
            <a:tailEnd type="triangle"/>
          </a:ln>
        </p:spPr>
      </p:sp>
      <p:sp>
        <p:nvSpPr>
          <p:cNvPr id="52" name="Text 50"/>
          <p:cNvSpPr/>
          <p:nvPr/>
        </p:nvSpPr>
        <p:spPr>
          <a:xfrm>
            <a:off x="4846320" y="3840480"/>
            <a:ext cx="2377440" cy="274320"/>
          </a:xfrm>
          <a:prstGeom prst="rect">
            <a:avLst/>
          </a:prstGeom>
          <a:noFill/>
          <a:ln/>
        </p:spPr>
        <p:txBody>
          <a:bodyPr wrap="square" lIns="0" tIns="0" rIns="0" bIns="0" rtlCol="0" anchor="ctr"/>
          <a:lstStyle/>
          <a:p>
            <a:pPr algn="ctr" indent="0" marL="0">
              <a:buNone/>
            </a:pPr>
            <a:r>
              <a:rPr lang="en-US" sz="1100" i="1" dirty="0">
                <a:solidFill>
                  <a:srgbClr val="C4B5FD"/>
                </a:solidFill>
                <a:latin typeface="Arial" pitchFamily="34" charset="0"/>
                <a:ea typeface="Arial" pitchFamily="34" charset="-122"/>
                <a:cs typeface="Arial" pitchFamily="34" charset="-120"/>
              </a:rPr>
              <a:t>access-log records (proposed)</a:t>
            </a:r>
            <a:endParaRPr lang="en-US" sz="1100" dirty="0"/>
          </a:p>
        </p:txBody>
      </p:sp>
      <p:sp>
        <p:nvSpPr>
          <p:cNvPr id="53" name="Text 51"/>
          <p:cNvSpPr/>
          <p:nvPr/>
        </p:nvSpPr>
        <p:spPr>
          <a:xfrm>
            <a:off x="548640" y="6510528"/>
            <a:ext cx="8229600" cy="228600"/>
          </a:xfrm>
          <a:prstGeom prst="rect">
            <a:avLst/>
          </a:prstGeom>
          <a:noFill/>
          <a:ln/>
        </p:spPr>
        <p:txBody>
          <a:bodyPr wrap="square" lIns="0" tIns="0" rIns="0" bIns="0" rtlCol="0" anchor="ctr"/>
          <a:lstStyle/>
          <a:p>
            <a:pPr indent="0" marL="0">
              <a:buNone/>
            </a:pPr>
            <a:r>
              <a:rPr lang="en-US" sz="1100" i="1" dirty="0">
                <a:solidFill>
                  <a:srgbClr val="94A3B8"/>
                </a:solidFill>
                <a:latin typeface="Arial" pitchFamily="34" charset="0"/>
                <a:ea typeface="Arial" pitchFamily="34" charset="-122"/>
                <a:cs typeface="Arial" pitchFamily="34" charset="-120"/>
              </a:rPr>
              <a:t>Solid: implemented.  Dashed: proposed, not yet in code.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SYSTEM DESIGN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Algorithms, models and frameworks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11</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8321040"/>
              </a:tblGrid>
              <a:tr h="502920">
                <a:tc>
                  <a:txBody>
                    <a:bodyPr/>
                    <a:lstStyle/>
                    <a:p>
                      <a:pPr indent="0" marL="0">
                        <a:buNone/>
                      </a:pPr>
                      <a:r>
                        <a:rPr lang="en-US" sz="1300" b="1" dirty="0">
                          <a:solidFill>
                            <a:srgbClr val="22D3EE"/>
                          </a:solidFill>
                          <a:latin typeface="Arial" pitchFamily="34" charset="0"/>
                          <a:ea typeface="Arial" pitchFamily="34" charset="-122"/>
                          <a:cs typeface="Arial" pitchFamily="34" charset="-120"/>
                        </a:rPr>
                        <a:t>Component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300" b="1" dirty="0">
                          <a:solidFill>
                            <a:srgbClr val="22D3EE"/>
                          </a:solidFill>
                          <a:latin typeface="Arial" pitchFamily="34" charset="0"/>
                          <a:ea typeface="Arial" pitchFamily="34" charset="-122"/>
                          <a:cs typeface="Arial" pitchFamily="34" charset="-120"/>
                        </a:rPr>
                        <a:t>Method and default setting</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Rate limit (proxy)</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Fixed window: 100 requests per 10 s per source IP</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Path scan (proxy)</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Sliding window: 30 unique paths, 60% 404 responses, 10 s window</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Brute force (proxy)</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10 failed demo-login attempts within 60 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Replay (proxy)</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Signed webhook: 300 s timestamp tolerance; nonce reserved once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Rules (log analysis)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Injection (2+ suspicious queries); brute force (6+ failures); path scan (4xx 70%+, 8+ paths); spike (30+ req/s)</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Isolation Forest</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300 trees on scaled features; trained on normal windows only; threshold at 97th percentile</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E6F1FF"/>
                          </a:solidFill>
                          <a:latin typeface="Arial" pitchFamily="34" charset="0"/>
                          <a:ea typeface="Arial" pitchFamily="34" charset="-122"/>
                          <a:cs typeface="Arial" pitchFamily="34" charset="-120"/>
                        </a:rPr>
                        <a:t>Hybrid decision</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300" dirty="0">
                          <a:solidFill>
                            <a:srgbClr val="E6F1FF"/>
                          </a:solidFill>
                          <a:latin typeface="Arial" pitchFamily="34" charset="0"/>
                          <a:ea typeface="Arial" pitchFamily="34" charset="-122"/>
                          <a:cs typeface="Arial" pitchFamily="34" charset="-120"/>
                        </a:rPr>
                        <a:t>Alert on rule OR ML; ML judges an IP only after 3+ requests; severity Low to Critical</a:t>
                      </a:r>
                      <a:endParaRPr lang="en-US" sz="13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6" name="Text 3"/>
          <p:cNvSpPr/>
          <p:nvPr/>
        </p:nvSpPr>
        <p:spPr>
          <a:xfrm>
            <a:off x="548640" y="5623560"/>
            <a:ext cx="11064240" cy="548640"/>
          </a:xfrm>
          <a:prstGeom prst="rect">
            <a:avLst/>
          </a:prstGeom>
          <a:noFill/>
          <a:ln/>
        </p:spPr>
        <p:txBody>
          <a:bodyPr wrap="square" lIns="0" tIns="0" rIns="0" bIns="0" rtlCol="0" anchor="ctr"/>
          <a:lstStyle/>
          <a:p>
            <a:pPr indent="0" marL="0">
              <a:buNone/>
            </a:pPr>
            <a:r>
              <a:rPr lang="en-US" sz="1300" dirty="0">
                <a:solidFill>
                  <a:srgbClr val="C4B5FD"/>
                </a:solidFill>
                <a:latin typeface="Arial" pitchFamily="34" charset="0"/>
                <a:ea typeface="Arial" pitchFamily="34" charset="-122"/>
                <a:cs typeface="Arial" pitchFamily="34" charset="-120"/>
              </a:rPr>
              <a:t>Frameworks: Express 5, http-proxy, ioredis, Socket.IO 4 (Node.js); FastAPI, SQLAlchemy, scikit-learn, pandas (Python); React and Vite.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SYSTEM DESIGN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Database design: ER model and relational mapping</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12</a:t>
            </a:r>
            <a:endParaRPr lang="en-US" sz="1100" dirty="0"/>
          </a:p>
        </p:txBody>
      </p:sp>
      <p:sp>
        <p:nvSpPr>
          <p:cNvPr id="5" name="Shape 3"/>
          <p:cNvSpPr/>
          <p:nvPr/>
        </p:nvSpPr>
        <p:spPr>
          <a:xfrm>
            <a:off x="548640" y="1371600"/>
            <a:ext cx="2651760" cy="1371600"/>
          </a:xfrm>
          <a:prstGeom prst="rect">
            <a:avLst/>
          </a:prstGeom>
          <a:solidFill>
            <a:srgbClr val="13294B"/>
          </a:solidFill>
          <a:ln w="19050">
            <a:solidFill>
              <a:srgbClr val="22D3EE"/>
            </a:solidFill>
            <a:prstDash val="solid"/>
          </a:ln>
        </p:spPr>
      </p:sp>
      <p:sp>
        <p:nvSpPr>
          <p:cNvPr id="6" name="Shape 4"/>
          <p:cNvSpPr/>
          <p:nvPr/>
        </p:nvSpPr>
        <p:spPr>
          <a:xfrm>
            <a:off x="548640" y="1371600"/>
            <a:ext cx="2651760" cy="365760"/>
          </a:xfrm>
          <a:prstGeom prst="rect">
            <a:avLst/>
          </a:prstGeom>
          <a:solidFill>
            <a:srgbClr val="0F2340"/>
          </a:solidFill>
          <a:ln w="19050">
            <a:solidFill>
              <a:srgbClr val="22D3EE"/>
            </a:solidFill>
            <a:prstDash val="solid"/>
          </a:ln>
        </p:spPr>
      </p:sp>
      <p:sp>
        <p:nvSpPr>
          <p:cNvPr id="7" name="Text 5"/>
          <p:cNvSpPr/>
          <p:nvPr/>
        </p:nvSpPr>
        <p:spPr>
          <a:xfrm>
            <a:off x="548640" y="1371600"/>
            <a:ext cx="2651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OWNER</a:t>
            </a:r>
            <a:endParaRPr lang="en-US" sz="1400" dirty="0"/>
          </a:p>
        </p:txBody>
      </p:sp>
      <p:sp>
        <p:nvSpPr>
          <p:cNvPr id="8" name="Text 6"/>
          <p:cNvSpPr/>
          <p:nvPr/>
        </p:nvSpPr>
        <p:spPr>
          <a:xfrm>
            <a:off x="685800" y="1828800"/>
            <a:ext cx="2377440" cy="822960"/>
          </a:xfrm>
          <a:prstGeom prst="rect">
            <a:avLst/>
          </a:prstGeom>
          <a:noFill/>
          <a:ln/>
        </p:spPr>
        <p:txBody>
          <a:bodyPr wrap="square" lIns="0" tIns="0" rIns="0" bIns="0" rtlCol="0" anchor="t"/>
          <a:lstStyle/>
          <a:p>
            <a:pPr indent="0" marL="0">
              <a:buNone/>
            </a:pPr>
            <a:r>
              <a:rPr lang="en-US" sz="1100" dirty="0">
                <a:solidFill>
                  <a:srgbClr val="E6F1FF"/>
                </a:solidFill>
                <a:latin typeface="Courier New" pitchFamily="34" charset="0"/>
                <a:ea typeface="Courier New" pitchFamily="34" charset="-122"/>
                <a:cs typeface="Courier New" pitchFamily="34" charset="-120"/>
              </a:rPr>
              <a:t>owner_id  (PK)</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name</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email</a:t>
            </a:r>
            <a:endParaRPr lang="en-US" sz="1100" dirty="0"/>
          </a:p>
        </p:txBody>
      </p:sp>
      <p:sp>
        <p:nvSpPr>
          <p:cNvPr id="9" name="Shape 7"/>
          <p:cNvSpPr/>
          <p:nvPr/>
        </p:nvSpPr>
        <p:spPr>
          <a:xfrm>
            <a:off x="4206240" y="1371600"/>
            <a:ext cx="2651760" cy="1645920"/>
          </a:xfrm>
          <a:prstGeom prst="rect">
            <a:avLst/>
          </a:prstGeom>
          <a:solidFill>
            <a:srgbClr val="13294B"/>
          </a:solidFill>
          <a:ln w="19050">
            <a:solidFill>
              <a:srgbClr val="22D3EE"/>
            </a:solidFill>
            <a:prstDash val="solid"/>
          </a:ln>
        </p:spPr>
      </p:sp>
      <p:sp>
        <p:nvSpPr>
          <p:cNvPr id="10" name="Shape 8"/>
          <p:cNvSpPr/>
          <p:nvPr/>
        </p:nvSpPr>
        <p:spPr>
          <a:xfrm>
            <a:off x="4206240" y="1371600"/>
            <a:ext cx="2651760" cy="365760"/>
          </a:xfrm>
          <a:prstGeom prst="rect">
            <a:avLst/>
          </a:prstGeom>
          <a:solidFill>
            <a:srgbClr val="0F2340"/>
          </a:solidFill>
          <a:ln w="19050">
            <a:solidFill>
              <a:srgbClr val="22D3EE"/>
            </a:solidFill>
            <a:prstDash val="solid"/>
          </a:ln>
        </p:spPr>
      </p:sp>
      <p:sp>
        <p:nvSpPr>
          <p:cNvPr id="11" name="Text 9"/>
          <p:cNvSpPr/>
          <p:nvPr/>
        </p:nvSpPr>
        <p:spPr>
          <a:xfrm>
            <a:off x="4206240" y="1371600"/>
            <a:ext cx="265176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SITE</a:t>
            </a:r>
            <a:endParaRPr lang="en-US" sz="1400" dirty="0"/>
          </a:p>
        </p:txBody>
      </p:sp>
      <p:sp>
        <p:nvSpPr>
          <p:cNvPr id="12" name="Text 10"/>
          <p:cNvSpPr/>
          <p:nvPr/>
        </p:nvSpPr>
        <p:spPr>
          <a:xfrm>
            <a:off x="4343400" y="1828800"/>
            <a:ext cx="2377440" cy="1097280"/>
          </a:xfrm>
          <a:prstGeom prst="rect">
            <a:avLst/>
          </a:prstGeom>
          <a:noFill/>
          <a:ln/>
        </p:spPr>
        <p:txBody>
          <a:bodyPr wrap="square" lIns="0" tIns="0" rIns="0" bIns="0" rtlCol="0" anchor="t"/>
          <a:lstStyle/>
          <a:p>
            <a:pPr indent="0" marL="0">
              <a:buNone/>
            </a:pPr>
            <a:r>
              <a:rPr lang="en-US" sz="1100" dirty="0">
                <a:solidFill>
                  <a:srgbClr val="E6F1FF"/>
                </a:solidFill>
                <a:latin typeface="Courier New" pitchFamily="34" charset="0"/>
                <a:ea typeface="Courier New" pitchFamily="34" charset="-122"/>
                <a:cs typeface="Courier New" pitchFamily="34" charset="-120"/>
              </a:rPr>
              <a:t>site_id  (PK)</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name</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owner_id  (FK*)</a:t>
            </a:r>
            <a:endParaRPr lang="en-US" sz="1100" dirty="0"/>
          </a:p>
        </p:txBody>
      </p:sp>
      <p:sp>
        <p:nvSpPr>
          <p:cNvPr id="13" name="Shape 11"/>
          <p:cNvSpPr/>
          <p:nvPr/>
        </p:nvSpPr>
        <p:spPr>
          <a:xfrm>
            <a:off x="7680960" y="1371600"/>
            <a:ext cx="3931920" cy="4480560"/>
          </a:xfrm>
          <a:prstGeom prst="rect">
            <a:avLst/>
          </a:prstGeom>
          <a:solidFill>
            <a:srgbClr val="13294B"/>
          </a:solidFill>
          <a:ln w="19050">
            <a:solidFill>
              <a:srgbClr val="22D3EE"/>
            </a:solidFill>
            <a:prstDash val="solid"/>
          </a:ln>
        </p:spPr>
      </p:sp>
      <p:sp>
        <p:nvSpPr>
          <p:cNvPr id="14" name="Shape 12"/>
          <p:cNvSpPr/>
          <p:nvPr/>
        </p:nvSpPr>
        <p:spPr>
          <a:xfrm>
            <a:off x="7680960" y="1371600"/>
            <a:ext cx="3931920" cy="365760"/>
          </a:xfrm>
          <a:prstGeom prst="rect">
            <a:avLst/>
          </a:prstGeom>
          <a:solidFill>
            <a:srgbClr val="0F2340"/>
          </a:solidFill>
          <a:ln w="19050">
            <a:solidFill>
              <a:srgbClr val="22D3EE"/>
            </a:solidFill>
            <a:prstDash val="solid"/>
          </a:ln>
        </p:spPr>
      </p:sp>
      <p:sp>
        <p:nvSpPr>
          <p:cNvPr id="15" name="Text 13"/>
          <p:cNvSpPr/>
          <p:nvPr/>
        </p:nvSpPr>
        <p:spPr>
          <a:xfrm>
            <a:off x="7680960" y="1371600"/>
            <a:ext cx="3931920" cy="36576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ALERT</a:t>
            </a:r>
            <a:endParaRPr lang="en-US" sz="1400" dirty="0"/>
          </a:p>
        </p:txBody>
      </p:sp>
      <p:sp>
        <p:nvSpPr>
          <p:cNvPr id="16" name="Text 14"/>
          <p:cNvSpPr/>
          <p:nvPr/>
        </p:nvSpPr>
        <p:spPr>
          <a:xfrm>
            <a:off x="7818120" y="1828800"/>
            <a:ext cx="3657600" cy="3931920"/>
          </a:xfrm>
          <a:prstGeom prst="rect">
            <a:avLst/>
          </a:prstGeom>
          <a:noFill/>
          <a:ln/>
        </p:spPr>
        <p:txBody>
          <a:bodyPr wrap="square" lIns="0" tIns="0" rIns="0" bIns="0" rtlCol="0" anchor="t"/>
          <a:lstStyle/>
          <a:p>
            <a:pPr indent="0" marL="0">
              <a:buNone/>
            </a:pPr>
            <a:r>
              <a:rPr lang="en-US" sz="1100" dirty="0">
                <a:solidFill>
                  <a:srgbClr val="E6F1FF"/>
                </a:solidFill>
                <a:latin typeface="Courier New" pitchFamily="34" charset="0"/>
                <a:ea typeface="Courier New" pitchFamily="34" charset="-122"/>
                <a:cs typeface="Courier New" pitchFamily="34" charset="-120"/>
              </a:rPr>
              <a:t>alert_id  (PK)</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schema_version</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timestamp</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window_start</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window_end</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site_id  (FK*)</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owner</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src_ip</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dst_ip</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dst_port</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threat_type</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detected_by</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rule_triggered</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ml_flag</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anomaly_score</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severity</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features  (JSONB)</a:t>
            </a:r>
            <a:endParaRPr lang="en-US" sz="1100" dirty="0"/>
          </a:p>
          <a:p>
            <a:pPr indent="0" marL="0">
              <a:buNone/>
            </a:pPr>
            <a:r>
              <a:rPr lang="en-US" sz="1100" dirty="0">
                <a:solidFill>
                  <a:srgbClr val="E6F1FF"/>
                </a:solidFill>
                <a:latin typeface="Courier New" pitchFamily="34" charset="0"/>
                <a:ea typeface="Courier New" pitchFamily="34" charset="-122"/>
                <a:cs typeface="Courier New" pitchFamily="34" charset="-120"/>
              </a:rPr>
              <a:t>status</a:t>
            </a:r>
            <a:endParaRPr lang="en-US" sz="1100" dirty="0"/>
          </a:p>
        </p:txBody>
      </p:sp>
      <p:sp>
        <p:nvSpPr>
          <p:cNvPr id="17" name="Shape 15"/>
          <p:cNvSpPr/>
          <p:nvPr/>
        </p:nvSpPr>
        <p:spPr>
          <a:xfrm>
            <a:off x="3200400" y="2057400"/>
            <a:ext cx="1005840" cy="0"/>
          </a:xfrm>
          <a:prstGeom prst="line">
            <a:avLst/>
          </a:prstGeom>
          <a:noFill/>
          <a:ln w="22225">
            <a:solidFill>
              <a:srgbClr val="C4B5FD"/>
            </a:solidFill>
            <a:prstDash val="solid"/>
            <a:tailEnd type="triangle"/>
          </a:ln>
        </p:spPr>
      </p:sp>
      <p:sp>
        <p:nvSpPr>
          <p:cNvPr id="18" name="Text 16"/>
          <p:cNvSpPr/>
          <p:nvPr/>
        </p:nvSpPr>
        <p:spPr>
          <a:xfrm>
            <a:off x="3200400" y="1737360"/>
            <a:ext cx="1005840" cy="274320"/>
          </a:xfrm>
          <a:prstGeom prst="rect">
            <a:avLst/>
          </a:prstGeom>
          <a:noFill/>
          <a:ln/>
        </p:spPr>
        <p:txBody>
          <a:bodyPr wrap="square" lIns="0" tIns="0" rIns="0" bIns="0" rtlCol="0" anchor="ctr"/>
          <a:lstStyle/>
          <a:p>
            <a:pPr algn="ctr" indent="0" marL="0">
              <a:buNone/>
            </a:pPr>
            <a:r>
              <a:rPr lang="en-US" sz="1200" dirty="0">
                <a:solidFill>
                  <a:srgbClr val="C4B5FD"/>
                </a:solidFill>
                <a:latin typeface="Arial" pitchFamily="34" charset="0"/>
                <a:ea typeface="Arial" pitchFamily="34" charset="-122"/>
                <a:cs typeface="Arial" pitchFamily="34" charset="-120"/>
              </a:rPr>
              <a:t>1 : N</a:t>
            </a:r>
            <a:endParaRPr lang="en-US" sz="1200" dirty="0"/>
          </a:p>
        </p:txBody>
      </p:sp>
      <p:sp>
        <p:nvSpPr>
          <p:cNvPr id="19" name="Shape 17"/>
          <p:cNvSpPr/>
          <p:nvPr/>
        </p:nvSpPr>
        <p:spPr>
          <a:xfrm>
            <a:off x="6858000" y="2194560"/>
            <a:ext cx="822960" cy="0"/>
          </a:xfrm>
          <a:prstGeom prst="line">
            <a:avLst/>
          </a:prstGeom>
          <a:noFill/>
          <a:ln w="22225">
            <a:solidFill>
              <a:srgbClr val="C4B5FD"/>
            </a:solidFill>
            <a:prstDash val="solid"/>
            <a:tailEnd type="triangle"/>
          </a:ln>
        </p:spPr>
      </p:sp>
      <p:sp>
        <p:nvSpPr>
          <p:cNvPr id="20" name="Text 18"/>
          <p:cNvSpPr/>
          <p:nvPr/>
        </p:nvSpPr>
        <p:spPr>
          <a:xfrm>
            <a:off x="6858000" y="1874520"/>
            <a:ext cx="822960" cy="274320"/>
          </a:xfrm>
          <a:prstGeom prst="rect">
            <a:avLst/>
          </a:prstGeom>
          <a:noFill/>
          <a:ln/>
        </p:spPr>
        <p:txBody>
          <a:bodyPr wrap="square" lIns="0" tIns="0" rIns="0" bIns="0" rtlCol="0" anchor="ctr"/>
          <a:lstStyle/>
          <a:p>
            <a:pPr algn="ctr" indent="0" marL="0">
              <a:buNone/>
            </a:pPr>
            <a:r>
              <a:rPr lang="en-US" sz="1200" dirty="0">
                <a:solidFill>
                  <a:srgbClr val="C4B5FD"/>
                </a:solidFill>
                <a:latin typeface="Arial" pitchFamily="34" charset="0"/>
                <a:ea typeface="Arial" pitchFamily="34" charset="-122"/>
                <a:cs typeface="Arial" pitchFamily="34" charset="-120"/>
              </a:rPr>
              <a:t>1 : N</a:t>
            </a:r>
            <a:endParaRPr lang="en-US" sz="1200" dirty="0"/>
          </a:p>
        </p:txBody>
      </p:sp>
      <p:sp>
        <p:nvSpPr>
          <p:cNvPr id="21" name="Text 19"/>
          <p:cNvSpPr/>
          <p:nvPr/>
        </p:nvSpPr>
        <p:spPr>
          <a:xfrm>
            <a:off x="548640" y="3291840"/>
            <a:ext cx="6949440" cy="548640"/>
          </a:xfrm>
          <a:prstGeom prst="rect">
            <a:avLst/>
          </a:prstGeom>
          <a:noFill/>
          <a:ln/>
        </p:spPr>
        <p:txBody>
          <a:bodyPr wrap="square" lIns="0" tIns="0" rIns="0" bIns="0" rtlCol="0" anchor="ctr"/>
          <a:lstStyle/>
          <a:p>
            <a:pPr indent="0" marL="0">
              <a:buNone/>
            </a:pPr>
            <a:r>
              <a:rPr lang="en-US" sz="1200" i="1" dirty="0">
                <a:solidFill>
                  <a:srgbClr val="94A3B8"/>
                </a:solidFill>
                <a:latin typeface="Arial" pitchFamily="34" charset="0"/>
                <a:ea typeface="Arial" pitchFamily="34" charset="-122"/>
                <a:cs typeface="Arial" pitchFamily="34" charset="-120"/>
              </a:rPr>
              <a:t>* Logical keys. The ORM does not declare foreign-key constraints, so integrity is enforced by the application.</a:t>
            </a:r>
            <a:endParaRPr lang="en-US" sz="1200" dirty="0"/>
          </a:p>
        </p:txBody>
      </p:sp>
      <p:sp>
        <p:nvSpPr>
          <p:cNvPr id="22" name="Shape 20"/>
          <p:cNvSpPr/>
          <p:nvPr/>
        </p:nvSpPr>
        <p:spPr>
          <a:xfrm>
            <a:off x="548640" y="4069080"/>
            <a:ext cx="6949440" cy="2148840"/>
          </a:xfrm>
          <a:prstGeom prst="roundRect">
            <a:avLst>
              <a:gd name="adj" fmla="val 5106"/>
            </a:avLst>
          </a:prstGeom>
          <a:solidFill>
            <a:srgbClr val="13294B"/>
          </a:solidFill>
          <a:ln w="15875">
            <a:solidFill>
              <a:srgbClr val="8B5CF6"/>
            </a:solidFill>
            <a:prstDash val="solid"/>
          </a:ln>
        </p:spPr>
      </p:sp>
      <p:sp>
        <p:nvSpPr>
          <p:cNvPr id="23" name="Text 21"/>
          <p:cNvSpPr/>
          <p:nvPr/>
        </p:nvSpPr>
        <p:spPr>
          <a:xfrm>
            <a:off x="822960" y="4206240"/>
            <a:ext cx="6400800" cy="36576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ER to relational mapping</a:t>
            </a:r>
            <a:endParaRPr lang="en-US" sz="1600" dirty="0"/>
          </a:p>
        </p:txBody>
      </p:sp>
      <p:sp>
        <p:nvSpPr>
          <p:cNvPr id="24" name="Text 22"/>
          <p:cNvSpPr/>
          <p:nvPr/>
        </p:nvSpPr>
        <p:spPr>
          <a:xfrm>
            <a:off x="822960" y="4617720"/>
            <a:ext cx="6492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Each entity becomes a table with its primary key</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1:N relationships put the foreign key on the N side (site.owner_id, alert.site_id)</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features is stored as JSONB, so the ML feature set can change without a schema change</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The owner name is denormalised onto each alert for fast filtering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IMPLEMENTATION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Implementation details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13</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22D3EE"/>
                          </a:solidFill>
                          <a:latin typeface="Arial" pitchFamily="34" charset="0"/>
                          <a:ea typeface="Arial" pitchFamily="34" charset="-122"/>
                          <a:cs typeface="Arial" pitchFamily="34" charset="-120"/>
                        </a:rPr>
                        <a:t>Layer</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Languages and tools</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Deployment</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JavaScript (Node.js): Express 5, AWS SDK for ECS, ioredis, Socket.IO; Docker build image</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Reverse proxy</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JavaScript (Node.js): http-proxy, Redis Lua scripts for counters and sliding windows</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Log analysis</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Python: pandas, NumPy, scikit-learn (Isolation Forest), psycopg</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Backend</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Python: FastAPI, SQLAlchemy, PostgreSQL</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Frontend</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React, Vite, Recharts</a:t>
                      </a:r>
                      <a:endParaRPr lang="en-US" sz="14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6" name="Shape 3"/>
          <p:cNvSpPr/>
          <p:nvPr/>
        </p:nvSpPr>
        <p:spPr>
          <a:xfrm>
            <a:off x="548640" y="4572000"/>
            <a:ext cx="11064240" cy="1554480"/>
          </a:xfrm>
          <a:prstGeom prst="roundRect">
            <a:avLst>
              <a:gd name="adj" fmla="val 7059"/>
            </a:avLst>
          </a:prstGeom>
          <a:solidFill>
            <a:srgbClr val="13294B"/>
          </a:solidFill>
          <a:ln w="15875">
            <a:solidFill>
              <a:srgbClr val="22D3EE"/>
            </a:solidFill>
            <a:prstDash val="solid"/>
          </a:ln>
        </p:spPr>
      </p:sp>
      <p:sp>
        <p:nvSpPr>
          <p:cNvPr id="7" name="Text 4"/>
          <p:cNvSpPr/>
          <p:nvPr/>
        </p:nvSpPr>
        <p:spPr>
          <a:xfrm>
            <a:off x="822960" y="4681728"/>
            <a:ext cx="1051560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Dataset</a:t>
            </a:r>
            <a:endParaRPr lang="en-US" sz="1600" dirty="0"/>
          </a:p>
        </p:txBody>
      </p:sp>
      <p:sp>
        <p:nvSpPr>
          <p:cNvPr id="8" name="Text 5"/>
          <p:cNvSpPr/>
          <p:nvPr/>
        </p:nvSpPr>
        <p:spPr>
          <a:xfrm>
            <a:off x="822960" y="5074920"/>
            <a:ext cx="10515600" cy="100584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2,968 labelled request records from a traffic simulator run against a local victim app: normal 1,471; flood 891; scan 228; injection 122; brute force 177; slow brute force 79. The traffic is simulated, not captured from production.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IMPLEMENTATION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Implementation: key code</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14</a:t>
            </a:r>
            <a:endParaRPr lang="en-US" sz="1100" dirty="0"/>
          </a:p>
        </p:txBody>
      </p:sp>
      <p:sp>
        <p:nvSpPr>
          <p:cNvPr id="5" name="Text 3"/>
          <p:cNvSpPr/>
          <p:nvPr/>
        </p:nvSpPr>
        <p:spPr>
          <a:xfrm>
            <a:off x="548640" y="1325880"/>
            <a:ext cx="11064240" cy="32004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Deployment: launch the build task (api-server)</a:t>
            </a:r>
            <a:endParaRPr lang="en-US" sz="1400" dirty="0"/>
          </a:p>
        </p:txBody>
      </p:sp>
      <p:sp>
        <p:nvSpPr>
          <p:cNvPr id="6" name="Shape 4"/>
          <p:cNvSpPr/>
          <p:nvPr/>
        </p:nvSpPr>
        <p:spPr>
          <a:xfrm>
            <a:off x="548640" y="1691640"/>
            <a:ext cx="11064240" cy="1188720"/>
          </a:xfrm>
          <a:prstGeom prst="rect">
            <a:avLst/>
          </a:prstGeom>
          <a:solidFill>
            <a:srgbClr val="0F2340"/>
          </a:solidFill>
          <a:ln w="12700">
            <a:solidFill>
              <a:srgbClr val="1E3A66"/>
            </a:solidFill>
            <a:prstDash val="solid"/>
          </a:ln>
        </p:spPr>
      </p:sp>
      <p:sp>
        <p:nvSpPr>
          <p:cNvPr id="7" name="Text 5"/>
          <p:cNvSpPr/>
          <p:nvPr/>
        </p:nvSpPr>
        <p:spPr>
          <a:xfrm>
            <a:off x="731520" y="1737360"/>
            <a:ext cx="10789920" cy="1097280"/>
          </a:xfrm>
          <a:prstGeom prst="rect">
            <a:avLst/>
          </a:prstGeom>
          <a:noFill/>
          <a:ln/>
        </p:spPr>
        <p:txBody>
          <a:bodyPr wrap="square" lIns="0" tIns="0" rIns="0" bIns="0" rtlCol="0" anchor="t"/>
          <a:lstStyle/>
          <a:p>
            <a:pPr indent="0" marL="0">
              <a:buNone/>
            </a:pPr>
            <a:r>
              <a:rPr lang="en-US" sz="1200" dirty="0">
                <a:solidFill>
                  <a:srgbClr val="E6F1FF"/>
                </a:solidFill>
                <a:latin typeface="Courier New" pitchFamily="34" charset="0"/>
                <a:ea typeface="Courier New" pitchFamily="34" charset="-122"/>
                <a:cs typeface="Courier New" pitchFamily="34" charset="-120"/>
              </a:rPr>
              <a:t>const command = new RunTaskCommand({</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cluster: config.CLUSTER,</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taskDefinition: config.TASK,</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launchType: 'FARGATE',</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count: 1, ...</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548640" y="3017520"/>
            <a:ext cx="11064240" cy="32004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Proxy: rate limit returns 429 when exceeded</a:t>
            </a:r>
            <a:endParaRPr lang="en-US" sz="1400" dirty="0"/>
          </a:p>
        </p:txBody>
      </p:sp>
      <p:sp>
        <p:nvSpPr>
          <p:cNvPr id="9" name="Shape 7"/>
          <p:cNvSpPr/>
          <p:nvPr/>
        </p:nvSpPr>
        <p:spPr>
          <a:xfrm>
            <a:off x="548640" y="3383280"/>
            <a:ext cx="11064240" cy="1188720"/>
          </a:xfrm>
          <a:prstGeom prst="rect">
            <a:avLst/>
          </a:prstGeom>
          <a:solidFill>
            <a:srgbClr val="0F2340"/>
          </a:solidFill>
          <a:ln w="12700">
            <a:solidFill>
              <a:srgbClr val="1E3A66"/>
            </a:solidFill>
            <a:prstDash val="solid"/>
          </a:ln>
        </p:spPr>
      </p:sp>
      <p:sp>
        <p:nvSpPr>
          <p:cNvPr id="10" name="Text 8"/>
          <p:cNvSpPr/>
          <p:nvPr/>
        </p:nvSpPr>
        <p:spPr>
          <a:xfrm>
            <a:off x="731520" y="3429000"/>
            <a:ext cx="10789920" cy="1097280"/>
          </a:xfrm>
          <a:prstGeom prst="rect">
            <a:avLst/>
          </a:prstGeom>
          <a:noFill/>
          <a:ln/>
        </p:spPr>
        <p:txBody>
          <a:bodyPr wrap="square" lIns="0" tIns="0" rIns="0" bIns="0" rtlCol="0" anchor="t"/>
          <a:lstStyle/>
          <a:p>
            <a:pPr indent="0" marL="0">
              <a:buNone/>
            </a:pPr>
            <a:r>
              <a:rPr lang="en-US" sz="1200" dirty="0">
                <a:solidFill>
                  <a:srgbClr val="E6F1FF"/>
                </a:solidFill>
                <a:latin typeface="Courier New" pitchFamily="34" charset="0"/>
                <a:ea typeface="Courier New" pitchFamily="34" charset="-122"/>
                <a:cs typeface="Courier New" pitchFamily="34" charset="-120"/>
              </a:rPr>
              <a:t>const rate = await engine.consumeRateLimit(context)</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if (!rate.allowed) {</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res.setHeader('Retry-After', String(rate.retryAfterSeconds))</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return res.status(429).json({ error: 'Too many requests' })</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548640" y="4709160"/>
            <a:ext cx="11064240" cy="320040"/>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Log analysis: rules, then Isolation Forest</a:t>
            </a:r>
            <a:endParaRPr lang="en-US" sz="1400" dirty="0"/>
          </a:p>
        </p:txBody>
      </p:sp>
      <p:sp>
        <p:nvSpPr>
          <p:cNvPr id="12" name="Shape 10"/>
          <p:cNvSpPr/>
          <p:nvPr/>
        </p:nvSpPr>
        <p:spPr>
          <a:xfrm>
            <a:off x="548640" y="5074920"/>
            <a:ext cx="11064240" cy="1188720"/>
          </a:xfrm>
          <a:prstGeom prst="rect">
            <a:avLst/>
          </a:prstGeom>
          <a:solidFill>
            <a:srgbClr val="0F2340"/>
          </a:solidFill>
          <a:ln w="12700">
            <a:solidFill>
              <a:srgbClr val="1E3A66"/>
            </a:solidFill>
            <a:prstDash val="solid"/>
          </a:ln>
        </p:spPr>
      </p:sp>
      <p:sp>
        <p:nvSpPr>
          <p:cNvPr id="13" name="Text 11"/>
          <p:cNvSpPr/>
          <p:nvPr/>
        </p:nvSpPr>
        <p:spPr>
          <a:xfrm>
            <a:off x="731520" y="5120640"/>
            <a:ext cx="10789920" cy="1097280"/>
          </a:xfrm>
          <a:prstGeom prst="rect">
            <a:avLst/>
          </a:prstGeom>
          <a:noFill/>
          <a:ln/>
        </p:spPr>
        <p:txBody>
          <a:bodyPr wrap="square" lIns="0" tIns="0" rIns="0" bIns="0" rtlCol="0" anchor="t"/>
          <a:lstStyle/>
          <a:p>
            <a:pPr indent="0" marL="0">
              <a:buNone/>
            </a:pPr>
            <a:r>
              <a:rPr lang="en-US" sz="1200" dirty="0">
                <a:solidFill>
                  <a:srgbClr val="E6F1FF"/>
                </a:solidFill>
                <a:latin typeface="Courier New" pitchFamily="34" charset="0"/>
                <a:ea typeface="Courier New" pitchFamily="34" charset="-122"/>
                <a:cs typeface="Courier New" pitchFamily="34" charset="-120"/>
              </a:rPr>
              <a:t>def rule_name(f):</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if f['failed_logins'] &gt;= 6: return 'brute_force'</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if f['req_rate'] &gt;= 30 and f['n_requests'] &gt;= 40:</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        return 'traffic_spike'</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m = IsolationForest(n_estimators=300, random_state=42).fit(X)</a:t>
            </a:r>
            <a:endParaRPr lang="en-US" sz="1200" dirty="0"/>
          </a:p>
          <a:p>
            <a:pPr indent="0" marL="0">
              <a:buNone/>
            </a:pPr>
            <a:r>
              <a:rPr lang="en-US" sz="1200" dirty="0">
                <a:solidFill>
                  <a:srgbClr val="E6F1FF"/>
                </a:solidFill>
                <a:latin typeface="Courier New" pitchFamily="34" charset="0"/>
                <a:ea typeface="Courier New" pitchFamily="34" charset="-122"/>
                <a:cs typeface="Courier New" pitchFamily="34" charset="-120"/>
              </a:rPr>
              <a:t>thr = np.percentile(raw, 97)  # ~3% of normal windows flagged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EVALUATION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Evaluation results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15</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961120" cy="914400"/>
        </p:xfrm>
        <a:graphic>
          <a:graphicData uri="http://schemas.openxmlformats.org/drawingml/2006/table">
            <a:tbl>
              <a:tblPr/>
              <a:tblGrid>
                <a:gridCol w="3108960"/>
                <a:gridCol w="1463040"/>
                <a:gridCol w="1463040"/>
                <a:gridCol w="1463040"/>
                <a:gridCol w="1463040"/>
              </a:tblGrid>
              <a:tr h="457200">
                <a:tc>
                  <a:txBody>
                    <a:bodyPr/>
                    <a:lstStyle/>
                    <a:p>
                      <a:pPr indent="0" marL="0">
                        <a:buNone/>
                      </a:pPr>
                      <a:r>
                        <a:rPr lang="en-US" sz="1500" b="1" dirty="0">
                          <a:solidFill>
                            <a:srgbClr val="22D3EE"/>
                          </a:solidFill>
                          <a:latin typeface="Arial" pitchFamily="34" charset="0"/>
                          <a:ea typeface="Arial" pitchFamily="34" charset="-122"/>
                          <a:cs typeface="Arial" pitchFamily="34" charset="-120"/>
                        </a:rPr>
                        <a:t>Method</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500" b="1" dirty="0">
                          <a:solidFill>
                            <a:srgbClr val="22D3EE"/>
                          </a:solidFill>
                          <a:latin typeface="Arial" pitchFamily="34" charset="0"/>
                          <a:ea typeface="Arial" pitchFamily="34" charset="-122"/>
                          <a:cs typeface="Arial" pitchFamily="34" charset="-120"/>
                        </a:rPr>
                        <a:t>Precision</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500" b="1" dirty="0">
                          <a:solidFill>
                            <a:srgbClr val="22D3EE"/>
                          </a:solidFill>
                          <a:latin typeface="Arial" pitchFamily="34" charset="0"/>
                          <a:ea typeface="Arial" pitchFamily="34" charset="-122"/>
                          <a:cs typeface="Arial" pitchFamily="34" charset="-120"/>
                        </a:rPr>
                        <a:t>Recall</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500" b="1" dirty="0">
                          <a:solidFill>
                            <a:srgbClr val="22D3EE"/>
                          </a:solidFill>
                          <a:latin typeface="Arial" pitchFamily="34" charset="0"/>
                          <a:ea typeface="Arial" pitchFamily="34" charset="-122"/>
                          <a:cs typeface="Arial" pitchFamily="34" charset="-120"/>
                        </a:rPr>
                        <a:t>F1</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c>
                  <a:txBody>
                    <a:bodyPr/>
                    <a:lstStyle/>
                    <a:p>
                      <a:pPr indent="0" marL="0">
                        <a:buNone/>
                      </a:pPr>
                      <a:r>
                        <a:rPr lang="en-US" sz="1500" b="1" dirty="0">
                          <a:solidFill>
                            <a:srgbClr val="22D3EE"/>
                          </a:solidFill>
                          <a:latin typeface="Arial" pitchFamily="34" charset="0"/>
                          <a:ea typeface="Arial" pitchFamily="34" charset="-122"/>
                          <a:cs typeface="Arial" pitchFamily="34" charset="-120"/>
                        </a:rPr>
                        <a:t>FPR</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0F2340"/>
                    </a:solidFill>
                  </a:tcPr>
                </a:tc>
              </a:tr>
              <a:tr h="457200">
                <a:tc>
                  <a:txBody>
                    <a:bodyPr/>
                    <a:lstStyle/>
                    <a:p>
                      <a:pPr indent="0" marL="0">
                        <a:buNone/>
                      </a:pPr>
                      <a:r>
                        <a:rPr lang="en-US" sz="1500" dirty="0">
                          <a:solidFill>
                            <a:srgbClr val="E6F1FF"/>
                          </a:solidFill>
                          <a:latin typeface="Arial" pitchFamily="34" charset="0"/>
                          <a:ea typeface="Arial" pitchFamily="34" charset="-122"/>
                          <a:cs typeface="Arial" pitchFamily="34" charset="-120"/>
                        </a:rPr>
                        <a:t>Rules only</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1.00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0.68</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0.81</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500" dirty="0">
                          <a:solidFill>
                            <a:srgbClr val="E6F1FF"/>
                          </a:solidFill>
                          <a:latin typeface="Arial" pitchFamily="34" charset="0"/>
                          <a:ea typeface="Arial" pitchFamily="34" charset="-122"/>
                          <a:cs typeface="Arial" pitchFamily="34" charset="-120"/>
                        </a:rPr>
                        <a:t>Isolation Forest only</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1.00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0.61</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0.75</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500" dirty="0">
                          <a:solidFill>
                            <a:srgbClr val="E6F1FF"/>
                          </a:solidFill>
                          <a:latin typeface="Arial" pitchFamily="34" charset="0"/>
                          <a:ea typeface="Arial" pitchFamily="34" charset="-122"/>
                          <a:cs typeface="Arial" pitchFamily="34" charset="-120"/>
                        </a:rPr>
                        <a:t>Hybrid (rules + ML)</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1.00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0.91</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0.96</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500" dirty="0">
                          <a:solidFill>
                            <a:srgbClr val="E6F1FF"/>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54864" marR="54864" marT="54864" marB="54864" anchor="ctr">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graphicFrame>
        <p:nvGraphicFramePr>
          <p:cNvPr id="6" name="Chart 0" descr=""/>
          <p:cNvGraphicFramePr/>
          <p:nvPr/>
        </p:nvGraphicFramePr>
        <p:xfrm>
          <a:off x="548640" y="3383280"/>
          <a:ext cx="5669280" cy="25146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583680" y="3383280"/>
            <a:ext cx="5029200" cy="2468880"/>
          </a:xfrm>
          <a:prstGeom prst="roundRect">
            <a:avLst>
              <a:gd name="adj" fmla="val 4444"/>
            </a:avLst>
          </a:prstGeom>
          <a:solidFill>
            <a:srgbClr val="13294B"/>
          </a:solidFill>
          <a:ln w="15875">
            <a:solidFill>
              <a:srgbClr val="8B5CF6"/>
            </a:solidFill>
            <a:prstDash val="solid"/>
          </a:ln>
        </p:spPr>
      </p:sp>
      <p:sp>
        <p:nvSpPr>
          <p:cNvPr id="8" name="Text 4"/>
          <p:cNvSpPr/>
          <p:nvPr/>
        </p:nvSpPr>
        <p:spPr>
          <a:xfrm>
            <a:off x="6858000" y="3474720"/>
            <a:ext cx="4572000" cy="365760"/>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Per attack type (recall)</a:t>
            </a:r>
            <a:endParaRPr lang="en-US" sz="1400" dirty="0"/>
          </a:p>
        </p:txBody>
      </p:sp>
      <p:sp>
        <p:nvSpPr>
          <p:cNvPr id="9" name="Text 5"/>
          <p:cNvSpPr/>
          <p:nvPr/>
        </p:nvSpPr>
        <p:spPr>
          <a:xfrm>
            <a:off x="6858000" y="3931920"/>
            <a:ext cx="457200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Brute force: rules 1.0, ML 1.0</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Slow brute force: rules 0.0, ML 0.73, hybrid 0.73</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Flood: rules 1.0, ML 0.0, hybrid 1.0</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Injection: rules 1.0, ML 0.0, hybrid 1.0</a:t>
            </a:r>
            <a:endParaRPr lang="en-US" sz="1300" dirty="0"/>
          </a:p>
          <a:p>
            <a:pPr marL="342900" indent="-342900">
              <a:spcAft>
                <a:spcPts val="600"/>
              </a:spcAft>
              <a:buSzPct val="100000"/>
              <a:buChar char="•"/>
            </a:pPr>
            <a:r>
              <a:rPr lang="en-US" sz="1300" dirty="0">
                <a:solidFill>
                  <a:srgbClr val="E6F1FF"/>
                </a:solidFill>
                <a:latin typeface="Arial" pitchFamily="34" charset="0"/>
                <a:ea typeface="Arial" pitchFamily="34" charset="-122"/>
                <a:cs typeface="Arial" pitchFamily="34" charset="-120"/>
              </a:rPr>
              <a:t>Scan: 1.0 for all methods</a:t>
            </a:r>
            <a:endParaRPr lang="en-US" sz="1300" dirty="0"/>
          </a:p>
        </p:txBody>
      </p:sp>
      <p:sp>
        <p:nvSpPr>
          <p:cNvPr id="10" name="Text 6"/>
          <p:cNvSpPr/>
          <p:nvPr/>
        </p:nvSpPr>
        <p:spPr>
          <a:xfrm>
            <a:off x="548640" y="6035040"/>
            <a:ext cx="11064240" cy="365760"/>
          </a:xfrm>
          <a:prstGeom prst="rect">
            <a:avLst/>
          </a:prstGeom>
          <a:noFill/>
          <a:ln/>
        </p:spPr>
        <p:txBody>
          <a:bodyPr wrap="square" lIns="0" tIns="0" rIns="0" bIns="0" rtlCol="0" anchor="ctr"/>
          <a:lstStyle/>
          <a:p>
            <a:pPr indent="0" marL="0">
              <a:buNone/>
            </a:pPr>
            <a:r>
              <a:rPr lang="en-US" sz="1200" i="1" dirty="0">
                <a:solidFill>
                  <a:srgbClr val="94A3B8"/>
                </a:solidFill>
                <a:latin typeface="Arial" pitchFamily="34" charset="0"/>
                <a:ea typeface="Arial" pitchFamily="34" charset="-122"/>
                <a:cs typeface="Arial" pitchFamily="34" charset="-120"/>
              </a:rPr>
              <a:t>Simulated data: 61 normal and 81 attack windows (60 s per IP). Results may vary and do not establish production performance.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PLAN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Project execution plan (timeline)</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16</a:t>
            </a:r>
            <a:endParaRPr lang="en-US" sz="1100" dirty="0"/>
          </a:p>
        </p:txBody>
      </p:sp>
      <p:sp>
        <p:nvSpPr>
          <p:cNvPr id="5" name="Text 3"/>
          <p:cNvSpPr/>
          <p:nvPr/>
        </p:nvSpPr>
        <p:spPr>
          <a:xfrm>
            <a:off x="3840480"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W1</a:t>
            </a:r>
            <a:endParaRPr lang="en-US" sz="1200" dirty="0"/>
          </a:p>
        </p:txBody>
      </p:sp>
      <p:sp>
        <p:nvSpPr>
          <p:cNvPr id="6" name="Text 4"/>
          <p:cNvSpPr/>
          <p:nvPr/>
        </p:nvSpPr>
        <p:spPr>
          <a:xfrm>
            <a:off x="4636008"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W2</a:t>
            </a:r>
            <a:endParaRPr lang="en-US" sz="1200" dirty="0"/>
          </a:p>
        </p:txBody>
      </p:sp>
      <p:sp>
        <p:nvSpPr>
          <p:cNvPr id="7" name="Text 5"/>
          <p:cNvSpPr/>
          <p:nvPr/>
        </p:nvSpPr>
        <p:spPr>
          <a:xfrm>
            <a:off x="5431536"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W3</a:t>
            </a:r>
            <a:endParaRPr lang="en-US" sz="1200" dirty="0"/>
          </a:p>
        </p:txBody>
      </p:sp>
      <p:sp>
        <p:nvSpPr>
          <p:cNvPr id="8" name="Text 6"/>
          <p:cNvSpPr/>
          <p:nvPr/>
        </p:nvSpPr>
        <p:spPr>
          <a:xfrm>
            <a:off x="6227064"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W4</a:t>
            </a:r>
            <a:endParaRPr lang="en-US" sz="1200" dirty="0"/>
          </a:p>
        </p:txBody>
      </p:sp>
      <p:sp>
        <p:nvSpPr>
          <p:cNvPr id="9" name="Text 7"/>
          <p:cNvSpPr/>
          <p:nvPr/>
        </p:nvSpPr>
        <p:spPr>
          <a:xfrm>
            <a:off x="7022592"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W5</a:t>
            </a:r>
            <a:endParaRPr lang="en-US" sz="1200" dirty="0"/>
          </a:p>
        </p:txBody>
      </p:sp>
      <p:sp>
        <p:nvSpPr>
          <p:cNvPr id="10" name="Text 8"/>
          <p:cNvSpPr/>
          <p:nvPr/>
        </p:nvSpPr>
        <p:spPr>
          <a:xfrm>
            <a:off x="7818120"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W6</a:t>
            </a:r>
            <a:endParaRPr lang="en-US" sz="1200" dirty="0"/>
          </a:p>
        </p:txBody>
      </p:sp>
      <p:sp>
        <p:nvSpPr>
          <p:cNvPr id="11" name="Text 9"/>
          <p:cNvSpPr/>
          <p:nvPr/>
        </p:nvSpPr>
        <p:spPr>
          <a:xfrm>
            <a:off x="8613648"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W7</a:t>
            </a:r>
            <a:endParaRPr lang="en-US" sz="1200" dirty="0"/>
          </a:p>
        </p:txBody>
      </p:sp>
      <p:sp>
        <p:nvSpPr>
          <p:cNvPr id="12" name="Text 10"/>
          <p:cNvSpPr/>
          <p:nvPr/>
        </p:nvSpPr>
        <p:spPr>
          <a:xfrm>
            <a:off x="9409176"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W8</a:t>
            </a:r>
            <a:endParaRPr lang="en-US" sz="1200" dirty="0"/>
          </a:p>
        </p:txBody>
      </p:sp>
      <p:sp>
        <p:nvSpPr>
          <p:cNvPr id="13" name="Text 11"/>
          <p:cNvSpPr/>
          <p:nvPr/>
        </p:nvSpPr>
        <p:spPr>
          <a:xfrm>
            <a:off x="10204704"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W9</a:t>
            </a:r>
            <a:endParaRPr lang="en-US" sz="1200" dirty="0"/>
          </a:p>
        </p:txBody>
      </p:sp>
      <p:sp>
        <p:nvSpPr>
          <p:cNvPr id="14" name="Text 12"/>
          <p:cNvSpPr/>
          <p:nvPr/>
        </p:nvSpPr>
        <p:spPr>
          <a:xfrm>
            <a:off x="11000232" y="1325880"/>
            <a:ext cx="795528" cy="320040"/>
          </a:xfrm>
          <a:prstGeom prst="rect">
            <a:avLst/>
          </a:prstGeom>
          <a:noFill/>
          <a:ln/>
        </p:spPr>
        <p:txBody>
          <a:bodyPr wrap="square" lIns="0" tIns="0" rIns="0" bIns="0" rtlCol="0" anchor="ctr"/>
          <a:lstStyle/>
          <a:p>
            <a:pPr algn="ctr" indent="0" marL="0">
              <a:buNone/>
            </a:pPr>
            <a:r>
              <a:rPr lang="en-US" sz="1200" b="1" dirty="0">
                <a:solidFill>
                  <a:srgbClr val="94A3B8"/>
                </a:solidFill>
                <a:latin typeface="Arial" pitchFamily="34" charset="0"/>
                <a:ea typeface="Arial" pitchFamily="34" charset="-122"/>
                <a:cs typeface="Arial" pitchFamily="34" charset="-120"/>
              </a:rPr>
              <a:t>W10</a:t>
            </a:r>
            <a:endParaRPr lang="en-US" sz="1200" dirty="0"/>
          </a:p>
        </p:txBody>
      </p:sp>
      <p:sp>
        <p:nvSpPr>
          <p:cNvPr id="15" name="Text 13"/>
          <p:cNvSpPr/>
          <p:nvPr/>
        </p:nvSpPr>
        <p:spPr>
          <a:xfrm>
            <a:off x="548640" y="178308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Literature survey and requirements</a:t>
            </a:r>
            <a:endParaRPr lang="en-US" sz="1300" dirty="0"/>
          </a:p>
        </p:txBody>
      </p:sp>
      <p:sp>
        <p:nvSpPr>
          <p:cNvPr id="16" name="Shape 14"/>
          <p:cNvSpPr/>
          <p:nvPr/>
        </p:nvSpPr>
        <p:spPr>
          <a:xfrm>
            <a:off x="3886200" y="1856232"/>
            <a:ext cx="1499616" cy="274320"/>
          </a:xfrm>
          <a:prstGeom prst="rect">
            <a:avLst/>
          </a:prstGeom>
          <a:solidFill>
            <a:srgbClr val="22D3EE"/>
          </a:solidFill>
          <a:ln w="12700">
            <a:solidFill>
              <a:srgbClr val="22D3EE"/>
            </a:solidFill>
            <a:prstDash val="solid"/>
          </a:ln>
        </p:spPr>
      </p:sp>
      <p:sp>
        <p:nvSpPr>
          <p:cNvPr id="17" name="Text 15"/>
          <p:cNvSpPr/>
          <p:nvPr/>
        </p:nvSpPr>
        <p:spPr>
          <a:xfrm>
            <a:off x="548640" y="233172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Deployment platform (build, S3, proxy)</a:t>
            </a:r>
            <a:endParaRPr lang="en-US" sz="1300" dirty="0"/>
          </a:p>
        </p:txBody>
      </p:sp>
      <p:sp>
        <p:nvSpPr>
          <p:cNvPr id="18" name="Shape 16"/>
          <p:cNvSpPr/>
          <p:nvPr/>
        </p:nvSpPr>
        <p:spPr>
          <a:xfrm>
            <a:off x="5477256" y="2404872"/>
            <a:ext cx="1499616" cy="274320"/>
          </a:xfrm>
          <a:prstGeom prst="rect">
            <a:avLst/>
          </a:prstGeom>
          <a:solidFill>
            <a:srgbClr val="22D3EE"/>
          </a:solidFill>
          <a:ln w="12700">
            <a:solidFill>
              <a:srgbClr val="22D3EE"/>
            </a:solidFill>
            <a:prstDash val="solid"/>
          </a:ln>
        </p:spPr>
      </p:sp>
      <p:sp>
        <p:nvSpPr>
          <p:cNvPr id="19" name="Text 17"/>
          <p:cNvSpPr/>
          <p:nvPr/>
        </p:nvSpPr>
        <p:spPr>
          <a:xfrm>
            <a:off x="548640" y="288036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Runtime security rules and dashboard</a:t>
            </a:r>
            <a:endParaRPr lang="en-US" sz="1300" dirty="0"/>
          </a:p>
        </p:txBody>
      </p:sp>
      <p:sp>
        <p:nvSpPr>
          <p:cNvPr id="20" name="Shape 18"/>
          <p:cNvSpPr/>
          <p:nvPr/>
        </p:nvSpPr>
        <p:spPr>
          <a:xfrm>
            <a:off x="6272784" y="2953512"/>
            <a:ext cx="1499616" cy="274320"/>
          </a:xfrm>
          <a:prstGeom prst="rect">
            <a:avLst/>
          </a:prstGeom>
          <a:solidFill>
            <a:srgbClr val="22D3EE"/>
          </a:solidFill>
          <a:ln w="12700">
            <a:solidFill>
              <a:srgbClr val="22D3EE"/>
            </a:solidFill>
            <a:prstDash val="solid"/>
          </a:ln>
        </p:spPr>
      </p:sp>
      <p:sp>
        <p:nvSpPr>
          <p:cNvPr id="21" name="Text 19"/>
          <p:cNvSpPr/>
          <p:nvPr/>
        </p:nvSpPr>
        <p:spPr>
          <a:xfrm>
            <a:off x="548640" y="342900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Log analysis: features, rules, Isolation Forest</a:t>
            </a:r>
            <a:endParaRPr lang="en-US" sz="1300" dirty="0"/>
          </a:p>
        </p:txBody>
      </p:sp>
      <p:sp>
        <p:nvSpPr>
          <p:cNvPr id="22" name="Shape 20"/>
          <p:cNvSpPr/>
          <p:nvPr/>
        </p:nvSpPr>
        <p:spPr>
          <a:xfrm>
            <a:off x="7068312" y="3502152"/>
            <a:ext cx="2295144" cy="274320"/>
          </a:xfrm>
          <a:prstGeom prst="rect">
            <a:avLst/>
          </a:prstGeom>
          <a:solidFill>
            <a:srgbClr val="8B5CF6"/>
          </a:solidFill>
          <a:ln w="12700">
            <a:solidFill>
              <a:srgbClr val="8B5CF6"/>
            </a:solidFill>
            <a:prstDash val="solid"/>
          </a:ln>
        </p:spPr>
      </p:sp>
      <p:sp>
        <p:nvSpPr>
          <p:cNvPr id="23" name="Text 21"/>
          <p:cNvSpPr/>
          <p:nvPr/>
        </p:nvSpPr>
        <p:spPr>
          <a:xfrm>
            <a:off x="548640" y="397764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Evaluation on labelled traffic</a:t>
            </a:r>
            <a:endParaRPr lang="en-US" sz="1300" dirty="0"/>
          </a:p>
        </p:txBody>
      </p:sp>
      <p:sp>
        <p:nvSpPr>
          <p:cNvPr id="24" name="Shape 22"/>
          <p:cNvSpPr/>
          <p:nvPr/>
        </p:nvSpPr>
        <p:spPr>
          <a:xfrm>
            <a:off x="8659368" y="4050792"/>
            <a:ext cx="1499616" cy="274320"/>
          </a:xfrm>
          <a:prstGeom prst="rect">
            <a:avLst/>
          </a:prstGeom>
          <a:solidFill>
            <a:srgbClr val="8B5CF6"/>
          </a:solidFill>
          <a:ln w="12700">
            <a:solidFill>
              <a:srgbClr val="8B5CF6"/>
            </a:solidFill>
            <a:prstDash val="solid"/>
          </a:ln>
        </p:spPr>
      </p:sp>
      <p:sp>
        <p:nvSpPr>
          <p:cNvPr id="25" name="Text 23"/>
          <p:cNvSpPr/>
          <p:nvPr/>
        </p:nvSpPr>
        <p:spPr>
          <a:xfrm>
            <a:off x="548640" y="452628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Integration design and unified view</a:t>
            </a:r>
            <a:endParaRPr lang="en-US" sz="1300" dirty="0"/>
          </a:p>
        </p:txBody>
      </p:sp>
      <p:sp>
        <p:nvSpPr>
          <p:cNvPr id="26" name="Shape 24"/>
          <p:cNvSpPr/>
          <p:nvPr/>
        </p:nvSpPr>
        <p:spPr>
          <a:xfrm>
            <a:off x="9454896" y="4599432"/>
            <a:ext cx="1499616" cy="274320"/>
          </a:xfrm>
          <a:prstGeom prst="rect">
            <a:avLst/>
          </a:prstGeom>
          <a:solidFill>
            <a:srgbClr val="C4B5FD"/>
          </a:solidFill>
          <a:ln w="12700">
            <a:solidFill>
              <a:srgbClr val="C4B5FD"/>
            </a:solidFill>
            <a:prstDash val="solid"/>
          </a:ln>
        </p:spPr>
      </p:sp>
      <p:sp>
        <p:nvSpPr>
          <p:cNvPr id="27" name="Text 25"/>
          <p:cNvSpPr/>
          <p:nvPr/>
        </p:nvSpPr>
        <p:spPr>
          <a:xfrm>
            <a:off x="548640" y="5074920"/>
            <a:ext cx="3200400" cy="411480"/>
          </a:xfrm>
          <a:prstGeom prst="rect">
            <a:avLst/>
          </a:prstGeom>
          <a:noFill/>
          <a:ln/>
        </p:spPr>
        <p:txBody>
          <a:bodyPr wrap="square" lIns="0" tIns="0" rIns="0" bIns="0" rtlCol="0" anchor="ctr"/>
          <a:lstStyle/>
          <a:p>
            <a:pPr indent="0" marL="0">
              <a:buNone/>
            </a:pPr>
            <a:r>
              <a:rPr lang="en-US" sz="1300" dirty="0">
                <a:solidFill>
                  <a:srgbClr val="E6F1FF"/>
                </a:solidFill>
                <a:latin typeface="Arial" pitchFamily="34" charset="0"/>
                <a:ea typeface="Arial" pitchFamily="34" charset="-122"/>
                <a:cs typeface="Arial" pitchFamily="34" charset="-120"/>
              </a:rPr>
              <a:t>Documentation, report and demo</a:t>
            </a:r>
            <a:endParaRPr lang="en-US" sz="1300" dirty="0"/>
          </a:p>
        </p:txBody>
      </p:sp>
      <p:sp>
        <p:nvSpPr>
          <p:cNvPr id="28" name="Shape 26"/>
          <p:cNvSpPr/>
          <p:nvPr/>
        </p:nvSpPr>
        <p:spPr>
          <a:xfrm>
            <a:off x="11045952" y="5148072"/>
            <a:ext cx="704088" cy="274320"/>
          </a:xfrm>
          <a:prstGeom prst="rect">
            <a:avLst/>
          </a:prstGeom>
          <a:solidFill>
            <a:srgbClr val="94A3B8"/>
          </a:solidFill>
          <a:ln w="12700">
            <a:solidFill>
              <a:srgbClr val="94A3B8"/>
            </a:solidFill>
            <a:prstDash val="solid"/>
          </a:ln>
        </p:spPr>
      </p:sp>
      <p:sp>
        <p:nvSpPr>
          <p:cNvPr id="29" name="Text 27"/>
          <p:cNvSpPr/>
          <p:nvPr/>
        </p:nvSpPr>
        <p:spPr>
          <a:xfrm>
            <a:off x="548640" y="5943600"/>
            <a:ext cx="11064240" cy="365760"/>
          </a:xfrm>
          <a:prstGeom prst="rect">
            <a:avLst/>
          </a:prstGeom>
          <a:noFill/>
          <a:ln/>
        </p:spPr>
        <p:txBody>
          <a:bodyPr wrap="square" lIns="0" tIns="0" rIns="0" bIns="0" rtlCol="0" anchor="ctr"/>
          <a:lstStyle/>
          <a:p>
            <a:pPr indent="0" marL="0">
              <a:buNone/>
            </a:pPr>
            <a:r>
              <a:rPr lang="en-US" sz="1300" i="1" dirty="0">
                <a:solidFill>
                  <a:srgbClr val="94A3B8"/>
                </a:solidFill>
                <a:latin typeface="Arial" pitchFamily="34" charset="0"/>
                <a:ea typeface="Arial" pitchFamily="34" charset="-122"/>
                <a:cs typeface="Arial" pitchFamily="34" charset="-120"/>
              </a:rPr>
              <a:t>Dates to be confirmed with the guide. The plan follows the work completed so far.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CONCLUSION</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Conclusion: key takeaways and expected outcomes</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17</a:t>
            </a:r>
            <a:endParaRPr lang="en-US" sz="1100" dirty="0"/>
          </a:p>
        </p:txBody>
      </p:sp>
      <p:sp>
        <p:nvSpPr>
          <p:cNvPr id="5" name="Text 3"/>
          <p:cNvSpPr/>
          <p:nvPr/>
        </p:nvSpPr>
        <p:spPr>
          <a:xfrm>
            <a:off x="548640" y="1325880"/>
            <a:ext cx="11064240" cy="1188720"/>
          </a:xfrm>
          <a:prstGeom prst="rect">
            <a:avLst/>
          </a:prstGeom>
          <a:noFill/>
          <a:ln/>
        </p:spPr>
        <p:txBody>
          <a:bodyPr wrap="square" lIns="0" tIns="0" rIns="0" bIns="0" rtlCol="0" anchor="ctr"/>
          <a:lstStyle/>
          <a:p>
            <a:pPr indent="0" marL="0">
              <a:buNone/>
            </a:pPr>
            <a:r>
              <a:rPr lang="en-US" sz="2000" i="1" dirty="0">
                <a:solidFill>
                  <a:srgbClr val="E6F1FF"/>
                </a:solidFill>
                <a:latin typeface="Arial" pitchFamily="34" charset="0"/>
                <a:ea typeface="Arial" pitchFamily="34" charset="-122"/>
                <a:cs typeface="Arial" pitchFamily="34" charset="-120"/>
              </a:rPr>
              <a:t>“Automated deployment provides the foundation, runtime security provides immediate request-level protection, and hybrid intrusion detection adds log-based anomaly analysis.”</a:t>
            </a:r>
            <a:endParaRPr lang="en-US" sz="2000" dirty="0"/>
          </a:p>
        </p:txBody>
      </p:sp>
      <p:sp>
        <p:nvSpPr>
          <p:cNvPr id="6" name="Shape 4"/>
          <p:cNvSpPr/>
          <p:nvPr/>
        </p:nvSpPr>
        <p:spPr>
          <a:xfrm>
            <a:off x="548640" y="2743200"/>
            <a:ext cx="5440680" cy="3383280"/>
          </a:xfrm>
          <a:prstGeom prst="roundRect">
            <a:avLst>
              <a:gd name="adj" fmla="val 3243"/>
            </a:avLst>
          </a:prstGeom>
          <a:solidFill>
            <a:srgbClr val="13294B"/>
          </a:solidFill>
          <a:ln w="15875">
            <a:solidFill>
              <a:srgbClr val="22D3EE"/>
            </a:solidFill>
            <a:prstDash val="solid"/>
          </a:ln>
        </p:spPr>
      </p:sp>
      <p:sp>
        <p:nvSpPr>
          <p:cNvPr id="7" name="Text 5"/>
          <p:cNvSpPr/>
          <p:nvPr/>
        </p:nvSpPr>
        <p:spPr>
          <a:xfrm>
            <a:off x="822960" y="2880360"/>
            <a:ext cx="4846320" cy="36576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Key takeaways</a:t>
            </a:r>
            <a:endParaRPr lang="en-US" sz="1700" dirty="0"/>
          </a:p>
        </p:txBody>
      </p:sp>
      <p:sp>
        <p:nvSpPr>
          <p:cNvPr id="8" name="Text 6"/>
          <p:cNvSpPr/>
          <p:nvPr/>
        </p:nvSpPr>
        <p:spPr>
          <a:xfrm>
            <a:off x="822960" y="333756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Deployment, runtime protection and log analysis are complementary</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Rules catch fast, known patterns; ML catches some slow ones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Each approach has blind spots that the other covers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Evaluation is on simulated data and is stated as such</a:t>
            </a:r>
            <a:endParaRPr lang="en-US" sz="1400" dirty="0"/>
          </a:p>
        </p:txBody>
      </p:sp>
      <p:sp>
        <p:nvSpPr>
          <p:cNvPr id="9" name="Shape 7"/>
          <p:cNvSpPr/>
          <p:nvPr/>
        </p:nvSpPr>
        <p:spPr>
          <a:xfrm>
            <a:off x="6172200" y="2743200"/>
            <a:ext cx="5440680" cy="3383280"/>
          </a:xfrm>
          <a:prstGeom prst="roundRect">
            <a:avLst>
              <a:gd name="adj" fmla="val 3243"/>
            </a:avLst>
          </a:prstGeom>
          <a:solidFill>
            <a:srgbClr val="13294B"/>
          </a:solidFill>
          <a:ln w="15875">
            <a:solidFill>
              <a:srgbClr val="8B5CF6"/>
            </a:solidFill>
            <a:prstDash val="solid"/>
          </a:ln>
        </p:spPr>
      </p:sp>
      <p:sp>
        <p:nvSpPr>
          <p:cNvPr id="10" name="Text 8"/>
          <p:cNvSpPr/>
          <p:nvPr/>
        </p:nvSpPr>
        <p:spPr>
          <a:xfrm>
            <a:off x="6446520" y="2880360"/>
            <a:ext cx="4937760" cy="365760"/>
          </a:xfrm>
          <a:prstGeom prst="rect">
            <a:avLst/>
          </a:prstGeom>
          <a:noFill/>
          <a:ln/>
        </p:spPr>
        <p:txBody>
          <a:bodyPr wrap="square" lIns="0" tIns="0" rIns="0" bIns="0" rtlCol="0" anchor="ctr"/>
          <a:lstStyle/>
          <a:p>
            <a:pPr indent="0" marL="0">
              <a:buNone/>
            </a:pPr>
            <a:r>
              <a:rPr lang="en-US" sz="1700" b="1" dirty="0">
                <a:solidFill>
                  <a:srgbClr val="C4B5FD"/>
                </a:solidFill>
                <a:latin typeface="Arial" pitchFamily="34" charset="0"/>
                <a:ea typeface="Arial" pitchFamily="34" charset="-122"/>
                <a:cs typeface="Arial" pitchFamily="34" charset="-120"/>
              </a:rPr>
              <a:t>Expected outcomes and future scope</a:t>
            </a:r>
            <a:endParaRPr lang="en-US" sz="1700" dirty="0"/>
          </a:p>
        </p:txBody>
      </p:sp>
      <p:sp>
        <p:nvSpPr>
          <p:cNvPr id="11" name="Text 9"/>
          <p:cNvSpPr/>
          <p:nvPr/>
        </p:nvSpPr>
        <p:spPr>
          <a:xfrm>
            <a:off x="6446520" y="333756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A working deploy-and-protect pipeline for static sites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Four request-level detections at the proxy</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Hybrid log analysis with reported metrics on labelled data</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Next: connect the two detection paths, add durable incident storage, and test on real traffic</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REFERENCES</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References (1 of 2)</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18</a:t>
            </a:r>
            <a:endParaRPr lang="en-US" sz="1100" dirty="0"/>
          </a:p>
        </p:txBody>
      </p:sp>
      <p:sp>
        <p:nvSpPr>
          <p:cNvPr id="5" name="Text 3"/>
          <p:cNvSpPr/>
          <p:nvPr/>
        </p:nvSpPr>
        <p:spPr>
          <a:xfrm>
            <a:off x="548640" y="1325880"/>
            <a:ext cx="11064240" cy="4937760"/>
          </a:xfrm>
          <a:prstGeom prst="rect">
            <a:avLst/>
          </a:prstGeom>
          <a:noFill/>
          <a:ln/>
        </p:spPr>
        <p:txBody>
          <a:bodyPr wrap="square" lIns="0" tIns="0" rIns="0" bIns="0" rtlCol="0" anchor="t"/>
          <a:lstStyle/>
          <a:p>
            <a:pPr indent="0" marL="0">
              <a:spcAft>
                <a:spcPts val="1200"/>
              </a:spcAft>
              <a:buNone/>
            </a:pPr>
            <a:r>
              <a:rPr lang="en-US" sz="1300" dirty="0">
                <a:solidFill>
                  <a:srgbClr val="E6F1FF"/>
                </a:solidFill>
                <a:latin typeface="Arial" pitchFamily="34" charset="0"/>
                <a:ea typeface="Arial" pitchFamily="34" charset="-122"/>
                <a:cs typeface="Arial" pitchFamily="34" charset="-120"/>
              </a:rPr>
              <a:t>[1]  G. Elsaid &amp; A. Binbusayyis, “An optimized isolation forest based intrusion detection system for heterogeneous and streaming data in the industrial Internet of Things (IIoT) networks,” Discover Applied Sciences, vol. 6, art. 483, 2024. https://link.springer.com/article/10.1007/s42452-024-06165-w</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[2]  G. S. Fuhnwi, V. Adedoyin &amp; J. O. Agbaje, “An Empirical Internet Protocol Network Intrusion Detection using Isolation Forest and One-Class Support Vector Machines,” International Journal of Advanced Computer Science and Applications, vol. 14, no. 8, 2023. https://impact.ornl.gov/en/publications/an-empirical-internet-protocol-network-intrusion-detection-using-/</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[3]  H. M. R. U. Rehman et al., “A systematic literature study of machine learning techniques based intrusion detection: datasets, models, challenges, and future directions,” Journal of Big Data, vol. 12, art. 264, 2025. https://link.springer.com/article/10.1186/s40537-025-01323-2</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[4]  M. Kyryk, N. Pleskanka &amp; A. Riy, “The potential of the Isolation Forest method for anomaly detection in network traffic,” Herald of Khmelnytskyi National University: Technical Sciences, vol. 349, no. 2, pp. 171–177, 2025. https://heraldts.khmnu.edu.ua/index.php/heraldts/article/view/1315</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[5]  A. Rehman, M. Nouman &amp; M. Hassanu, “Hybrid Content- and Session-Based Anomaly Detection for Web Server Logs,” Future Internet, vol. 18, no. 10, art. 511, 2026. DOI: 10.3390/fi18100511</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Arial" pitchFamily="34" charset="0"/>
                <a:ea typeface="Arial" pitchFamily="34" charset="-122"/>
                <a:cs typeface="Arial" pitchFamily="34" charset="-120"/>
              </a:rPr>
              <a:t>REFERENCES</a:t>
            </a:r>
            <a:endParaRPr lang="en-US" sz="1200" dirty="0"/>
          </a:p>
        </p:txBody>
      </p:sp>
      <p:sp>
        <p:nvSpPr>
          <p:cNvPr id="3" name="Text 1"/>
          <p:cNvSpPr/>
          <p:nvPr/>
        </p:nvSpPr>
        <p:spPr>
          <a:xfrm>
            <a:off x="548640" y="457200"/>
            <a:ext cx="11064240" cy="685800"/>
          </a:xfrm>
          <a:prstGeom prst="rect">
            <a:avLst/>
          </a:prstGeom>
          <a:noFill/>
          <a:ln/>
        </p:spPr>
        <p:txBody>
          <a:bodyPr wrap="square" lIns="0" tIns="0" rIns="0" bIns="0" rtlCol="0" anchor="ctr"/>
          <a:lstStyle/>
          <a:p>
            <a:pPr indent="0" marL="0">
              <a:buNone/>
            </a:pPr>
            <a:r>
              <a:rPr lang="en-US" sz="3200" b="1" dirty="0">
                <a:solidFill>
                  <a:srgbClr val="E6F1FF"/>
                </a:solidFill>
                <a:latin typeface="Arial" pitchFamily="34" charset="0"/>
                <a:ea typeface="Arial" pitchFamily="34" charset="-122"/>
                <a:cs typeface="Arial" pitchFamily="34" charset="-120"/>
              </a:rPr>
              <a:t>References (2 of 2)</a:t>
            </a:r>
            <a:endParaRPr lang="en-US" sz="3200" dirty="0"/>
          </a:p>
        </p:txBody>
      </p:sp>
      <p:sp>
        <p:nvSpPr>
          <p:cNvPr id="4" name="Text 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19</a:t>
            </a:r>
            <a:endParaRPr lang="en-US" sz="1100" dirty="0"/>
          </a:p>
        </p:txBody>
      </p:sp>
      <p:sp>
        <p:nvSpPr>
          <p:cNvPr id="5" name="Text 3"/>
          <p:cNvSpPr/>
          <p:nvPr/>
        </p:nvSpPr>
        <p:spPr>
          <a:xfrm>
            <a:off x="548640" y="1325880"/>
            <a:ext cx="11064240" cy="4937760"/>
          </a:xfrm>
          <a:prstGeom prst="rect">
            <a:avLst/>
          </a:prstGeom>
          <a:noFill/>
          <a:ln/>
        </p:spPr>
        <p:txBody>
          <a:bodyPr wrap="square" lIns="0" tIns="0" rIns="0" bIns="0" rtlCol="0" anchor="t"/>
          <a:lstStyle/>
          <a:p>
            <a:pPr indent="0" marL="0">
              <a:spcAft>
                <a:spcPts val="1200"/>
              </a:spcAft>
              <a:buNone/>
            </a:pPr>
            <a:r>
              <a:rPr lang="en-US" sz="1300" dirty="0">
                <a:solidFill>
                  <a:srgbClr val="E6F1FF"/>
                </a:solidFill>
                <a:latin typeface="Arial" pitchFamily="34" charset="0"/>
                <a:ea typeface="Arial" pitchFamily="34" charset="-122"/>
                <a:cs typeface="Arial" pitchFamily="34" charset="-120"/>
              </a:rPr>
              <a:t>[6]  J. Zou, D. Tao &amp; J. Yu, “A Hybrid Intrusion Detection Model for Web Log-Based Attacks,” Journal of Internet Technology, vol. 18, no. 4, pp. 887–895, 2017. https://jit.ndhu.edu.tw/article/view/1518</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[7]  A. G. Jaafar et al., “A Review of Detection Challenge for Signature and Anomaly-Based Detection in Detecting HTTP DDoS Attacks,” Open International Journal of Informatics, vol. 13, no. 2, pp. 1–18, 2025. https://oiji.utm.my/index.php/oiji/article/view/345</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[8]  K. Alieyan et al., “An Intelligent Approach to HTTP Flood DDoS Detection Using Bayes-Entropy,” International Journal of Advances in Soft Computing and its Applications, vol. 18, no. 2, pp. 39–58, 2026. https://ijasca.zuj.edu.jo/index.php/IJASCA/article/view/65</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[9]  X. Liu &amp; X. Hu, “[exact title to be confirmed from the publisher page],” Journal of Computational Methods in Sciences and Engineering, vol. 24, no. 3, pp. 1379–1393, 2024. https://content.iospress.com/articles/journal-of-computational-methods-in-sciences-and-engineering/jcm247147</a:t>
            </a:r>
            <a:endParaRPr lang="en-US" sz="1300" dirty="0"/>
          </a:p>
          <a:p>
            <a:pPr indent="0" marL="0">
              <a:spcAft>
                <a:spcPts val="1200"/>
              </a:spcAft>
              <a:buNone/>
            </a:pPr>
            <a:r>
              <a:rPr lang="en-US" sz="1300" dirty="0">
                <a:solidFill>
                  <a:srgbClr val="E6F1FF"/>
                </a:solidFill>
                <a:latin typeface="Arial" pitchFamily="34" charset="0"/>
                <a:ea typeface="Arial" pitchFamily="34" charset="-122"/>
                <a:cs typeface="Arial" pitchFamily="34" charset="-120"/>
              </a:rPr>
              <a:t>[10]  T. Sureda Riera et al., “Prevention and fighting against web attacks through anomaly detection technology. A systematic review,” Sustainability, vol. 12, no. 12, 2020. https://reunir.unir.net/items/20c96b43-fdf9-43db-b896-c8e130669202/full</a:t>
            </a:r>
            <a:endParaRPr lang="en-US" sz="1300" dirty="0"/>
          </a:p>
        </p:txBody>
      </p:sp>
      <p:sp>
        <p:nvSpPr>
          <p:cNvPr id="6" name="Text 4"/>
          <p:cNvSpPr/>
          <p:nvPr/>
        </p:nvSpPr>
        <p:spPr>
          <a:xfrm>
            <a:off x="548640" y="6035040"/>
            <a:ext cx="11064240" cy="320040"/>
          </a:xfrm>
          <a:prstGeom prst="rect">
            <a:avLst/>
          </a:prstGeom>
          <a:noFill/>
          <a:ln/>
        </p:spPr>
        <p:txBody>
          <a:bodyPr wrap="square" lIns="0" tIns="0" rIns="0" bIns="0" rtlCol="0" anchor="ctr"/>
          <a:lstStyle/>
          <a:p>
            <a:pPr indent="0" marL="0">
              <a:buNone/>
            </a:pPr>
            <a:r>
              <a:rPr lang="en-US" sz="1200" dirty="0">
                <a:solidFill>
                  <a:srgbClr val="22D3EE"/>
                </a:solidFill>
                <a:latin typeface="Arial" pitchFamily="34" charset="0"/>
                <a:ea typeface="Arial" pitchFamily="34" charset="-122"/>
                <a:cs typeface="Arial" pitchFamily="34" charset="-120"/>
              </a:rPr>
              <a:t>Project source (NIDAMS): https://github.com/ShashankSharma-hash/NIDAMS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Siddaganga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Intrusion Detection System (NIDS)</dc:title>
  <dc:subject>PptxGenJS Presentation</dc:subject>
  <dc:creator>PptxGenJS</dc:creator>
  <cp:lastModifiedBy>PptxGenJS</cp:lastModifiedBy>
  <cp:revision>1</cp:revision>
  <dcterms:created xsi:type="dcterms:W3CDTF">2026-10-28T05:04:21Z</dcterms:created>
  <dcterms:modified xsi:type="dcterms:W3CDTF">2026-10-28T05:04:21Z</dcterms:modified>
</cp:coreProperties>
</file>